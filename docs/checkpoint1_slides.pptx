
<file path=[Content_Types].xml><?xml version="1.0" encoding="utf-8"?>
<Types xmlns="http://schemas.openxmlformats.org/package/2006/content-types">
  <Default Extension="xlsx" ContentType="application/vnd.openxmlformats-officedocument.spreadsheetml.sheet"/>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F9B1FB7F-5FA3-6A5A-ED05-72AF4B2F3AB6}">
          <p14:sldIdLst>
            <p14:sldId id="256"/>
            <p14:sldId id="257"/>
          </p14:sldIdLst>
        </p14:section>
        <p14:section name="Data" id="{14B8A908-BFB9-2CF2-45EE-0CFCECD560C2}">
          <p14:sldIdLst>
            <p14:sldId id="258"/>
          </p14:sldIdLst>
        </p14:section>
        <p14:section name="Architecture" id="{63DB10A3-83C2-7C75-FC25-C397A6D831CF}">
          <p14:sldIdLst>
            <p14:sldId id="259"/>
            <p14:sldId id="260"/>
            <p14:sldId id="261"/>
          </p14:sldIdLst>
        </p14:section>
        <p14:section name="Pipeline" id="{81CDA5AE-BEF0-134D-E4E8-03F8E7950930}">
          <p14:sldIdLst>
            <p14:sldId id="262"/>
            <p14:sldId id="263"/>
            <p14:sldId id="264"/>
          </p14:sldIdLst>
        </p14:section>
        <p14:section name="Plan" id="{45D44166-1142-E0E2-AC14-6B70FBB921AE}">
          <p14:sldIdLst>
            <p14:sldId id="265"/>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6" Type="http://schemas.openxmlformats.org/officeDocument/2006/relationships/tableStyles" Target="tableStyles.xml"/><Relationship Id="rId15" Type="http://schemas.openxmlformats.org/officeDocument/2006/relationships/viewProps" Target="viewProps.xml"/><Relationship Id="rId14" Type="http://schemas.openxmlformats.org/officeDocument/2006/relationships/presProps" Target="presProps.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Workbook1.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a:defRPr lang="en-US" sz="1400" b="0" i="0" u="none" strike="noStrike" kern="1200" baseline="0">
                <a:solidFill>
                  <a:srgbClr val="14213D"/>
                </a:solidFill>
                <a:latin typeface="+mn-lt"/>
                <a:ea typeface="+mn-ea"/>
                <a:cs typeface="+mn-cs"/>
              </a:defRPr>
            </a:pPr>
            <a:r>
              <a:rPr sz="1400" b="0" i="0" u="none" strike="noStrike">
                <a:solidFill>
                  <a:srgbClr val="14213D"/>
                </a:solidFill>
                <a:latin typeface="+mn-lt"/>
              </a:rPr>
              <a:t>Symbols per exchange</a:t>
            </a:r>
            <a:endParaRPr sz="1400" b="0" i="0" u="none" strike="noStrike">
              <a:solidFill>
                <a:srgbClr val="14213D"/>
              </a:solidFill>
              <a:latin typeface="+mn-lt"/>
            </a:endParaRPr>
          </a:p>
        </c:rich>
      </c:tx>
      <c:layout/>
      <c:overlay val="0"/>
    </c:title>
    <c:autoTitleDeleted val="0"/>
    <c:plotArea>
      <c:layout/>
      <c:barChart>
        <c:barDir val="bar"/>
        <c:grouping val="clustered"/>
        <c:varyColors val="0"/>
        <c:ser>
          <c:idx val="0"/>
          <c:order val="0"/>
          <c:tx>
            <c:strRef>
              <c:f>Sheet1!$B$1</c:f>
              <c:strCache>
                <c:ptCount val="1"/>
                <c:pt idx="0">
                  <c:v>Symbols</c:v>
                </c:pt>
              </c:strCache>
            </c:strRef>
          </c:tx>
          <c:spPr>
            <a:solidFill>
              <a:srgbClr val="1F4E8C"/>
            </a:solidFill>
            <a:effectLst/>
          </c:spPr>
          <c:invertIfNegative val="0"/>
          <c:dLbls>
            <c:numFmt formatCode="#,##0" sourceLinked="0"/>
            <c:spPr>
              <a:noFill/>
              <a:ln>
                <a:noFill/>
              </a:ln>
              <a:effectLst/>
            </c:spPr>
            <c:txPr>
              <a:bodyPr rot="0" spcFirstLastPara="0" vertOverflow="ellipsis" vert="horz" wrap="square" lIns="38100" tIns="19050" rIns="38100" bIns="19050" anchor="ctr" anchorCtr="1"/>
              <a:lstStyle/>
              <a:p>
                <a:pPr>
                  <a:defRPr lang="en-US" sz="1200" b="0" i="0" u="none" strike="noStrike" kern="1200" baseline="0">
                    <a:solidFill>
                      <a:srgbClr val="14213D"/>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Sheet1!$A$2:$A$4</c:f>
              <c:strCache>
                <c:ptCount val="3"/>
                <c:pt idx="0">
                  <c:v>UPCoM</c:v>
                </c:pt>
                <c:pt idx="1">
                  <c:v>HOSE</c:v>
                </c:pt>
                <c:pt idx="2">
                  <c:v>HNX</c:v>
                </c:pt>
              </c:strCache>
            </c:strRef>
          </c:cat>
          <c:val>
            <c:numRef>
              <c:f>Sheet1!$B$2:$B$4</c:f>
              <c:numCache>
                <c:formatCode>General</c:formatCode>
                <c:ptCount val="3"/>
                <c:pt idx="0">
                  <c:v>814</c:v>
                </c:pt>
                <c:pt idx="1">
                  <c:v>406</c:v>
                </c:pt>
                <c:pt idx="2">
                  <c:v>299</c:v>
                </c:pt>
              </c:numCache>
            </c:numRef>
          </c:val>
        </c:ser>
        <c:dLbls>
          <c:showLegendKey val="0"/>
          <c:showVal val="1"/>
          <c:showCatName val="0"/>
          <c:showSerName val="0"/>
          <c:showPercent val="0"/>
          <c:showBubbleSize val="0"/>
        </c:dLbls>
        <c:gapWidth val="60"/>
        <c:overlap val="0"/>
        <c:axId val="2094734554"/>
        <c:axId val="2094734552"/>
      </c:barChart>
      <c:catAx>
        <c:axId val="2094734554"/>
        <c:scaling>
          <c:orientation val="maxMin"/>
        </c:scaling>
        <c:delete val="0"/>
        <c:axPos val="l"/>
        <c:numFmt formatCode="General" sourceLinked="1"/>
        <c:majorTickMark val="out"/>
        <c:minorTickMark val="none"/>
        <c:tickLblPos val="nextTo"/>
        <c:spPr>
          <a:ln w="12700" cap="flat" cmpd="sng" algn="ctr">
            <a:solidFill>
              <a:srgbClr val="888888"/>
            </a:solidFill>
            <a:prstDash val="solid"/>
            <a:round/>
          </a:ln>
        </c:spPr>
        <c:txPr>
          <a:bodyPr rot="-60000000" spcFirstLastPara="0" vertOverflow="ellipsis" vert="horz" wrap="square" anchor="ctr" anchorCtr="1"/>
          <a:lstStyle/>
          <a:p>
            <a:pPr>
              <a:defRPr lang="en-US" sz="1200" b="0" i="0" u="none" strike="noStrike" kern="1200" baseline="0">
                <a:solidFill>
                  <a:srgbClr val="46536B"/>
                </a:solidFill>
                <a:latin typeface="+mn-lt"/>
                <a:ea typeface="+mn-ea"/>
                <a:cs typeface="+mn-cs"/>
              </a:defRPr>
            </a:pPr>
          </a:p>
        </c:txPr>
        <c:crossAx val="2094734552"/>
        <c:crosses val="autoZero"/>
        <c:auto val="1"/>
        <c:lblAlgn val="ctr"/>
        <c:lblOffset val="100"/>
        <c:noMultiLvlLbl val="1"/>
      </c:catAx>
      <c:valAx>
        <c:axId val="2094734552"/>
        <c:scaling>
          <c:orientation val="minMax"/>
        </c:scaling>
        <c:delete val="1"/>
        <c:axPos val="t"/>
        <c:numFmt formatCode="General" sourceLinked="0"/>
        <c:majorTickMark val="out"/>
        <c:minorTickMark val="none"/>
        <c:tickLblPos val="low"/>
        <c:txPr>
          <a:bodyPr rot="-60000000" spcFirstLastPara="0" vertOverflow="ellipsis" vert="horz" wrap="square" anchor="ctr" anchorCtr="1"/>
          <a:lstStyle/>
          <a:p>
            <a:pPr>
              <a:defRPr lang="en-US" sz="1200" b="0" i="0" u="none" strike="noStrike" kern="1200" baseline="0">
                <a:solidFill>
                  <a:srgbClr val="000000"/>
                </a:solidFill>
                <a:latin typeface="Arial" panose="020B0704020202020204"/>
                <a:ea typeface="+mn-ea"/>
                <a:cs typeface="+mn-cs"/>
              </a:defRPr>
            </a:pPr>
          </a:p>
        </c:txPr>
        <c:crossAx val="2094734554"/>
        <c:crosses val="autoZero"/>
        <c:crossBetween val="between"/>
      </c:valAx>
      <c:spPr>
        <a:noFill/>
        <a:ln>
          <a:noFill/>
        </a:ln>
        <a:effectLst/>
      </c:spPr>
    </c:plotArea>
    <c:plotVisOnly val="1"/>
    <c:dispBlanksAs val="span"/>
    <c:showDLblsOverMax val="0"/>
    <c:extLst>
      <c:ext uri="{0b15fc19-7d7d-44ad-8c2d-2c3a37ce22c3}">
        <chartProps xmlns="https://web.wps.cn/et/2018/main" chartId="{f470d21b-5e55-44e8-afd8-91d9e6ef60ca}"/>
      </c:ext>
    </c:extLst>
  </c:chart>
  <c:spPr>
    <a:noFill/>
    <a:ln>
      <a:noFill/>
    </a:ln>
    <a:effectLst/>
  </c:spPr>
  <c:txPr>
    <a:bodyPr/>
    <a:lstStyle/>
    <a:p>
      <a:pPr>
        <a:defRPr lang="en-US"/>
      </a:pPr>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group and the topic: a lakehouse that ingests, stores and serves Vietnamese stock market data. This checkpoint shows three things: the repo with runnable code, the dataset, and the system architecture, plus the plan for the remaining phases.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slide answer to the checkpoint requirements. Git: repo with Makefile-driven workflows and PR history. Data: real daily prices for every listed symbol, shipped as a GitHub release. Architecture: designed end to end, and the base infrastructure is already running on Kubernetes.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Daily prices were crawled from the public VNDirect API with caching and row-count checks; sector codes come from Vietcap and are mapped to ICB supersector names. UPCoM has the most symbols but many no-trade days, which is why the Spark job filters volume = 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NiFi lands batch files in MinIO raw-zone and pushes streaming records to Kafka. Spark on Kubernetes processes both paths and writes Iceberg tables whose catalog lives in PostgreSQL. dbt builds the curated models and runs its SQL on Trino, which also serves analysts. Airflow orchestrates the whole chain; OpenMetadata provides catalog and lineage. Colors show what is running today versus planned.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zone is a MinIO bucket created by the minio-init-buckets job. Raw keeps files exactly as collected. Cleansed holds Iceberg tables written by Spark, partitioned by year of trade date. Curated holds the aggregated dbt marts that analysts query.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cluster-up creates a k3d cluster with one server and two agents, then applies the manifests in k8s/ in order. MinIO and PostgreSQL run as Deployments with persistent volumes bind-mounted to the host, so data survives deleting the cluster. Because the host has 16 GB, heavy services will be run in two waves.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Steps 1 to 3 run today: make ingest-local reads the daily Parquet, cleans it with Spark and writes an Iceberg table. 4,048,907 raw rows become 2,649,633 cleansed rows, mostly by removing no-trade days. The dbt models are written and will run on Trino once Trino is deployed.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streaming path replays the synthetic minute bars into Kafka at a controlled rate, and a Spark Structured Streaming job appends them to an Iceberg table with checkpoints on MinIO. The Spark job exists in the repo; Kafka and the replay producer are the next phase. This gives a Lambda-style design: history from batch, intraday from the stream, both in Iceberg.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repo live if time allows. Everything is driven by the Makefile; the full dataset is a GitHub release asset rather than committed files, and committed samples let anyone test without it. Work is done on feature branches and merged by pull request.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Phases 0, 1 and 3 are done; phase 3 was validated locally with a Hadoop catalog and moves to the JDBC catalog on Kubernetes next. Phase 4 has its dbt models written. The next phase to start is 2: Kafka, Spark on Kubernetes and NiFi.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a:effectLst/>
      </p:bgPr>
    </p:bg>
    <p:spTree>
      <p:nvGrpSpPr>
        <p:cNvPr id="1" name=""/>
        <p:cNvGrpSpPr/>
        <p:nvPr/>
      </p:nvGrpSpPr>
      <p:grpSpPr>
        <a:xfrm>
          <a:off x="0" y="0"/>
          <a:ext cx="0" cy="0"/>
          <a:chOff x="0" y="0"/>
          <a:chExt cx="0" cy="0"/>
        </a:xfrm>
      </p:grpSpPr>
      <p:sp>
        <p:nvSpPr>
          <p:cNvPr id="2" name="Text 0"/>
          <p:cNvSpPr/>
          <p:nvPr>
            <p:ph type="title" idx="100" hasCustomPrompt="1"/>
          </p:nvPr>
        </p:nvSpPr>
        <p:spPr>
          <a:xfrm>
            <a:off x="731520" y="1828800"/>
            <a:ext cx="10698480" cy="1280160"/>
          </a:xfrm>
          <a:prstGeom prst="rect">
            <a:avLst/>
          </a:prstGeom>
          <a:noFill/>
        </p:spPr>
        <p:txBody>
          <a:bodyPr wrap="square" rtlCol="0"/>
          <a:lstStyle>
            <a:lvl1pPr marL="0" indent="0" algn="l">
              <a:buNone/>
              <a:defRPr lang="en-US" sz="4400" b="1" dirty="0">
                <a:solidFill>
                  <a:schemeClr val="bg1"/>
                </a:solidFill>
              </a:defRPr>
            </a:lvl1pPr>
          </a:lstStyle>
          <a:p>
            <a:pPr marL="0" indent="0" algn="l">
              <a:buNone/>
            </a:pPr>
            <a:endParaRPr lang="en-US" sz="4400" dirty="0"/>
          </a:p>
        </p:txBody>
      </p:sp>
      <p:sp>
        <p:nvSpPr>
          <p:cNvPr id="3" name="Text 0"/>
          <p:cNvSpPr/>
          <p:nvPr>
            <p:ph type="body" idx="101" hasCustomPrompt="1"/>
          </p:nvPr>
        </p:nvSpPr>
        <p:spPr>
          <a:xfrm>
            <a:off x="731520" y="3246120"/>
            <a:ext cx="10698480" cy="731520"/>
          </a:xfrm>
          <a:prstGeom prst="rect">
            <a:avLst/>
          </a:prstGeom>
          <a:noFill/>
        </p:spPr>
        <p:txBody>
          <a:bodyPr wrap="square" rtlCol="0"/>
          <a:lstStyle>
            <a:lvl1pPr marL="0" indent="0" algn="l">
              <a:buNone/>
              <a:defRPr lang="en-US" sz="2200" dirty="0">
                <a:solidFill>
                  <a:schemeClr val="accent1"/>
                </a:solidFill>
              </a:defRPr>
            </a:lvl1pPr>
          </a:lstStyle>
          <a:p>
            <a:pPr marL="0" indent="0" algn="l">
              <a:buNone/>
            </a:pPr>
            <a:endParaRPr lang="en-US" sz="2200" dirty="0"/>
          </a:p>
        </p:txBody>
      </p:sp>
      <p:sp>
        <p:nvSpPr>
          <p:cNvPr id="4" name="Text 0"/>
          <p:cNvSpPr/>
          <p:nvPr>
            <p:ph type="body" idx="102" hasCustomPrompt="1"/>
          </p:nvPr>
        </p:nvSpPr>
        <p:spPr>
          <a:xfrm>
            <a:off x="731520" y="5120640"/>
            <a:ext cx="10698480" cy="914400"/>
          </a:xfrm>
          <a:prstGeom prst="rect">
            <a:avLst/>
          </a:prstGeom>
          <a:noFill/>
        </p:spPr>
        <p:txBody>
          <a:bodyPr wrap="square" rtlCol="0"/>
          <a:lstStyle>
            <a:lvl1pPr marL="0" indent="0" algn="l">
              <a:buNone/>
              <a:defRPr lang="en-US" sz="1400" dirty="0">
                <a:solidFill>
                  <a:schemeClr val="accent5"/>
                </a:solidFill>
              </a:defRPr>
            </a:lvl1pPr>
          </a:lstStyle>
          <a:p>
            <a:pPr marL="0" indent="0" algn="l">
              <a:buNone/>
            </a:pPr>
            <a:endParaRPr lang="en-US" sz="1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p:nvPr>
            <p:ph type="title" idx="100" hasCustomPrompt="1"/>
          </p:nvPr>
        </p:nvSpPr>
        <p:spPr>
          <a:xfrm>
            <a:off x="548640" y="320040"/>
            <a:ext cx="11064240" cy="777240"/>
          </a:xfrm>
          <a:prstGeom prst="rect">
            <a:avLst/>
          </a:prstGeom>
          <a:noFill/>
        </p:spPr>
        <p:txBody>
          <a:bodyPr wrap="square" rtlCol="0"/>
          <a:lstStyle>
            <a:lvl1pPr marL="0" indent="0" algn="l">
              <a:buNone/>
              <a:defRPr lang="en-US" sz="3200" b="1" dirty="0">
                <a:solidFill>
                  <a:schemeClr val="tx1"/>
                </a:solidFill>
              </a:defRPr>
            </a:lvl1pPr>
          </a:lstStyle>
          <a:p>
            <a:pPr marL="0" indent="0" algn="l">
              <a:buNone/>
            </a:pPr>
            <a:endParaRPr lang="en-US" sz="3200" dirty="0"/>
          </a:p>
        </p:txBody>
      </p:sp>
      <p:sp>
        <p:nvSpPr>
          <p:cNvPr id="3" name="Text 0"/>
          <p:cNvSpPr/>
          <p:nvPr/>
        </p:nvSpPr>
        <p:spPr>
          <a:xfrm>
            <a:off x="548640" y="6355080"/>
            <a:ext cx="7315200" cy="274320"/>
          </a:xfrm>
          <a:prstGeom prst="rect">
            <a:avLst/>
          </a:prstGeom>
          <a:noFill/>
        </p:spPr>
        <p:txBody>
          <a:bodyPr wrap="square" lIns="0" tIns="0" rIns="0" bIns="0" rtlCol="0" anchor="ctr"/>
          <a:lstStyle/>
          <a:p>
            <a:pPr marL="0" indent="0">
              <a:buNone/>
            </a:pPr>
            <a:r>
              <a:rPr lang="en-US" sz="1000" dirty="0">
                <a:solidFill>
                  <a:schemeClr val="accent5"/>
                </a:solidFill>
              </a:rPr>
              <a:t>IT4931 · Checkpoint 1 · Stock Market Data Lakehouse</a:t>
            </a:r>
            <a:endParaRPr lang="en-US" sz="1000" dirty="0"/>
          </a:p>
        </p:txBody>
      </p:sp>
      <p:sp>
        <p:nvSpPr>
          <p:cNvPr id="25" name="Slide Number Placeholder 0"/>
          <p:cNvSpPr>
            <a:spLocks noGrp="1"/>
          </p:cNvSpPr>
          <p:nvPr>
            <p:ph type="sldNum" sz="quarter" idx="4294967295"/>
          </p:nvPr>
        </p:nvSpPr>
        <p:spPr>
          <a:xfrm>
            <a:off x="11155680" y="6355080"/>
            <a:ext cx="457200" cy="274320"/>
          </a:xfrm>
          <a:prstGeom prst="rect">
            <a:avLst/>
          </a:prstGeom>
        </p:spPr>
        <p:txBody>
          <a:bodyPr/>
          <a:lstStyle>
            <a:lvl1pPr>
              <a:defRPr sz="1000">
                <a:solidFill>
                  <a:schemeClr val="accent5"/>
                </a:solidFill>
              </a:defRPr>
            </a:lvl1pPr>
          </a:lstStyle>
          <a:p>
            <a:pPr algn="r"/>
            <a:fld id="{F7021451-1387-4CA6-816F-3879F97B5CBC}" type="slidenum">
              <a:rPr lang="en-US" b="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4" Type="http://schemas.openxmlformats.org/officeDocument/2006/relationships/theme" Target="../theme/theme1.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55080"/>
            <a:ext cx="457200" cy="274320"/>
          </a:xfrm>
          <a:prstGeom prst="rect">
            <a:avLst/>
          </a:prstGeom>
        </p:spPr>
        <p:txBody>
          <a:bodyPr/>
          <a:lstStyle>
            <a:lvl1pPr>
              <a:defRPr sz="1000">
                <a:solidFill>
                  <a:schemeClr val="accent5"/>
                </a:solidFill>
              </a:defRPr>
            </a:lvl1pPr>
          </a:lstStyle>
          <a:p>
            <a:pPr algn="r"/>
            <a:fld id="{F7021451-1387-4CA6-816F-3879F97B5CBC}" type="slidenum">
              <a:rPr lang="en-US" b="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7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7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7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5" Type="http://schemas.openxmlformats.org/officeDocument/2006/relationships/notesSlide" Target="../notesSlides/notesSlide2.xml"/><Relationship Id="rId4" Type="http://schemas.openxmlformats.org/officeDocument/2006/relationships/slideLayout" Target="../slideLayouts/slideLayout3.xml"/><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3.xml"/><Relationship Id="rId1" Type="http://schemas.openxmlformats.org/officeDocument/2006/relationships/chart" Target="../charts/chart1.xml"/></Relationships>
</file>

<file path=ppt/slides/_rels/slide4.xml.rels><?xml version="1.0" encoding="UTF-8" standalone="yes"?>
<Relationships xmlns="http://schemas.openxmlformats.org/package/2006/relationships"><Relationship Id="rId9" Type="http://schemas.openxmlformats.org/officeDocument/2006/relationships/image" Target="../media/image13.png"/><Relationship Id="rId8" Type="http://schemas.openxmlformats.org/officeDocument/2006/relationships/image" Target="../media/image12.png"/><Relationship Id="rId7" Type="http://schemas.openxmlformats.org/officeDocument/2006/relationships/image" Target="../media/image11.png"/><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 Id="rId3" Type="http://schemas.openxmlformats.org/officeDocument/2006/relationships/image" Target="../media/image7.png"/><Relationship Id="rId2" Type="http://schemas.openxmlformats.org/officeDocument/2006/relationships/image" Target="../media/image6.png"/><Relationship Id="rId13" Type="http://schemas.openxmlformats.org/officeDocument/2006/relationships/notesSlide" Target="../notesSlides/notesSlide4.xml"/><Relationship Id="rId12" Type="http://schemas.openxmlformats.org/officeDocument/2006/relationships/slideLayout" Target="../slideLayouts/slideLayout3.xml"/><Relationship Id="rId11" Type="http://schemas.openxmlformats.org/officeDocument/2006/relationships/image" Target="../media/image15.png"/><Relationship Id="rId10" Type="http://schemas.openxmlformats.org/officeDocument/2006/relationships/image" Target="../media/image14.png"/><Relationship Id="rId1" Type="http://schemas.openxmlformats.org/officeDocument/2006/relationships/image" Target="../media/image5.png"/></Relationships>
</file>

<file path=ppt/slides/_rels/slide5.xml.rels><?xml version="1.0" encoding="UTF-8" standalone="yes"?>
<Relationships xmlns="http://schemas.openxmlformats.org/package/2006/relationships"><Relationship Id="rId5" Type="http://schemas.openxmlformats.org/officeDocument/2006/relationships/notesSlide" Target="../notesSlides/notesSlide5.xml"/><Relationship Id="rId4" Type="http://schemas.openxmlformats.org/officeDocument/2006/relationships/slideLayout" Target="../slideLayouts/slideLayout3.xml"/><Relationship Id="rId3" Type="http://schemas.openxmlformats.org/officeDocument/2006/relationships/image" Target="../media/image1.png"/><Relationship Id="rId2" Type="http://schemas.openxmlformats.org/officeDocument/2006/relationships/image" Target="../media/image16.png"/><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6" Type="http://schemas.openxmlformats.org/officeDocument/2006/relationships/notesSlide" Target="../notesSlides/notesSlide6.xml"/><Relationship Id="rId5" Type="http://schemas.openxmlformats.org/officeDocument/2006/relationships/slideLayout" Target="../slideLayouts/slideLayout3.xml"/><Relationship Id="rId4" Type="http://schemas.openxmlformats.org/officeDocument/2006/relationships/image" Target="../media/image12.png"/><Relationship Id="rId3" Type="http://schemas.openxmlformats.org/officeDocument/2006/relationships/image" Target="../media/image11.png"/><Relationship Id="rId2" Type="http://schemas.openxmlformats.org/officeDocument/2006/relationships/image" Target="../media/image7.png"/><Relationship Id="rId1" Type="http://schemas.openxmlformats.org/officeDocument/2006/relationships/image" Target="../media/image17.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7" Type="http://schemas.openxmlformats.org/officeDocument/2006/relationships/notesSlide" Target="../notesSlides/notesSlide8.xml"/><Relationship Id="rId6" Type="http://schemas.openxmlformats.org/officeDocument/2006/relationships/slideLayout" Target="../slideLayouts/slideLayout3.xml"/><Relationship Id="rId5" Type="http://schemas.openxmlformats.org/officeDocument/2006/relationships/image" Target="../media/image10.png"/><Relationship Id="rId4" Type="http://schemas.openxmlformats.org/officeDocument/2006/relationships/image" Target="../media/image9.png"/><Relationship Id="rId3" Type="http://schemas.openxmlformats.org/officeDocument/2006/relationships/image" Target="../media/image8.png"/><Relationship Id="rId2" Type="http://schemas.openxmlformats.org/officeDocument/2006/relationships/image" Target="../media/image19.png"/><Relationship Id="rId1" Type="http://schemas.openxmlformats.org/officeDocument/2006/relationships/image" Target="../media/image18.png"/></Relationships>
</file>

<file path=ppt/slides/_rels/slide9.xml.rels><?xml version="1.0" encoding="UTF-8" standalone="yes"?>
<Relationships xmlns="http://schemas.openxmlformats.org/package/2006/relationships"><Relationship Id="rId5" Type="http://schemas.openxmlformats.org/officeDocument/2006/relationships/notesSlide" Target="../notesSlides/notesSlide9.xml"/><Relationship Id="rId4" Type="http://schemas.openxmlformats.org/officeDocument/2006/relationships/slideLayout" Target="../slideLayouts/slideLayout3.xml"/><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20.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0" hasCustomPrompt="1"/>
          </p:nvPr>
        </p:nvSpPr>
        <p:spPr>
          <a:xfrm>
            <a:off x="731520" y="1828800"/>
            <a:ext cx="10698480" cy="1280160"/>
          </a:xfrm>
          <a:prstGeom prst="rect">
            <a:avLst/>
          </a:prstGeom>
          <a:noFill/>
        </p:spPr>
        <p:txBody>
          <a:bodyPr wrap="square" lIns="0" tIns="0" rIns="0" bIns="0" rtlCol="0" anchor="b"/>
          <a:lstStyle/>
          <a:p>
            <a:pPr marL="0" indent="0" algn="l">
              <a:buNone/>
            </a:pPr>
            <a:r>
              <a:rPr lang="en-US" sz="4400" b="1" dirty="0">
                <a:solidFill>
                  <a:schemeClr val="bg1"/>
                </a:solidFill>
              </a:rPr>
              <a:t>Stock Market Data Lakehouse</a:t>
            </a:r>
            <a:endParaRPr lang="en-US" sz="4400" dirty="0"/>
          </a:p>
        </p:txBody>
      </p:sp>
      <p:sp>
        <p:nvSpPr>
          <p:cNvPr id="3" name="Text 0"/>
          <p:cNvSpPr/>
          <p:nvPr>
            <p:ph type="body" idx="101" hasCustomPrompt="1"/>
          </p:nvPr>
        </p:nvSpPr>
        <p:spPr>
          <a:xfrm>
            <a:off x="731520" y="3246120"/>
            <a:ext cx="10698480" cy="731520"/>
          </a:xfrm>
          <a:prstGeom prst="rect">
            <a:avLst/>
          </a:prstGeom>
          <a:noFill/>
        </p:spPr>
        <p:txBody>
          <a:bodyPr wrap="square" lIns="0" tIns="0" rIns="0" bIns="0" rtlCol="0" anchor="t"/>
          <a:lstStyle/>
          <a:p>
            <a:pPr marL="0" indent="0" algn="l">
              <a:buNone/>
            </a:pPr>
            <a:r>
              <a:rPr lang="en-US" sz="2200" dirty="0">
                <a:solidFill>
                  <a:schemeClr val="accent1"/>
                </a:solidFill>
              </a:rPr>
              <a:t>Checkpoint 1 — repository, data and architecture</a:t>
            </a:r>
            <a:endParaRPr lang="en-US" sz="2200" dirty="0"/>
          </a:p>
        </p:txBody>
      </p:sp>
      <p:sp>
        <p:nvSpPr>
          <p:cNvPr id="4" name="Text 0"/>
          <p:cNvSpPr/>
          <p:nvPr>
            <p:ph type="body" idx="102" hasCustomPrompt="1"/>
          </p:nvPr>
        </p:nvSpPr>
        <p:spPr>
          <a:xfrm>
            <a:off x="731520" y="5120640"/>
            <a:ext cx="10698480" cy="914400"/>
          </a:xfrm>
          <a:prstGeom prst="rect">
            <a:avLst/>
          </a:prstGeom>
          <a:noFill/>
        </p:spPr>
        <p:txBody>
          <a:bodyPr wrap="square" lIns="0" tIns="0" rIns="0" bIns="0" rtlCol="0" anchor="t"/>
          <a:lstStyle/>
          <a:p>
            <a:pPr marL="0" indent="0" algn="l">
              <a:buNone/>
            </a:pPr>
            <a:r>
              <a:rPr lang="en-US" sz="1400" dirty="0">
                <a:solidFill>
                  <a:schemeClr val="accent5"/>
                </a:solidFill>
              </a:rPr>
              <a:t>IT4931 Big Data Storage and Processing · Milestone project</a:t>
            </a:r>
            <a:endParaRPr lang="en-US" sz="1400" dirty="0"/>
          </a:p>
          <a:p>
            <a:pPr marL="0" indent="0" algn="l">
              <a:buNone/>
            </a:pPr>
            <a:r>
              <a:rPr lang="en-US" sz="1400" dirty="0">
                <a:solidFill>
                  <a:schemeClr val="accent5"/>
                </a:solidFill>
              </a:rPr>
              <a:t>[Group number · member names] · October 2026</a:t>
            </a:r>
            <a:endParaRPr lang="en-US" sz="1400" dirty="0"/>
          </a:p>
        </p:txBody>
      </p:sp>
      <p:sp>
        <p:nvSpPr>
          <p:cNvPr id="5" name="Logo mark"/>
          <p:cNvSpPr/>
          <p:nvPr/>
        </p:nvSpPr>
        <p:spPr>
          <a:xfrm>
            <a:off x="731520" y="731520"/>
            <a:ext cx="822960" cy="822960"/>
          </a:xfrm>
          <a:prstGeom prst="ellipse">
            <a:avLst/>
          </a:prstGeom>
          <a:solidFill>
            <a:schemeClr val="accent1"/>
          </a:solidFill>
        </p:spPr>
      </p:sp>
      <p:pic>
        <p:nvPicPr>
          <p:cNvPr id="6" name="Image 0" descr="Logo mark"/>
          <p:cNvPicPr>
            <a:picLocks noChangeAspect="1"/>
          </p:cNvPicPr>
          <p:nvPr/>
        </p:nvPicPr>
        <p:blipFill>
          <a:blip r:embed="rId1"/>
          <a:stretch>
            <a:fillRect/>
          </a:stretch>
        </p:blipFill>
        <p:spPr>
          <a:xfrm>
            <a:off x="937260" y="937260"/>
            <a:ext cx="411480" cy="41148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0" hasCustomPrompt="1"/>
          </p:nvPr>
        </p:nvSpPr>
        <p:spPr>
          <a:xfrm>
            <a:off x="548640" y="320040"/>
            <a:ext cx="11064240" cy="777240"/>
          </a:xfrm>
          <a:prstGeom prst="rect">
            <a:avLst/>
          </a:prstGeom>
          <a:noFill/>
        </p:spPr>
        <p:txBody>
          <a:bodyPr wrap="square" lIns="0" tIns="0" rIns="0" bIns="0" rtlCol="0" anchor="ctr"/>
          <a:lstStyle/>
          <a:p>
            <a:pPr marL="0" indent="0" algn="l">
              <a:buNone/>
            </a:pPr>
            <a:r>
              <a:rPr lang="en-US" sz="3200" b="1" dirty="0">
                <a:solidFill>
                  <a:schemeClr val="tx1"/>
                </a:solidFill>
              </a:rPr>
              <a:t>Checkpoint 1: all three deliverables are ready</a:t>
            </a:r>
            <a:endParaRPr lang="en-US" sz="3200" dirty="0"/>
          </a:p>
        </p:txBody>
      </p:sp>
      <p:sp>
        <p:nvSpPr>
          <p:cNvPr id="4" name="Git &amp; executable code card"/>
          <p:cNvSpPr/>
          <p:nvPr/>
        </p:nvSpPr>
        <p:spPr>
          <a:xfrm>
            <a:off x="548640" y="1371600"/>
            <a:ext cx="3520440" cy="3611880"/>
          </a:xfrm>
          <a:prstGeom prst="roundRect">
            <a:avLst>
              <a:gd name="adj" fmla="val 3117"/>
            </a:avLst>
          </a:prstGeom>
          <a:solidFill>
            <a:schemeClr val="bg2"/>
          </a:solidFill>
          <a:effectLst>
            <a:outerShdw blurRad="76200" dist="25400" dir="5400000" algn="bl" rotWithShape="0">
              <a:srgbClr val="000000">
                <a:alpha val="12000"/>
              </a:srgbClr>
            </a:outerShdw>
          </a:effectLst>
        </p:spPr>
      </p:sp>
      <p:sp>
        <p:nvSpPr>
          <p:cNvPr id="5" name="Git &amp; executable code icon"/>
          <p:cNvSpPr/>
          <p:nvPr/>
        </p:nvSpPr>
        <p:spPr>
          <a:xfrm>
            <a:off x="822960" y="1645920"/>
            <a:ext cx="731520" cy="731520"/>
          </a:xfrm>
          <a:prstGeom prst="ellipse">
            <a:avLst/>
          </a:prstGeom>
          <a:solidFill>
            <a:schemeClr val="tx1"/>
          </a:solidFill>
        </p:spPr>
      </p:sp>
      <p:pic>
        <p:nvPicPr>
          <p:cNvPr id="6" name="Image 0" descr="Git &amp; executable code icon"/>
          <p:cNvPicPr>
            <a:picLocks noChangeAspect="1"/>
          </p:cNvPicPr>
          <p:nvPr/>
        </p:nvPicPr>
        <p:blipFill>
          <a:blip r:embed="rId1"/>
          <a:stretch>
            <a:fillRect/>
          </a:stretch>
        </p:blipFill>
        <p:spPr>
          <a:xfrm>
            <a:off x="1005840" y="1828800"/>
            <a:ext cx="365760" cy="365760"/>
          </a:xfrm>
          <a:prstGeom prst="rect">
            <a:avLst/>
          </a:prstGeom>
        </p:spPr>
      </p:pic>
      <p:sp>
        <p:nvSpPr>
          <p:cNvPr id="7" name="Text 3"/>
          <p:cNvSpPr txBox="1"/>
          <p:nvPr/>
        </p:nvSpPr>
        <p:spPr>
          <a:xfrm>
            <a:off x="3063240" y="1645920"/>
            <a:ext cx="731520" cy="256032"/>
          </a:xfrm>
          <a:prstGeom prst="roundRect">
            <a:avLst>
              <a:gd name="adj" fmla="val 46429"/>
            </a:avLst>
          </a:prstGeom>
          <a:solidFill>
            <a:schemeClr val="accent1"/>
          </a:solidFill>
        </p:spPr>
        <p:txBody>
          <a:bodyPr wrap="square" lIns="0" tIns="0" rIns="0" bIns="0" rtlCol="0" anchor="ctr"/>
          <a:lstStyle/>
          <a:p>
            <a:pPr marL="0" indent="0" algn="ctr">
              <a:buNone/>
            </a:pPr>
            <a:r>
              <a:rPr lang="en-US" sz="1000" b="1" kern="0" spc="100" dirty="0">
                <a:solidFill>
                  <a:schemeClr val="bg1"/>
                </a:solidFill>
              </a:rPr>
              <a:t>DONE</a:t>
            </a:r>
            <a:endParaRPr lang="en-US" sz="1000" dirty="0"/>
          </a:p>
        </p:txBody>
      </p:sp>
      <p:sp>
        <p:nvSpPr>
          <p:cNvPr id="8" name="Text 4"/>
          <p:cNvSpPr txBox="1"/>
          <p:nvPr/>
        </p:nvSpPr>
        <p:spPr>
          <a:xfrm>
            <a:off x="822960" y="2560320"/>
            <a:ext cx="2971800" cy="411480"/>
          </a:xfrm>
          <a:prstGeom prst="rect">
            <a:avLst/>
          </a:prstGeom>
          <a:noFill/>
        </p:spPr>
        <p:txBody>
          <a:bodyPr wrap="square" lIns="0" tIns="0" rIns="0" bIns="0" rtlCol="0" anchor="t"/>
          <a:lstStyle/>
          <a:p>
            <a:pPr marL="0" indent="0">
              <a:buNone/>
            </a:pPr>
            <a:r>
              <a:rPr lang="en-US" sz="2000" b="1" dirty="0">
                <a:solidFill>
                  <a:schemeClr val="tx1"/>
                </a:solidFill>
                <a:latin typeface="Arial" panose="020B0704020202020204" pitchFamily="34" charset="0"/>
                <a:ea typeface="Arial" panose="020B0704020202020204" pitchFamily="34" charset="-122"/>
                <a:cs typeface="Arial" panose="020B0704020202020204" pitchFamily="34" charset="-120"/>
              </a:rPr>
              <a:t>Git &amp; executable code</a:t>
            </a:r>
            <a:endParaRPr lang="en-US" sz="2000" dirty="0"/>
          </a:p>
        </p:txBody>
      </p:sp>
      <p:sp>
        <p:nvSpPr>
          <p:cNvPr id="9" name="Text 5"/>
          <p:cNvSpPr txBox="1"/>
          <p:nvPr/>
        </p:nvSpPr>
        <p:spPr>
          <a:xfrm>
            <a:off x="822960" y="3108960"/>
            <a:ext cx="2971800" cy="1737360"/>
          </a:xfrm>
          <a:prstGeom prst="rect">
            <a:avLst/>
          </a:prstGeom>
          <a:noFill/>
        </p:spPr>
        <p:txBody>
          <a:bodyPr wrap="square" lIns="0" tIns="0" rIns="0" bIns="0" rtlCol="0" anchor="t"/>
          <a:lstStyle/>
          <a:p>
            <a:pPr marL="177800" indent="-177800">
              <a:spcAft>
                <a:spcPts val="600"/>
              </a:spcAft>
              <a:buSzPct val="100000"/>
              <a:buChar char="•"/>
            </a:pPr>
            <a:r>
              <a:rPr lang="en-US" sz="1400" dirty="0">
                <a:solidFill>
                  <a:schemeClr val="tx2"/>
                </a:solidFill>
              </a:rPr>
              <a:t>GitHub repo: 11 commits, 2 merged PRs</a:t>
            </a:r>
            <a:endParaRPr lang="en-US" sz="1400" dirty="0"/>
          </a:p>
          <a:p>
            <a:pPr marL="177800" indent="-177800">
              <a:spcAft>
                <a:spcPts val="600"/>
              </a:spcAft>
              <a:buSzPct val="100000"/>
              <a:buChar char="•"/>
            </a:pPr>
            <a:r>
              <a:rPr lang="en-US" sz="1400" dirty="0">
                <a:solidFill>
                  <a:schemeClr val="tx2"/>
                </a:solidFill>
              </a:rPr>
              <a:t>Makefile: cluster-up, k8s-apply, ingest-local</a:t>
            </a:r>
            <a:endParaRPr lang="en-US" sz="1400" dirty="0"/>
          </a:p>
          <a:p>
            <a:pPr marL="177800" indent="-177800">
              <a:spcAft>
                <a:spcPts val="600"/>
              </a:spcAft>
              <a:buSzPct val="100000"/>
              <a:buChar char="•"/>
            </a:pPr>
            <a:r>
              <a:rPr lang="en-US" sz="1400" dirty="0">
                <a:solidFill>
                  <a:schemeClr val="tx2"/>
                </a:solidFill>
              </a:rPr>
              <a:t>Pinned versions, .env.example, no data or secrets in git</a:t>
            </a:r>
            <a:endParaRPr lang="en-US" sz="1400" dirty="0"/>
          </a:p>
        </p:txBody>
      </p:sp>
      <p:sp>
        <p:nvSpPr>
          <p:cNvPr id="10" name="Data card"/>
          <p:cNvSpPr/>
          <p:nvPr/>
        </p:nvSpPr>
        <p:spPr>
          <a:xfrm>
            <a:off x="4320540" y="1371600"/>
            <a:ext cx="3520440" cy="3611880"/>
          </a:xfrm>
          <a:prstGeom prst="roundRect">
            <a:avLst>
              <a:gd name="adj" fmla="val 3117"/>
            </a:avLst>
          </a:prstGeom>
          <a:solidFill>
            <a:schemeClr val="bg2"/>
          </a:solidFill>
          <a:effectLst>
            <a:outerShdw blurRad="76200" dist="25400" dir="5400000" algn="bl" rotWithShape="0">
              <a:srgbClr val="000000">
                <a:alpha val="12000"/>
              </a:srgbClr>
            </a:outerShdw>
          </a:effectLst>
        </p:spPr>
      </p:sp>
      <p:sp>
        <p:nvSpPr>
          <p:cNvPr id="11" name="Data icon"/>
          <p:cNvSpPr/>
          <p:nvPr/>
        </p:nvSpPr>
        <p:spPr>
          <a:xfrm>
            <a:off x="4594860" y="1645920"/>
            <a:ext cx="731520" cy="731520"/>
          </a:xfrm>
          <a:prstGeom prst="ellipse">
            <a:avLst/>
          </a:prstGeom>
          <a:solidFill>
            <a:schemeClr val="tx1"/>
          </a:solidFill>
        </p:spPr>
      </p:sp>
      <p:pic>
        <p:nvPicPr>
          <p:cNvPr id="12" name="Image 1" descr="Data icon"/>
          <p:cNvPicPr>
            <a:picLocks noChangeAspect="1"/>
          </p:cNvPicPr>
          <p:nvPr/>
        </p:nvPicPr>
        <p:blipFill>
          <a:blip r:embed="rId2"/>
          <a:stretch>
            <a:fillRect/>
          </a:stretch>
        </p:blipFill>
        <p:spPr>
          <a:xfrm>
            <a:off x="4777740" y="1828800"/>
            <a:ext cx="365760" cy="365760"/>
          </a:xfrm>
          <a:prstGeom prst="rect">
            <a:avLst/>
          </a:prstGeom>
        </p:spPr>
      </p:pic>
      <p:sp>
        <p:nvSpPr>
          <p:cNvPr id="13" name="Text 8"/>
          <p:cNvSpPr txBox="1"/>
          <p:nvPr/>
        </p:nvSpPr>
        <p:spPr>
          <a:xfrm>
            <a:off x="6835140" y="1645920"/>
            <a:ext cx="731520" cy="256032"/>
          </a:xfrm>
          <a:prstGeom prst="roundRect">
            <a:avLst>
              <a:gd name="adj" fmla="val 46429"/>
            </a:avLst>
          </a:prstGeom>
          <a:solidFill>
            <a:schemeClr val="accent1"/>
          </a:solidFill>
        </p:spPr>
        <p:txBody>
          <a:bodyPr wrap="square" lIns="0" tIns="0" rIns="0" bIns="0" rtlCol="0" anchor="ctr"/>
          <a:lstStyle/>
          <a:p>
            <a:pPr marL="0" indent="0" algn="ctr">
              <a:buNone/>
            </a:pPr>
            <a:r>
              <a:rPr lang="en-US" sz="1000" b="1" kern="0" spc="100" dirty="0">
                <a:solidFill>
                  <a:schemeClr val="bg1"/>
                </a:solidFill>
              </a:rPr>
              <a:t>DONE</a:t>
            </a:r>
            <a:endParaRPr lang="en-US" sz="1000" dirty="0"/>
          </a:p>
        </p:txBody>
      </p:sp>
      <p:sp>
        <p:nvSpPr>
          <p:cNvPr id="14" name="Text 9"/>
          <p:cNvSpPr txBox="1"/>
          <p:nvPr/>
        </p:nvSpPr>
        <p:spPr>
          <a:xfrm>
            <a:off x="4594860" y="2560320"/>
            <a:ext cx="2971800" cy="411480"/>
          </a:xfrm>
          <a:prstGeom prst="rect">
            <a:avLst/>
          </a:prstGeom>
          <a:noFill/>
        </p:spPr>
        <p:txBody>
          <a:bodyPr wrap="square" lIns="0" tIns="0" rIns="0" bIns="0" rtlCol="0" anchor="t"/>
          <a:lstStyle/>
          <a:p>
            <a:pPr marL="0" indent="0">
              <a:buNone/>
            </a:pPr>
            <a:r>
              <a:rPr lang="en-US" sz="2000" b="1" dirty="0">
                <a:solidFill>
                  <a:schemeClr val="tx1"/>
                </a:solidFill>
                <a:latin typeface="Arial" panose="020B0704020202020204" pitchFamily="34" charset="0"/>
                <a:ea typeface="Arial" panose="020B0704020202020204" pitchFamily="34" charset="-122"/>
                <a:cs typeface="Arial" panose="020B0704020202020204" pitchFamily="34" charset="-120"/>
              </a:rPr>
              <a:t>Data</a:t>
            </a:r>
            <a:endParaRPr lang="en-US" sz="2000" dirty="0"/>
          </a:p>
        </p:txBody>
      </p:sp>
      <p:sp>
        <p:nvSpPr>
          <p:cNvPr id="15" name="Text 10"/>
          <p:cNvSpPr txBox="1"/>
          <p:nvPr/>
        </p:nvSpPr>
        <p:spPr>
          <a:xfrm>
            <a:off x="4594860" y="3108960"/>
            <a:ext cx="2971800" cy="1737360"/>
          </a:xfrm>
          <a:prstGeom prst="rect">
            <a:avLst/>
          </a:prstGeom>
          <a:noFill/>
        </p:spPr>
        <p:txBody>
          <a:bodyPr wrap="square" lIns="0" tIns="0" rIns="0" bIns="0" rtlCol="0" anchor="t"/>
          <a:lstStyle/>
          <a:p>
            <a:pPr marL="177800" indent="-177800">
              <a:spcAft>
                <a:spcPts val="600"/>
              </a:spcAft>
              <a:buSzPct val="100000"/>
              <a:buChar char="•"/>
            </a:pPr>
            <a:r>
              <a:rPr lang="en-US" sz="1400" dirty="0">
                <a:solidFill>
                  <a:schemeClr val="tx2"/>
                </a:solidFill>
              </a:rPr>
              <a:t>1,519 symbols on HOSE, HNX, UPCoM</a:t>
            </a:r>
            <a:endParaRPr lang="en-US" sz="1400" dirty="0"/>
          </a:p>
          <a:p>
            <a:pPr marL="177800" indent="-177800">
              <a:spcAft>
                <a:spcPts val="600"/>
              </a:spcAft>
              <a:buSzPct val="100000"/>
              <a:buChar char="•"/>
            </a:pPr>
            <a:r>
              <a:rPr lang="en-US" sz="1400" dirty="0">
                <a:solidFill>
                  <a:schemeClr val="tx2"/>
                </a:solidFill>
              </a:rPr>
              <a:t>4.05M daily price rows, 2013 → Oct 2026</a:t>
            </a:r>
            <a:endParaRPr lang="en-US" sz="1400" dirty="0"/>
          </a:p>
          <a:p>
            <a:pPr marL="177800" indent="-177800">
              <a:spcAft>
                <a:spcPts val="600"/>
              </a:spcAft>
              <a:buSzPct val="100000"/>
              <a:buChar char="•"/>
            </a:pPr>
            <a:r>
              <a:rPr lang="en-US" sz="1400" dirty="0">
                <a:solidFill>
                  <a:schemeClr val="tx2"/>
                </a:solidFill>
              </a:rPr>
              <a:t>Shipped as GitHub Release data-v1 + samples in repo</a:t>
            </a:r>
            <a:endParaRPr lang="en-US" sz="1400" dirty="0"/>
          </a:p>
        </p:txBody>
      </p:sp>
      <p:sp>
        <p:nvSpPr>
          <p:cNvPr id="16" name="System architecture card"/>
          <p:cNvSpPr/>
          <p:nvPr/>
        </p:nvSpPr>
        <p:spPr>
          <a:xfrm>
            <a:off x="8092440" y="1371600"/>
            <a:ext cx="3520440" cy="3611880"/>
          </a:xfrm>
          <a:prstGeom prst="roundRect">
            <a:avLst>
              <a:gd name="adj" fmla="val 3117"/>
            </a:avLst>
          </a:prstGeom>
          <a:solidFill>
            <a:schemeClr val="bg2"/>
          </a:solidFill>
          <a:effectLst>
            <a:outerShdw blurRad="76200" dist="25400" dir="5400000" algn="bl" rotWithShape="0">
              <a:srgbClr val="000000">
                <a:alpha val="12000"/>
              </a:srgbClr>
            </a:outerShdw>
          </a:effectLst>
        </p:spPr>
      </p:sp>
      <p:sp>
        <p:nvSpPr>
          <p:cNvPr id="17" name="System architecture icon"/>
          <p:cNvSpPr/>
          <p:nvPr/>
        </p:nvSpPr>
        <p:spPr>
          <a:xfrm>
            <a:off x="8366760" y="1645920"/>
            <a:ext cx="731520" cy="731520"/>
          </a:xfrm>
          <a:prstGeom prst="ellipse">
            <a:avLst/>
          </a:prstGeom>
          <a:solidFill>
            <a:schemeClr val="tx1"/>
          </a:solidFill>
        </p:spPr>
      </p:sp>
      <p:pic>
        <p:nvPicPr>
          <p:cNvPr id="18" name="Image 2" descr="System architecture icon"/>
          <p:cNvPicPr>
            <a:picLocks noChangeAspect="1"/>
          </p:cNvPicPr>
          <p:nvPr/>
        </p:nvPicPr>
        <p:blipFill>
          <a:blip r:embed="rId3"/>
          <a:stretch>
            <a:fillRect/>
          </a:stretch>
        </p:blipFill>
        <p:spPr>
          <a:xfrm>
            <a:off x="8549640" y="1828800"/>
            <a:ext cx="365760" cy="365760"/>
          </a:xfrm>
          <a:prstGeom prst="rect">
            <a:avLst/>
          </a:prstGeom>
        </p:spPr>
      </p:pic>
      <p:sp>
        <p:nvSpPr>
          <p:cNvPr id="19" name="Text 13"/>
          <p:cNvSpPr txBox="1"/>
          <p:nvPr/>
        </p:nvSpPr>
        <p:spPr>
          <a:xfrm>
            <a:off x="10607040" y="1645920"/>
            <a:ext cx="731520" cy="256032"/>
          </a:xfrm>
          <a:prstGeom prst="roundRect">
            <a:avLst>
              <a:gd name="adj" fmla="val 46429"/>
            </a:avLst>
          </a:prstGeom>
          <a:solidFill>
            <a:schemeClr val="accent1"/>
          </a:solidFill>
        </p:spPr>
        <p:txBody>
          <a:bodyPr wrap="square" lIns="0" tIns="0" rIns="0" bIns="0" rtlCol="0" anchor="ctr"/>
          <a:lstStyle/>
          <a:p>
            <a:pPr marL="0" indent="0" algn="ctr">
              <a:buNone/>
            </a:pPr>
            <a:r>
              <a:rPr lang="en-US" sz="1000" b="1" kern="0" spc="100" dirty="0">
                <a:solidFill>
                  <a:schemeClr val="bg1"/>
                </a:solidFill>
              </a:rPr>
              <a:t>DONE</a:t>
            </a:r>
            <a:endParaRPr lang="en-US" sz="1000" dirty="0"/>
          </a:p>
        </p:txBody>
      </p:sp>
      <p:sp>
        <p:nvSpPr>
          <p:cNvPr id="20" name="Text 14"/>
          <p:cNvSpPr txBox="1"/>
          <p:nvPr/>
        </p:nvSpPr>
        <p:spPr>
          <a:xfrm>
            <a:off x="8366760" y="2560320"/>
            <a:ext cx="2971800" cy="411480"/>
          </a:xfrm>
          <a:prstGeom prst="rect">
            <a:avLst/>
          </a:prstGeom>
          <a:noFill/>
        </p:spPr>
        <p:txBody>
          <a:bodyPr wrap="square" lIns="0" tIns="0" rIns="0" bIns="0" rtlCol="0" anchor="t"/>
          <a:lstStyle/>
          <a:p>
            <a:pPr marL="0" indent="0">
              <a:buNone/>
            </a:pPr>
            <a:r>
              <a:rPr lang="en-US" sz="2000" b="1" dirty="0">
                <a:solidFill>
                  <a:schemeClr val="tx1"/>
                </a:solidFill>
                <a:latin typeface="Arial" panose="020B0704020202020204" pitchFamily="34" charset="0"/>
                <a:ea typeface="Arial" panose="020B0704020202020204" pitchFamily="34" charset="-122"/>
                <a:cs typeface="Arial" panose="020B0704020202020204" pitchFamily="34" charset="-120"/>
              </a:rPr>
              <a:t>System architecture</a:t>
            </a:r>
            <a:endParaRPr lang="en-US" sz="2000" dirty="0"/>
          </a:p>
        </p:txBody>
      </p:sp>
      <p:sp>
        <p:nvSpPr>
          <p:cNvPr id="21" name="Text 15"/>
          <p:cNvSpPr txBox="1"/>
          <p:nvPr/>
        </p:nvSpPr>
        <p:spPr>
          <a:xfrm>
            <a:off x="8366760" y="3108960"/>
            <a:ext cx="2971800" cy="1737360"/>
          </a:xfrm>
          <a:prstGeom prst="rect">
            <a:avLst/>
          </a:prstGeom>
          <a:noFill/>
        </p:spPr>
        <p:txBody>
          <a:bodyPr wrap="square" lIns="0" tIns="0" rIns="0" bIns="0" rtlCol="0" anchor="t"/>
          <a:lstStyle/>
          <a:p>
            <a:pPr marL="177800" indent="-177800">
              <a:spcAft>
                <a:spcPts val="600"/>
              </a:spcAft>
              <a:buSzPct val="100000"/>
              <a:buChar char="•"/>
            </a:pPr>
            <a:r>
              <a:rPr lang="en-US" sz="1400" dirty="0">
                <a:solidFill>
                  <a:schemeClr val="tx2"/>
                </a:solidFill>
              </a:rPr>
              <a:t>Lakehouse on Kubernetes (k3d, 3 nodes)</a:t>
            </a:r>
            <a:endParaRPr lang="en-US" sz="1400" dirty="0"/>
          </a:p>
          <a:p>
            <a:pPr marL="177800" indent="-177800">
              <a:spcAft>
                <a:spcPts val="600"/>
              </a:spcAft>
              <a:buSzPct val="100000"/>
              <a:buChar char="•"/>
            </a:pPr>
            <a:r>
              <a:rPr lang="en-US" sz="1400" dirty="0">
                <a:solidFill>
                  <a:schemeClr val="tx2"/>
                </a:solidFill>
              </a:rPr>
              <a:t>Medallion zones on MinIO, Apache Iceberg tables</a:t>
            </a:r>
            <a:endParaRPr lang="en-US" sz="1400" dirty="0"/>
          </a:p>
          <a:p>
            <a:pPr marL="177800" indent="-177800">
              <a:spcAft>
                <a:spcPts val="600"/>
              </a:spcAft>
              <a:buSzPct val="100000"/>
              <a:buChar char="•"/>
            </a:pPr>
            <a:r>
              <a:rPr lang="en-US" sz="1400" dirty="0">
                <a:solidFill>
                  <a:schemeClr val="tx2"/>
                </a:solidFill>
              </a:rPr>
              <a:t>MinIO + PostgreSQL already running in-cluster</a:t>
            </a:r>
            <a:endParaRPr lang="en-US" sz="1400" dirty="0"/>
          </a:p>
        </p:txBody>
      </p:sp>
      <p:sp>
        <p:nvSpPr>
          <p:cNvPr id="22" name="Proof strip"/>
          <p:cNvSpPr/>
          <p:nvPr/>
        </p:nvSpPr>
        <p:spPr>
          <a:xfrm>
            <a:off x="548640" y="5257800"/>
            <a:ext cx="11064240" cy="777240"/>
          </a:xfrm>
          <a:prstGeom prst="roundRect">
            <a:avLst>
              <a:gd name="adj" fmla="val 14118"/>
            </a:avLst>
          </a:prstGeom>
          <a:solidFill>
            <a:schemeClr val="accent1">
              <a:alpha val="12000"/>
            </a:schemeClr>
          </a:solidFill>
        </p:spPr>
      </p:sp>
      <p:sp>
        <p:nvSpPr>
          <p:cNvPr id="23" name="Text 17"/>
          <p:cNvSpPr txBox="1"/>
          <p:nvPr/>
        </p:nvSpPr>
        <p:spPr>
          <a:xfrm>
            <a:off x="822960" y="5257800"/>
            <a:ext cx="10515600" cy="777240"/>
          </a:xfrm>
          <a:prstGeom prst="rect">
            <a:avLst/>
          </a:prstGeom>
          <a:noFill/>
        </p:spPr>
        <p:txBody>
          <a:bodyPr wrap="square" lIns="0" tIns="0" rIns="0" bIns="0" rtlCol="0" anchor="ctr"/>
          <a:lstStyle/>
          <a:p>
            <a:pPr marL="0" indent="0">
              <a:buNone/>
            </a:pPr>
            <a:r>
              <a:rPr lang="en-US" sz="1600" b="1" dirty="0">
                <a:solidFill>
                  <a:schemeClr val="tx1"/>
                </a:solidFill>
              </a:rPr>
              <a:t>Already runs end to end:  </a:t>
            </a:r>
            <a:r>
              <a:rPr lang="en-US" sz="1600" dirty="0">
                <a:solidFill>
                  <a:schemeClr val="tx1"/>
                </a:solidFill>
              </a:rPr>
              <a:t>raw Parquet → Spark cleaning → Iceberg table   ·   4,048,907 → 2,649,633 rows</a:t>
            </a:r>
            <a:endParaRPr lang="en-US" sz="1600" dirty="0"/>
          </a:p>
        </p:txBody>
      </p:sp>
      <p:sp>
        <p:nvSpPr>
          <p:cNvPr id="25" name="Slide Number Placeholder 0"/>
          <p:cNvSpPr>
            <a:spLocks noGrp="1"/>
          </p:cNvSpPr>
          <p:nvPr>
            <p:ph type="sldNum" sz="quarter" idx="4294967295"/>
          </p:nvPr>
        </p:nvSpPr>
        <p:spPr>
          <a:xfrm>
            <a:off x="11155680" y="6355080"/>
            <a:ext cx="457200" cy="274320"/>
          </a:xfrm>
          <a:prstGeom prst="rect">
            <a:avLst/>
          </a:prstGeom>
        </p:spPr>
        <p:txBody>
          <a:bodyPr/>
          <a:lstStyle>
            <a:lvl1pPr>
              <a:defRPr sz="1000">
                <a:solidFill>
                  <a:schemeClr val="accent5"/>
                </a:solidFill>
              </a:defRPr>
            </a:lvl1pPr>
          </a:lstStyle>
          <a:p>
            <a:pPr algn="r"/>
            <a:fld id="{F7021451-1387-4CA6-816F-3879F97B5CBC}" type="slidenum">
              <a:rPr lang="en-US" b="0"/>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0" hasCustomPrompt="1"/>
          </p:nvPr>
        </p:nvSpPr>
        <p:spPr>
          <a:xfrm>
            <a:off x="548640" y="320040"/>
            <a:ext cx="11064240" cy="777240"/>
          </a:xfrm>
          <a:prstGeom prst="rect">
            <a:avLst/>
          </a:prstGeom>
          <a:noFill/>
        </p:spPr>
        <p:txBody>
          <a:bodyPr wrap="square" lIns="0" tIns="0" rIns="0" bIns="0" rtlCol="0" anchor="ctr"/>
          <a:lstStyle/>
          <a:p>
            <a:pPr marL="0" indent="0" algn="l">
              <a:buNone/>
            </a:pPr>
            <a:r>
              <a:rPr lang="en-US" sz="3200" b="1" dirty="0">
                <a:solidFill>
                  <a:schemeClr val="tx1"/>
                </a:solidFill>
              </a:rPr>
              <a:t>Real market data for every listed symbol</a:t>
            </a:r>
            <a:endParaRPr lang="en-US" sz="3200" dirty="0"/>
          </a:p>
        </p:txBody>
      </p:sp>
      <p:sp>
        <p:nvSpPr>
          <p:cNvPr id="4" name="Stat 1,519"/>
          <p:cNvSpPr/>
          <p:nvPr/>
        </p:nvSpPr>
        <p:spPr>
          <a:xfrm>
            <a:off x="548640" y="1371600"/>
            <a:ext cx="2697480" cy="1828800"/>
          </a:xfrm>
          <a:prstGeom prst="roundRect">
            <a:avLst>
              <a:gd name="adj" fmla="val 6000"/>
            </a:avLst>
          </a:prstGeom>
          <a:solidFill>
            <a:schemeClr val="bg2"/>
          </a:solidFill>
        </p:spPr>
      </p:sp>
      <p:sp>
        <p:nvSpPr>
          <p:cNvPr id="5" name="Text 2"/>
          <p:cNvSpPr txBox="1"/>
          <p:nvPr/>
        </p:nvSpPr>
        <p:spPr>
          <a:xfrm>
            <a:off x="777240" y="1600200"/>
            <a:ext cx="2286000" cy="731520"/>
          </a:xfrm>
          <a:prstGeom prst="rect">
            <a:avLst/>
          </a:prstGeom>
          <a:noFill/>
        </p:spPr>
        <p:txBody>
          <a:bodyPr wrap="square" lIns="0" tIns="0" rIns="0" bIns="0" rtlCol="0" anchor="ctr"/>
          <a:lstStyle/>
          <a:p>
            <a:pPr marL="0" indent="0">
              <a:buNone/>
            </a:pPr>
            <a:r>
              <a:rPr lang="en-US" sz="4000" b="1" dirty="0">
                <a:solidFill>
                  <a:schemeClr val="accent3"/>
                </a:solidFill>
                <a:latin typeface="Arial" panose="020B0704020202020204" pitchFamily="34" charset="0"/>
                <a:ea typeface="Arial" panose="020B0704020202020204" pitchFamily="34" charset="-122"/>
                <a:cs typeface="Arial" panose="020B0704020202020204" pitchFamily="34" charset="-120"/>
              </a:rPr>
              <a:t>1,519</a:t>
            </a:r>
            <a:endParaRPr lang="en-US" sz="4000" dirty="0"/>
          </a:p>
        </p:txBody>
      </p:sp>
      <p:sp>
        <p:nvSpPr>
          <p:cNvPr id="6" name="Text 3"/>
          <p:cNvSpPr txBox="1"/>
          <p:nvPr/>
        </p:nvSpPr>
        <p:spPr>
          <a:xfrm>
            <a:off x="777240" y="2377440"/>
            <a:ext cx="2286000" cy="685800"/>
          </a:xfrm>
          <a:prstGeom prst="rect">
            <a:avLst/>
          </a:prstGeom>
          <a:noFill/>
        </p:spPr>
        <p:txBody>
          <a:bodyPr wrap="square" lIns="0" tIns="0" rIns="0" bIns="0" rtlCol="0" anchor="t"/>
          <a:lstStyle/>
          <a:p>
            <a:pPr marL="0" indent="0">
              <a:buNone/>
            </a:pPr>
            <a:r>
              <a:rPr lang="en-US" sz="1300" dirty="0">
                <a:solidFill>
                  <a:schemeClr val="tx2"/>
                </a:solidFill>
              </a:rPr>
              <a:t>symbols on HOSE, HNX and UPCoM</a:t>
            </a:r>
            <a:endParaRPr lang="en-US" sz="1300" dirty="0"/>
          </a:p>
        </p:txBody>
      </p:sp>
      <p:sp>
        <p:nvSpPr>
          <p:cNvPr id="7" name="Stat 4.05M"/>
          <p:cNvSpPr/>
          <p:nvPr/>
        </p:nvSpPr>
        <p:spPr>
          <a:xfrm>
            <a:off x="3474720" y="1371600"/>
            <a:ext cx="2697480" cy="1828800"/>
          </a:xfrm>
          <a:prstGeom prst="roundRect">
            <a:avLst>
              <a:gd name="adj" fmla="val 6000"/>
            </a:avLst>
          </a:prstGeom>
          <a:solidFill>
            <a:schemeClr val="bg2"/>
          </a:solidFill>
        </p:spPr>
      </p:sp>
      <p:sp>
        <p:nvSpPr>
          <p:cNvPr id="8" name="Text 5"/>
          <p:cNvSpPr txBox="1"/>
          <p:nvPr/>
        </p:nvSpPr>
        <p:spPr>
          <a:xfrm>
            <a:off x="3703320" y="1600200"/>
            <a:ext cx="2286000" cy="731520"/>
          </a:xfrm>
          <a:prstGeom prst="rect">
            <a:avLst/>
          </a:prstGeom>
          <a:noFill/>
        </p:spPr>
        <p:txBody>
          <a:bodyPr wrap="square" lIns="0" tIns="0" rIns="0" bIns="0" rtlCol="0" anchor="ctr"/>
          <a:lstStyle/>
          <a:p>
            <a:pPr marL="0" indent="0">
              <a:buNone/>
            </a:pPr>
            <a:r>
              <a:rPr lang="en-US" sz="4000" b="1" dirty="0">
                <a:solidFill>
                  <a:schemeClr val="accent3"/>
                </a:solidFill>
                <a:latin typeface="Arial" panose="020B0704020202020204" pitchFamily="34" charset="0"/>
                <a:ea typeface="Arial" panose="020B0704020202020204" pitchFamily="34" charset="-122"/>
                <a:cs typeface="Arial" panose="020B0704020202020204" pitchFamily="34" charset="-120"/>
              </a:rPr>
              <a:t>4.05M</a:t>
            </a:r>
            <a:endParaRPr lang="en-US" sz="4000" dirty="0"/>
          </a:p>
        </p:txBody>
      </p:sp>
      <p:sp>
        <p:nvSpPr>
          <p:cNvPr id="9" name="Text 6"/>
          <p:cNvSpPr txBox="1"/>
          <p:nvPr/>
        </p:nvSpPr>
        <p:spPr>
          <a:xfrm>
            <a:off x="3703320" y="2377440"/>
            <a:ext cx="2286000" cy="685800"/>
          </a:xfrm>
          <a:prstGeom prst="rect">
            <a:avLst/>
          </a:prstGeom>
          <a:noFill/>
        </p:spPr>
        <p:txBody>
          <a:bodyPr wrap="square" lIns="0" tIns="0" rIns="0" bIns="0" rtlCol="0" anchor="t"/>
          <a:lstStyle/>
          <a:p>
            <a:pPr marL="0" indent="0">
              <a:buNone/>
            </a:pPr>
            <a:r>
              <a:rPr lang="en-US" sz="1300" dirty="0">
                <a:solidFill>
                  <a:schemeClr val="tx2"/>
                </a:solidFill>
              </a:rPr>
              <a:t>daily price rows (85 MB Parquet)</a:t>
            </a:r>
            <a:endParaRPr lang="en-US" sz="1300" dirty="0"/>
          </a:p>
        </p:txBody>
      </p:sp>
      <p:sp>
        <p:nvSpPr>
          <p:cNvPr id="10" name="Stat 2013–2026"/>
          <p:cNvSpPr/>
          <p:nvPr/>
        </p:nvSpPr>
        <p:spPr>
          <a:xfrm>
            <a:off x="548640" y="3429000"/>
            <a:ext cx="2697480" cy="1828800"/>
          </a:xfrm>
          <a:prstGeom prst="roundRect">
            <a:avLst>
              <a:gd name="adj" fmla="val 6000"/>
            </a:avLst>
          </a:prstGeom>
          <a:solidFill>
            <a:schemeClr val="bg2"/>
          </a:solidFill>
        </p:spPr>
      </p:sp>
      <p:sp>
        <p:nvSpPr>
          <p:cNvPr id="11" name="Text 8"/>
          <p:cNvSpPr txBox="1"/>
          <p:nvPr/>
        </p:nvSpPr>
        <p:spPr>
          <a:xfrm>
            <a:off x="777240" y="3657600"/>
            <a:ext cx="2286000" cy="731520"/>
          </a:xfrm>
          <a:prstGeom prst="rect">
            <a:avLst/>
          </a:prstGeom>
          <a:noFill/>
        </p:spPr>
        <p:txBody>
          <a:bodyPr wrap="square" lIns="0" tIns="0" rIns="0" bIns="0" rtlCol="0" anchor="ctr"/>
          <a:lstStyle/>
          <a:p>
            <a:pPr marL="0" indent="0">
              <a:buNone/>
            </a:pPr>
            <a:r>
              <a:rPr lang="en-US" sz="3200" b="1" dirty="0">
                <a:solidFill>
                  <a:schemeClr val="accent3"/>
                </a:solidFill>
                <a:latin typeface="Arial" panose="020B0704020202020204" pitchFamily="34" charset="0"/>
                <a:ea typeface="Arial" panose="020B0704020202020204" pitchFamily="34" charset="-122"/>
                <a:cs typeface="Arial" panose="020B0704020202020204" pitchFamily="34" charset="-120"/>
              </a:rPr>
              <a:t>2013–2026</a:t>
            </a:r>
            <a:endParaRPr lang="en-US" sz="3200" dirty="0"/>
          </a:p>
        </p:txBody>
      </p:sp>
      <p:sp>
        <p:nvSpPr>
          <p:cNvPr id="12" name="Text 9"/>
          <p:cNvSpPr txBox="1"/>
          <p:nvPr/>
        </p:nvSpPr>
        <p:spPr>
          <a:xfrm>
            <a:off x="777240" y="4434840"/>
            <a:ext cx="2286000" cy="685800"/>
          </a:xfrm>
          <a:prstGeom prst="rect">
            <a:avLst/>
          </a:prstGeom>
          <a:noFill/>
        </p:spPr>
        <p:txBody>
          <a:bodyPr wrap="square" lIns="0" tIns="0" rIns="0" bIns="0" rtlCol="0" anchor="t"/>
          <a:lstStyle/>
          <a:p>
            <a:pPr marL="0" indent="0">
              <a:buNone/>
            </a:pPr>
            <a:r>
              <a:rPr lang="en-US" sz="1300" dirty="0">
                <a:solidFill>
                  <a:schemeClr val="tx2"/>
                </a:solidFill>
              </a:rPr>
              <a:t>Jan 2, 2013 → Oct 20, 2026</a:t>
            </a:r>
            <a:endParaRPr lang="en-US" sz="1300" dirty="0"/>
          </a:p>
        </p:txBody>
      </p:sp>
      <p:sp>
        <p:nvSpPr>
          <p:cNvPr id="13" name="Stat 30M"/>
          <p:cNvSpPr/>
          <p:nvPr/>
        </p:nvSpPr>
        <p:spPr>
          <a:xfrm>
            <a:off x="3474720" y="3429000"/>
            <a:ext cx="2697480" cy="1828800"/>
          </a:xfrm>
          <a:prstGeom prst="roundRect">
            <a:avLst>
              <a:gd name="adj" fmla="val 6000"/>
            </a:avLst>
          </a:prstGeom>
          <a:solidFill>
            <a:schemeClr val="bg2"/>
          </a:solidFill>
        </p:spPr>
      </p:sp>
      <p:sp>
        <p:nvSpPr>
          <p:cNvPr id="14" name="Text 11"/>
          <p:cNvSpPr txBox="1"/>
          <p:nvPr/>
        </p:nvSpPr>
        <p:spPr>
          <a:xfrm>
            <a:off x="3703320" y="3657600"/>
            <a:ext cx="2286000" cy="731520"/>
          </a:xfrm>
          <a:prstGeom prst="rect">
            <a:avLst/>
          </a:prstGeom>
          <a:noFill/>
        </p:spPr>
        <p:txBody>
          <a:bodyPr wrap="square" lIns="0" tIns="0" rIns="0" bIns="0" rtlCol="0" anchor="ctr"/>
          <a:lstStyle/>
          <a:p>
            <a:pPr marL="0" indent="0">
              <a:buNone/>
            </a:pPr>
            <a:r>
              <a:rPr lang="en-US" sz="4000" b="1" dirty="0">
                <a:solidFill>
                  <a:schemeClr val="accent2"/>
                </a:solidFill>
                <a:latin typeface="Arial" panose="020B0704020202020204" pitchFamily="34" charset="0"/>
                <a:ea typeface="Arial" panose="020B0704020202020204" pitchFamily="34" charset="-122"/>
                <a:cs typeface="Arial" panose="020B0704020202020204" pitchFamily="34" charset="-120"/>
              </a:rPr>
              <a:t>30M</a:t>
            </a:r>
            <a:endParaRPr lang="en-US" sz="4000" dirty="0"/>
          </a:p>
        </p:txBody>
      </p:sp>
      <p:sp>
        <p:nvSpPr>
          <p:cNvPr id="15" name="Text 12"/>
          <p:cNvSpPr txBox="1"/>
          <p:nvPr/>
        </p:nvSpPr>
        <p:spPr>
          <a:xfrm>
            <a:off x="3703320" y="4434840"/>
            <a:ext cx="2286000" cy="685800"/>
          </a:xfrm>
          <a:prstGeom prst="rect">
            <a:avLst/>
          </a:prstGeom>
          <a:noFill/>
        </p:spPr>
        <p:txBody>
          <a:bodyPr wrap="square" lIns="0" tIns="0" rIns="0" bIns="0" rtlCol="0" anchor="t"/>
          <a:lstStyle/>
          <a:p>
            <a:pPr marL="0" indent="0">
              <a:buNone/>
            </a:pPr>
            <a:r>
              <a:rPr lang="en-US" sz="1300" dirty="0">
                <a:solidFill>
                  <a:schemeClr val="tx2"/>
                </a:solidFill>
              </a:rPr>
              <a:t>synthetic 1-minute bars for load tests</a:t>
            </a:r>
            <a:endParaRPr lang="en-US" sz="1300" dirty="0"/>
          </a:p>
        </p:txBody>
      </p:sp>
      <p:graphicFrame>
        <p:nvGraphicFramePr>
          <p:cNvPr id="16" name="Chart 0"/>
          <p:cNvGraphicFramePr/>
          <p:nvPr/>
        </p:nvGraphicFramePr>
        <p:xfrm>
          <a:off x="6583680" y="1371600"/>
          <a:ext cx="5029200" cy="3886200"/>
        </p:xfrm>
        <a:graphic>
          <a:graphicData uri="http://schemas.openxmlformats.org/drawingml/2006/chart">
            <c:chart xmlns:c="http://schemas.openxmlformats.org/drawingml/2006/chart" xmlns:r="http://schemas.openxmlformats.org/officeDocument/2006/relationships" r:id="rId1"/>
          </a:graphicData>
        </a:graphic>
      </p:graphicFrame>
      <p:sp>
        <p:nvSpPr>
          <p:cNvPr id="17" name="Text 13"/>
          <p:cNvSpPr txBox="1"/>
          <p:nvPr/>
        </p:nvSpPr>
        <p:spPr>
          <a:xfrm>
            <a:off x="548640" y="5623560"/>
            <a:ext cx="11064240" cy="320040"/>
          </a:xfrm>
          <a:prstGeom prst="rect">
            <a:avLst/>
          </a:prstGeom>
          <a:noFill/>
        </p:spPr>
        <p:txBody>
          <a:bodyPr wrap="square" lIns="0" tIns="0" rIns="0" bIns="0" rtlCol="0" anchor="t"/>
          <a:lstStyle/>
          <a:p>
            <a:pPr marL="0" indent="0">
              <a:buNone/>
            </a:pPr>
            <a:r>
              <a:rPr lang="en-US" sz="1100" dirty="0">
                <a:solidFill>
                  <a:schemeClr val="accent5"/>
                </a:solidFill>
              </a:rPr>
              <a:t>Sources: VNDirect public API (daily prices) </a:t>
            </a:r>
            <a:endParaRPr lang="en-US" sz="1100" dirty="0"/>
          </a:p>
        </p:txBody>
      </p:sp>
      <p:sp>
        <p:nvSpPr>
          <p:cNvPr id="25" name="Slide Number Placeholder 0"/>
          <p:cNvSpPr>
            <a:spLocks noGrp="1"/>
          </p:cNvSpPr>
          <p:nvPr>
            <p:ph type="sldNum" sz="quarter" idx="4294967295"/>
          </p:nvPr>
        </p:nvSpPr>
        <p:spPr>
          <a:xfrm>
            <a:off x="11155680" y="6355080"/>
            <a:ext cx="457200" cy="274320"/>
          </a:xfrm>
          <a:prstGeom prst="rect">
            <a:avLst/>
          </a:prstGeom>
        </p:spPr>
        <p:txBody>
          <a:bodyPr/>
          <a:lstStyle>
            <a:lvl1pPr>
              <a:defRPr sz="1000">
                <a:solidFill>
                  <a:schemeClr val="accent5"/>
                </a:solidFill>
              </a:defRPr>
            </a:lvl1pPr>
          </a:lstStyle>
          <a:p>
            <a:pPr algn="r"/>
            <a:fld id="{F7021451-1387-4CA6-816F-3879F97B5CBC}" type="slidenum">
              <a:rPr lang="en-US" b="0"/>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0" hasCustomPrompt="1"/>
          </p:nvPr>
        </p:nvSpPr>
        <p:spPr>
          <a:xfrm>
            <a:off x="548640" y="320040"/>
            <a:ext cx="11064240" cy="777240"/>
          </a:xfrm>
          <a:prstGeom prst="rect">
            <a:avLst/>
          </a:prstGeom>
          <a:noFill/>
        </p:spPr>
        <p:txBody>
          <a:bodyPr wrap="square" lIns="0" tIns="0" rIns="0" bIns="0" rtlCol="0" anchor="ctr"/>
          <a:lstStyle/>
          <a:p>
            <a:pPr marL="0" indent="0" algn="l">
              <a:buNone/>
            </a:pPr>
            <a:r>
              <a:rPr lang="en-US" sz="3200" b="1" dirty="0">
                <a:solidFill>
                  <a:schemeClr val="tx1"/>
                </a:solidFill>
              </a:rPr>
              <a:t>Target architecture: batch + streaming lakehouse</a:t>
            </a:r>
            <a:endParaRPr lang="en-US" sz="3200" dirty="0"/>
          </a:p>
        </p:txBody>
      </p:sp>
      <p:sp>
        <p:nvSpPr>
          <p:cNvPr id="4" name="Sources"/>
          <p:cNvSpPr/>
          <p:nvPr/>
        </p:nvSpPr>
        <p:spPr>
          <a:xfrm>
            <a:off x="548640" y="1417320"/>
            <a:ext cx="1554480" cy="2788920"/>
          </a:xfrm>
          <a:prstGeom prst="roundRect">
            <a:avLst>
              <a:gd name="adj" fmla="val 5882"/>
            </a:avLst>
          </a:prstGeom>
          <a:solidFill>
            <a:schemeClr val="accent1">
              <a:alpha val="12000"/>
            </a:schemeClr>
          </a:solidFill>
          <a:ln w="15875">
            <a:solidFill>
              <a:schemeClr val="accent1"/>
            </a:solidFill>
            <a:prstDash val="solid"/>
          </a:ln>
        </p:spPr>
      </p:sp>
      <p:pic>
        <p:nvPicPr>
          <p:cNvPr id="5" name="Image 0" descr="Sources"/>
          <p:cNvPicPr>
            <a:picLocks noChangeAspect="1"/>
          </p:cNvPicPr>
          <p:nvPr/>
        </p:nvPicPr>
        <p:blipFill>
          <a:blip r:embed="rId1"/>
          <a:stretch>
            <a:fillRect/>
          </a:stretch>
        </p:blipFill>
        <p:spPr>
          <a:xfrm>
            <a:off x="685800" y="1554480"/>
            <a:ext cx="329184" cy="329184"/>
          </a:xfrm>
          <a:prstGeom prst="rect">
            <a:avLst/>
          </a:prstGeom>
        </p:spPr>
      </p:pic>
      <p:sp>
        <p:nvSpPr>
          <p:cNvPr id="6" name="Text 2"/>
          <p:cNvSpPr txBox="1"/>
          <p:nvPr/>
        </p:nvSpPr>
        <p:spPr>
          <a:xfrm>
            <a:off x="685800" y="1965960"/>
            <a:ext cx="1280160" cy="274320"/>
          </a:xfrm>
          <a:prstGeom prst="rect">
            <a:avLst/>
          </a:prstGeom>
          <a:noFill/>
        </p:spPr>
        <p:txBody>
          <a:bodyPr wrap="square" lIns="0" tIns="0" rIns="0" bIns="0" rtlCol="0" anchor="t"/>
          <a:lstStyle/>
          <a:p>
            <a:pPr marL="0" indent="0">
              <a:buNone/>
            </a:pPr>
            <a:r>
              <a:rPr lang="en-US" sz="1400" b="1" dirty="0">
                <a:solidFill>
                  <a:schemeClr val="tx1"/>
                </a:solidFill>
              </a:rPr>
              <a:t>Sources</a:t>
            </a:r>
            <a:endParaRPr lang="en-US" sz="1400" dirty="0"/>
          </a:p>
        </p:txBody>
      </p:sp>
      <p:sp>
        <p:nvSpPr>
          <p:cNvPr id="7" name="Text 3"/>
          <p:cNvSpPr txBox="1"/>
          <p:nvPr/>
        </p:nvSpPr>
        <p:spPr>
          <a:xfrm>
            <a:off x="685800" y="2258568"/>
            <a:ext cx="1280160" cy="1874520"/>
          </a:xfrm>
          <a:prstGeom prst="rect">
            <a:avLst/>
          </a:prstGeom>
          <a:noFill/>
        </p:spPr>
        <p:txBody>
          <a:bodyPr wrap="square" lIns="0" tIns="0" rIns="0" bIns="0" rtlCol="0" anchor="t"/>
          <a:lstStyle/>
          <a:p>
            <a:pPr marL="0" indent="0">
              <a:buNone/>
            </a:pPr>
            <a:r>
              <a:rPr lang="en-US" sz="1100" dirty="0">
                <a:solidFill>
                  <a:schemeClr val="tx2"/>
                </a:solidFill>
              </a:rPr>
              <a:t>VNDirect &amp; Vietcap APIs, Parquet/CSV files</a:t>
            </a:r>
            <a:endParaRPr lang="en-US" sz="1100" dirty="0"/>
          </a:p>
          <a:p>
            <a:pPr marL="0" indent="0">
              <a:buNone/>
            </a:pPr>
            <a:endParaRPr lang="en-US" sz="1100" dirty="0"/>
          </a:p>
          <a:p>
            <a:pPr marL="0" indent="0">
              <a:buNone/>
            </a:pPr>
            <a:r>
              <a:rPr lang="en-US" sz="1100" dirty="0">
                <a:solidFill>
                  <a:schemeClr val="tx2"/>
                </a:solidFill>
              </a:rPr>
              <a:t>Python crawlers in etl/</a:t>
            </a:r>
            <a:endParaRPr lang="en-US" sz="1100" dirty="0"/>
          </a:p>
        </p:txBody>
      </p:sp>
      <p:sp>
        <p:nvSpPr>
          <p:cNvPr id="8" name="NiFi"/>
          <p:cNvSpPr/>
          <p:nvPr/>
        </p:nvSpPr>
        <p:spPr>
          <a:xfrm>
            <a:off x="2468880" y="1417320"/>
            <a:ext cx="1554480" cy="2788920"/>
          </a:xfrm>
          <a:prstGeom prst="roundRect">
            <a:avLst>
              <a:gd name="adj" fmla="val 5882"/>
            </a:avLst>
          </a:prstGeom>
          <a:solidFill>
            <a:schemeClr val="bg1"/>
          </a:solidFill>
          <a:ln w="15875">
            <a:solidFill>
              <a:schemeClr val="accent5"/>
            </a:solidFill>
            <a:prstDash val="dash"/>
          </a:ln>
        </p:spPr>
      </p:sp>
      <p:pic>
        <p:nvPicPr>
          <p:cNvPr id="9" name="Image 1" descr="NiFi"/>
          <p:cNvPicPr>
            <a:picLocks noChangeAspect="1"/>
          </p:cNvPicPr>
          <p:nvPr/>
        </p:nvPicPr>
        <p:blipFill>
          <a:blip r:embed="rId2"/>
          <a:stretch>
            <a:fillRect/>
          </a:stretch>
        </p:blipFill>
        <p:spPr>
          <a:xfrm>
            <a:off x="2606040" y="1554480"/>
            <a:ext cx="329184" cy="329184"/>
          </a:xfrm>
          <a:prstGeom prst="rect">
            <a:avLst/>
          </a:prstGeom>
        </p:spPr>
      </p:pic>
      <p:sp>
        <p:nvSpPr>
          <p:cNvPr id="10" name="Text 5"/>
          <p:cNvSpPr txBox="1"/>
          <p:nvPr/>
        </p:nvSpPr>
        <p:spPr>
          <a:xfrm>
            <a:off x="2606040" y="1965960"/>
            <a:ext cx="1280160" cy="274320"/>
          </a:xfrm>
          <a:prstGeom prst="rect">
            <a:avLst/>
          </a:prstGeom>
          <a:noFill/>
        </p:spPr>
        <p:txBody>
          <a:bodyPr wrap="square" lIns="0" tIns="0" rIns="0" bIns="0" rtlCol="0" anchor="t"/>
          <a:lstStyle/>
          <a:p>
            <a:pPr marL="0" indent="0">
              <a:buNone/>
            </a:pPr>
            <a:r>
              <a:rPr lang="en-US" sz="1400" b="1" dirty="0">
                <a:solidFill>
                  <a:schemeClr val="tx1"/>
                </a:solidFill>
              </a:rPr>
              <a:t>NiFi</a:t>
            </a:r>
            <a:endParaRPr lang="en-US" sz="1400" dirty="0"/>
          </a:p>
        </p:txBody>
      </p:sp>
      <p:sp>
        <p:nvSpPr>
          <p:cNvPr id="11" name="Text 6"/>
          <p:cNvSpPr txBox="1"/>
          <p:nvPr/>
        </p:nvSpPr>
        <p:spPr>
          <a:xfrm>
            <a:off x="2606040" y="2258568"/>
            <a:ext cx="1280160" cy="1874520"/>
          </a:xfrm>
          <a:prstGeom prst="rect">
            <a:avLst/>
          </a:prstGeom>
          <a:noFill/>
        </p:spPr>
        <p:txBody>
          <a:bodyPr wrap="square" lIns="0" tIns="0" rIns="0" bIns="0" rtlCol="0" anchor="t"/>
          <a:lstStyle/>
          <a:p>
            <a:pPr marL="0" indent="0">
              <a:buNone/>
            </a:pPr>
            <a:r>
              <a:rPr lang="en-US" sz="1100" dirty="0">
                <a:solidFill>
                  <a:schemeClr val="tx2"/>
                </a:solidFill>
              </a:rPr>
              <a:t>Collect &amp; normalize</a:t>
            </a:r>
            <a:endParaRPr lang="en-US" sz="1100" dirty="0"/>
          </a:p>
          <a:p>
            <a:pPr marL="0" indent="0">
              <a:buNone/>
            </a:pPr>
            <a:endParaRPr lang="en-US" sz="1100" dirty="0"/>
          </a:p>
          <a:p>
            <a:pPr marL="0" indent="0">
              <a:buNone/>
            </a:pPr>
            <a:r>
              <a:rPr lang="en-US" sz="1100" dirty="0">
                <a:solidFill>
                  <a:schemeClr val="tx2"/>
                </a:solidFill>
              </a:rPr>
              <a:t>batch → MinIO</a:t>
            </a:r>
            <a:endParaRPr lang="en-US" sz="1100" dirty="0"/>
          </a:p>
          <a:p>
            <a:pPr marL="0" indent="0">
              <a:buNone/>
            </a:pPr>
            <a:r>
              <a:rPr lang="en-US" sz="1100" dirty="0">
                <a:solidFill>
                  <a:schemeClr val="tx2"/>
                </a:solidFill>
              </a:rPr>
              <a:t>stream → Kafka</a:t>
            </a:r>
            <a:endParaRPr lang="en-US" sz="1100" dirty="0"/>
          </a:p>
        </p:txBody>
      </p:sp>
      <p:sp>
        <p:nvSpPr>
          <p:cNvPr id="12" name="MinIO"/>
          <p:cNvSpPr/>
          <p:nvPr/>
        </p:nvSpPr>
        <p:spPr>
          <a:xfrm>
            <a:off x="4389120" y="1417320"/>
            <a:ext cx="1554480" cy="1188720"/>
          </a:xfrm>
          <a:prstGeom prst="roundRect">
            <a:avLst>
              <a:gd name="adj" fmla="val 7692"/>
            </a:avLst>
          </a:prstGeom>
          <a:solidFill>
            <a:schemeClr val="accent1">
              <a:alpha val="12000"/>
            </a:schemeClr>
          </a:solidFill>
          <a:ln w="15875">
            <a:solidFill>
              <a:schemeClr val="accent1"/>
            </a:solidFill>
            <a:prstDash val="solid"/>
          </a:ln>
        </p:spPr>
      </p:sp>
      <p:pic>
        <p:nvPicPr>
          <p:cNvPr id="13" name="Image 2" descr="MinIO"/>
          <p:cNvPicPr>
            <a:picLocks noChangeAspect="1"/>
          </p:cNvPicPr>
          <p:nvPr/>
        </p:nvPicPr>
        <p:blipFill>
          <a:blip r:embed="rId3"/>
          <a:stretch>
            <a:fillRect/>
          </a:stretch>
        </p:blipFill>
        <p:spPr>
          <a:xfrm>
            <a:off x="4526280" y="1554480"/>
            <a:ext cx="329184" cy="329184"/>
          </a:xfrm>
          <a:prstGeom prst="rect">
            <a:avLst/>
          </a:prstGeom>
        </p:spPr>
      </p:pic>
      <p:sp>
        <p:nvSpPr>
          <p:cNvPr id="14" name="Text 8"/>
          <p:cNvSpPr txBox="1"/>
          <p:nvPr/>
        </p:nvSpPr>
        <p:spPr>
          <a:xfrm>
            <a:off x="4526280" y="1965960"/>
            <a:ext cx="1280160" cy="274320"/>
          </a:xfrm>
          <a:prstGeom prst="rect">
            <a:avLst/>
          </a:prstGeom>
          <a:noFill/>
        </p:spPr>
        <p:txBody>
          <a:bodyPr wrap="square" lIns="0" tIns="0" rIns="0" bIns="0" rtlCol="0" anchor="t"/>
          <a:lstStyle/>
          <a:p>
            <a:pPr marL="0" indent="0">
              <a:buNone/>
            </a:pPr>
            <a:r>
              <a:rPr lang="en-US" sz="1400" b="1" dirty="0">
                <a:solidFill>
                  <a:schemeClr val="tx1"/>
                </a:solidFill>
              </a:rPr>
              <a:t>MinIO</a:t>
            </a:r>
            <a:endParaRPr lang="en-US" sz="1400" dirty="0"/>
          </a:p>
        </p:txBody>
      </p:sp>
      <p:sp>
        <p:nvSpPr>
          <p:cNvPr id="15" name="Text 9"/>
          <p:cNvSpPr txBox="1"/>
          <p:nvPr/>
        </p:nvSpPr>
        <p:spPr>
          <a:xfrm>
            <a:off x="4526280" y="2258568"/>
            <a:ext cx="1280160" cy="274320"/>
          </a:xfrm>
          <a:prstGeom prst="rect">
            <a:avLst/>
          </a:prstGeom>
          <a:noFill/>
        </p:spPr>
        <p:txBody>
          <a:bodyPr wrap="square" lIns="0" tIns="0" rIns="0" bIns="0" rtlCol="0" anchor="t"/>
          <a:lstStyle/>
          <a:p>
            <a:pPr marL="0" indent="0">
              <a:buNone/>
            </a:pPr>
            <a:r>
              <a:rPr lang="en-US" sz="1100" dirty="0">
                <a:solidFill>
                  <a:schemeClr val="tx2"/>
                </a:solidFill>
              </a:rPr>
              <a:t>raw-zone bucket (batch landing)</a:t>
            </a:r>
            <a:endParaRPr lang="en-US" sz="1100" dirty="0"/>
          </a:p>
        </p:txBody>
      </p:sp>
      <p:sp>
        <p:nvSpPr>
          <p:cNvPr id="16" name="Kafka"/>
          <p:cNvSpPr/>
          <p:nvPr/>
        </p:nvSpPr>
        <p:spPr>
          <a:xfrm>
            <a:off x="4389120" y="3017520"/>
            <a:ext cx="1554480" cy="1188720"/>
          </a:xfrm>
          <a:prstGeom prst="roundRect">
            <a:avLst>
              <a:gd name="adj" fmla="val 7692"/>
            </a:avLst>
          </a:prstGeom>
          <a:solidFill>
            <a:schemeClr val="bg1"/>
          </a:solidFill>
          <a:ln w="15875">
            <a:solidFill>
              <a:schemeClr val="accent5"/>
            </a:solidFill>
            <a:prstDash val="dash"/>
          </a:ln>
        </p:spPr>
      </p:sp>
      <p:pic>
        <p:nvPicPr>
          <p:cNvPr id="17" name="Image 3" descr="Kafka"/>
          <p:cNvPicPr>
            <a:picLocks noChangeAspect="1"/>
          </p:cNvPicPr>
          <p:nvPr/>
        </p:nvPicPr>
        <p:blipFill>
          <a:blip r:embed="rId4"/>
          <a:stretch>
            <a:fillRect/>
          </a:stretch>
        </p:blipFill>
        <p:spPr>
          <a:xfrm>
            <a:off x="4526280" y="3154680"/>
            <a:ext cx="329184" cy="329184"/>
          </a:xfrm>
          <a:prstGeom prst="rect">
            <a:avLst/>
          </a:prstGeom>
        </p:spPr>
      </p:pic>
      <p:sp>
        <p:nvSpPr>
          <p:cNvPr id="18" name="Text 11"/>
          <p:cNvSpPr txBox="1"/>
          <p:nvPr/>
        </p:nvSpPr>
        <p:spPr>
          <a:xfrm>
            <a:off x="4526280" y="3566160"/>
            <a:ext cx="1280160" cy="274320"/>
          </a:xfrm>
          <a:prstGeom prst="rect">
            <a:avLst/>
          </a:prstGeom>
          <a:noFill/>
        </p:spPr>
        <p:txBody>
          <a:bodyPr wrap="square" lIns="0" tIns="0" rIns="0" bIns="0" rtlCol="0" anchor="t"/>
          <a:lstStyle/>
          <a:p>
            <a:pPr marL="0" indent="0">
              <a:buNone/>
            </a:pPr>
            <a:r>
              <a:rPr lang="en-US" sz="1400" b="1" dirty="0">
                <a:solidFill>
                  <a:schemeClr val="tx1"/>
                </a:solidFill>
              </a:rPr>
              <a:t>Kafka</a:t>
            </a:r>
            <a:endParaRPr lang="en-US" sz="1400" dirty="0"/>
          </a:p>
        </p:txBody>
      </p:sp>
      <p:sp>
        <p:nvSpPr>
          <p:cNvPr id="19" name="Text 12"/>
          <p:cNvSpPr txBox="1"/>
          <p:nvPr/>
        </p:nvSpPr>
        <p:spPr>
          <a:xfrm>
            <a:off x="4526280" y="3858768"/>
            <a:ext cx="1280160" cy="274320"/>
          </a:xfrm>
          <a:prstGeom prst="rect">
            <a:avLst/>
          </a:prstGeom>
          <a:noFill/>
        </p:spPr>
        <p:txBody>
          <a:bodyPr wrap="square" lIns="0" tIns="0" rIns="0" bIns="0" rtlCol="0" anchor="t"/>
          <a:lstStyle/>
          <a:p>
            <a:pPr marL="0" indent="0">
              <a:buNone/>
            </a:pPr>
            <a:r>
              <a:rPr lang="en-US" sz="1100" dirty="0">
                <a:solidFill>
                  <a:schemeClr val="tx2"/>
                </a:solidFill>
              </a:rPr>
              <a:t>topic stock-quotes (KRaft)</a:t>
            </a:r>
            <a:endParaRPr lang="en-US" sz="1100" dirty="0"/>
          </a:p>
        </p:txBody>
      </p:sp>
      <p:sp>
        <p:nvSpPr>
          <p:cNvPr id="20" name="Spark on K8s"/>
          <p:cNvSpPr/>
          <p:nvPr/>
        </p:nvSpPr>
        <p:spPr>
          <a:xfrm>
            <a:off x="6309360" y="1417320"/>
            <a:ext cx="1554480" cy="2788920"/>
          </a:xfrm>
          <a:prstGeom prst="roundRect">
            <a:avLst>
              <a:gd name="adj" fmla="val 5882"/>
            </a:avLst>
          </a:prstGeom>
          <a:solidFill>
            <a:schemeClr val="accent2">
              <a:alpha val="18000"/>
            </a:schemeClr>
          </a:solidFill>
          <a:ln w="15875">
            <a:solidFill>
              <a:schemeClr val="accent2"/>
            </a:solidFill>
            <a:prstDash val="solid"/>
          </a:ln>
        </p:spPr>
      </p:sp>
      <p:pic>
        <p:nvPicPr>
          <p:cNvPr id="21" name="Image 4" descr="Spark on K8s"/>
          <p:cNvPicPr>
            <a:picLocks noChangeAspect="1"/>
          </p:cNvPicPr>
          <p:nvPr/>
        </p:nvPicPr>
        <p:blipFill>
          <a:blip r:embed="rId5"/>
          <a:stretch>
            <a:fillRect/>
          </a:stretch>
        </p:blipFill>
        <p:spPr>
          <a:xfrm>
            <a:off x="6446520" y="1554480"/>
            <a:ext cx="329184" cy="329184"/>
          </a:xfrm>
          <a:prstGeom prst="rect">
            <a:avLst/>
          </a:prstGeom>
        </p:spPr>
      </p:pic>
      <p:sp>
        <p:nvSpPr>
          <p:cNvPr id="22" name="Text 14"/>
          <p:cNvSpPr txBox="1"/>
          <p:nvPr/>
        </p:nvSpPr>
        <p:spPr>
          <a:xfrm>
            <a:off x="6446520" y="1965960"/>
            <a:ext cx="1280160" cy="274320"/>
          </a:xfrm>
          <a:prstGeom prst="rect">
            <a:avLst/>
          </a:prstGeom>
          <a:noFill/>
        </p:spPr>
        <p:txBody>
          <a:bodyPr wrap="square" lIns="0" tIns="0" rIns="0" bIns="0" rtlCol="0" anchor="t"/>
          <a:lstStyle/>
          <a:p>
            <a:pPr marL="0" indent="0">
              <a:buNone/>
            </a:pPr>
            <a:r>
              <a:rPr lang="en-US" sz="1400" b="1" dirty="0">
                <a:solidFill>
                  <a:schemeClr val="tx1"/>
                </a:solidFill>
              </a:rPr>
              <a:t>Spark on K8s</a:t>
            </a:r>
            <a:endParaRPr lang="en-US" sz="1400" dirty="0"/>
          </a:p>
        </p:txBody>
      </p:sp>
      <p:sp>
        <p:nvSpPr>
          <p:cNvPr id="23" name="Text 15"/>
          <p:cNvSpPr txBox="1"/>
          <p:nvPr/>
        </p:nvSpPr>
        <p:spPr>
          <a:xfrm>
            <a:off x="6446520" y="2258568"/>
            <a:ext cx="1280160" cy="1874520"/>
          </a:xfrm>
          <a:prstGeom prst="rect">
            <a:avLst/>
          </a:prstGeom>
          <a:noFill/>
        </p:spPr>
        <p:txBody>
          <a:bodyPr wrap="square" lIns="0" tIns="0" rIns="0" bIns="0" rtlCol="0" anchor="t"/>
          <a:lstStyle/>
          <a:p>
            <a:pPr marL="0" indent="0">
              <a:buNone/>
            </a:pPr>
            <a:r>
              <a:rPr lang="en-US" sz="1100" dirty="0">
                <a:solidFill>
                  <a:schemeClr val="tx2"/>
                </a:solidFill>
              </a:rPr>
              <a:t>Batch: clean &amp; dedup</a:t>
            </a:r>
            <a:endParaRPr lang="en-US" sz="1100" dirty="0"/>
          </a:p>
          <a:p>
            <a:pPr marL="0" indent="0">
              <a:buNone/>
            </a:pPr>
            <a:endParaRPr lang="en-US" sz="1100" dirty="0"/>
          </a:p>
          <a:p>
            <a:pPr marL="0" indent="0">
              <a:buNone/>
            </a:pPr>
            <a:r>
              <a:rPr lang="en-US" sz="1100" dirty="0">
                <a:solidFill>
                  <a:schemeClr val="tx2"/>
                </a:solidFill>
              </a:rPr>
              <a:t>Structured Streaming: Kafka → Iceberg</a:t>
            </a:r>
            <a:endParaRPr lang="en-US" sz="1100" dirty="0"/>
          </a:p>
        </p:txBody>
      </p:sp>
      <p:sp>
        <p:nvSpPr>
          <p:cNvPr id="24" name="Iceberg"/>
          <p:cNvSpPr/>
          <p:nvPr/>
        </p:nvSpPr>
        <p:spPr>
          <a:xfrm>
            <a:off x="8229600" y="1417320"/>
            <a:ext cx="1554480" cy="1188720"/>
          </a:xfrm>
          <a:prstGeom prst="roundRect">
            <a:avLst>
              <a:gd name="adj" fmla="val 7692"/>
            </a:avLst>
          </a:prstGeom>
          <a:solidFill>
            <a:schemeClr val="accent2">
              <a:alpha val="18000"/>
            </a:schemeClr>
          </a:solidFill>
          <a:ln w="15875">
            <a:solidFill>
              <a:schemeClr val="accent2"/>
            </a:solidFill>
            <a:prstDash val="solid"/>
          </a:ln>
        </p:spPr>
      </p:sp>
      <p:pic>
        <p:nvPicPr>
          <p:cNvPr id="25" name="Image 5" descr="Iceberg"/>
          <p:cNvPicPr>
            <a:picLocks noChangeAspect="1"/>
          </p:cNvPicPr>
          <p:nvPr/>
        </p:nvPicPr>
        <p:blipFill>
          <a:blip r:embed="rId6"/>
          <a:stretch>
            <a:fillRect/>
          </a:stretch>
        </p:blipFill>
        <p:spPr>
          <a:xfrm>
            <a:off x="8366760" y="1554480"/>
            <a:ext cx="329184" cy="329184"/>
          </a:xfrm>
          <a:prstGeom prst="rect">
            <a:avLst/>
          </a:prstGeom>
        </p:spPr>
      </p:pic>
      <p:sp>
        <p:nvSpPr>
          <p:cNvPr id="26" name="Text 17"/>
          <p:cNvSpPr txBox="1"/>
          <p:nvPr/>
        </p:nvSpPr>
        <p:spPr>
          <a:xfrm>
            <a:off x="8366760" y="1965960"/>
            <a:ext cx="1280160" cy="274320"/>
          </a:xfrm>
          <a:prstGeom prst="rect">
            <a:avLst/>
          </a:prstGeom>
          <a:noFill/>
        </p:spPr>
        <p:txBody>
          <a:bodyPr wrap="square" lIns="0" tIns="0" rIns="0" bIns="0" rtlCol="0" anchor="t"/>
          <a:lstStyle/>
          <a:p>
            <a:pPr marL="0" indent="0">
              <a:buNone/>
            </a:pPr>
            <a:r>
              <a:rPr lang="en-US" sz="1400" b="1" dirty="0">
                <a:solidFill>
                  <a:schemeClr val="tx1"/>
                </a:solidFill>
              </a:rPr>
              <a:t>Iceberg</a:t>
            </a:r>
            <a:endParaRPr lang="en-US" sz="1400" dirty="0"/>
          </a:p>
        </p:txBody>
      </p:sp>
      <p:sp>
        <p:nvSpPr>
          <p:cNvPr id="27" name="Text 18"/>
          <p:cNvSpPr txBox="1"/>
          <p:nvPr/>
        </p:nvSpPr>
        <p:spPr>
          <a:xfrm>
            <a:off x="8366760" y="2258568"/>
            <a:ext cx="1280160" cy="274320"/>
          </a:xfrm>
          <a:prstGeom prst="rect">
            <a:avLst/>
          </a:prstGeom>
          <a:noFill/>
        </p:spPr>
        <p:txBody>
          <a:bodyPr wrap="square" lIns="0" tIns="0" rIns="0" bIns="0" rtlCol="0" anchor="t"/>
          <a:lstStyle/>
          <a:p>
            <a:pPr marL="0" indent="0">
              <a:buNone/>
            </a:pPr>
            <a:r>
              <a:rPr lang="en-US" sz="1100" dirty="0">
                <a:solidFill>
                  <a:schemeClr val="tx2"/>
                </a:solidFill>
              </a:rPr>
              <a:t>cleansed &amp; curated tables on MinIO</a:t>
            </a:r>
            <a:endParaRPr lang="en-US" sz="1100" dirty="0"/>
          </a:p>
        </p:txBody>
      </p:sp>
      <p:sp>
        <p:nvSpPr>
          <p:cNvPr id="28" name="PostgreSQL"/>
          <p:cNvSpPr/>
          <p:nvPr/>
        </p:nvSpPr>
        <p:spPr>
          <a:xfrm>
            <a:off x="8229600" y="3017520"/>
            <a:ext cx="1554480" cy="1449070"/>
          </a:xfrm>
          <a:prstGeom prst="roundRect">
            <a:avLst>
              <a:gd name="adj" fmla="val 7692"/>
            </a:avLst>
          </a:prstGeom>
          <a:solidFill>
            <a:schemeClr val="accent1">
              <a:alpha val="12000"/>
            </a:schemeClr>
          </a:solidFill>
          <a:ln w="15875">
            <a:solidFill>
              <a:schemeClr val="accent1"/>
            </a:solidFill>
            <a:prstDash val="solid"/>
          </a:ln>
        </p:spPr>
      </p:sp>
      <p:pic>
        <p:nvPicPr>
          <p:cNvPr id="29" name="Image 6" descr="PostgreSQL"/>
          <p:cNvPicPr>
            <a:picLocks noChangeAspect="1"/>
          </p:cNvPicPr>
          <p:nvPr/>
        </p:nvPicPr>
        <p:blipFill>
          <a:blip r:embed="rId7"/>
          <a:stretch>
            <a:fillRect/>
          </a:stretch>
        </p:blipFill>
        <p:spPr>
          <a:xfrm>
            <a:off x="8366760" y="3154680"/>
            <a:ext cx="329184" cy="329184"/>
          </a:xfrm>
          <a:prstGeom prst="rect">
            <a:avLst/>
          </a:prstGeom>
        </p:spPr>
      </p:pic>
      <p:sp>
        <p:nvSpPr>
          <p:cNvPr id="30" name="Text 20"/>
          <p:cNvSpPr txBox="1"/>
          <p:nvPr/>
        </p:nvSpPr>
        <p:spPr>
          <a:xfrm>
            <a:off x="8366760" y="3566160"/>
            <a:ext cx="1280160" cy="274320"/>
          </a:xfrm>
          <a:prstGeom prst="rect">
            <a:avLst/>
          </a:prstGeom>
          <a:noFill/>
        </p:spPr>
        <p:txBody>
          <a:bodyPr wrap="square" lIns="0" tIns="0" rIns="0" bIns="0" rtlCol="0" anchor="t"/>
          <a:lstStyle/>
          <a:p>
            <a:pPr marL="0" indent="0">
              <a:buNone/>
            </a:pPr>
            <a:r>
              <a:rPr lang="en-US" sz="1400" b="1" dirty="0">
                <a:solidFill>
                  <a:schemeClr val="tx1"/>
                </a:solidFill>
              </a:rPr>
              <a:t>PostgreSQL</a:t>
            </a:r>
            <a:endParaRPr lang="en-US" sz="1400" dirty="0"/>
          </a:p>
        </p:txBody>
      </p:sp>
      <p:sp>
        <p:nvSpPr>
          <p:cNvPr id="31" name="Text 21"/>
          <p:cNvSpPr txBox="1"/>
          <p:nvPr/>
        </p:nvSpPr>
        <p:spPr>
          <a:xfrm>
            <a:off x="8366760" y="3858768"/>
            <a:ext cx="1280160" cy="274320"/>
          </a:xfrm>
          <a:prstGeom prst="rect">
            <a:avLst/>
          </a:prstGeom>
          <a:noFill/>
        </p:spPr>
        <p:txBody>
          <a:bodyPr wrap="square" lIns="0" tIns="0" rIns="0" bIns="0" rtlCol="0" anchor="t"/>
          <a:lstStyle/>
          <a:p>
            <a:pPr marL="0" indent="0">
              <a:buNone/>
            </a:pPr>
            <a:r>
              <a:rPr lang="en-US" sz="1100" dirty="0">
                <a:solidFill>
                  <a:schemeClr val="tx2"/>
                </a:solidFill>
              </a:rPr>
              <a:t>Iceberg JDBC catalog + metadata DBs</a:t>
            </a:r>
            <a:endParaRPr lang="en-US" sz="1100" dirty="0"/>
          </a:p>
        </p:txBody>
      </p:sp>
      <p:sp>
        <p:nvSpPr>
          <p:cNvPr id="32" name="dbt"/>
          <p:cNvSpPr/>
          <p:nvPr/>
        </p:nvSpPr>
        <p:spPr>
          <a:xfrm>
            <a:off x="10149840" y="1417320"/>
            <a:ext cx="1554480" cy="1188720"/>
          </a:xfrm>
          <a:prstGeom prst="roundRect">
            <a:avLst>
              <a:gd name="adj" fmla="val 7692"/>
            </a:avLst>
          </a:prstGeom>
          <a:solidFill>
            <a:schemeClr val="accent2">
              <a:alpha val="18000"/>
            </a:schemeClr>
          </a:solidFill>
          <a:ln w="15875">
            <a:solidFill>
              <a:schemeClr val="accent2"/>
            </a:solidFill>
            <a:prstDash val="solid"/>
          </a:ln>
        </p:spPr>
      </p:sp>
      <p:pic>
        <p:nvPicPr>
          <p:cNvPr id="33" name="Image 7" descr="dbt"/>
          <p:cNvPicPr>
            <a:picLocks noChangeAspect="1"/>
          </p:cNvPicPr>
          <p:nvPr/>
        </p:nvPicPr>
        <p:blipFill>
          <a:blip r:embed="rId8"/>
          <a:stretch>
            <a:fillRect/>
          </a:stretch>
        </p:blipFill>
        <p:spPr>
          <a:xfrm>
            <a:off x="10287000" y="1554480"/>
            <a:ext cx="329184" cy="329184"/>
          </a:xfrm>
          <a:prstGeom prst="rect">
            <a:avLst/>
          </a:prstGeom>
        </p:spPr>
      </p:pic>
      <p:sp>
        <p:nvSpPr>
          <p:cNvPr id="34" name="Text 23"/>
          <p:cNvSpPr txBox="1"/>
          <p:nvPr/>
        </p:nvSpPr>
        <p:spPr>
          <a:xfrm>
            <a:off x="10287000" y="1965960"/>
            <a:ext cx="1280160" cy="274320"/>
          </a:xfrm>
          <a:prstGeom prst="rect">
            <a:avLst/>
          </a:prstGeom>
          <a:noFill/>
        </p:spPr>
        <p:txBody>
          <a:bodyPr wrap="square" lIns="0" tIns="0" rIns="0" bIns="0" rtlCol="0" anchor="t"/>
          <a:lstStyle/>
          <a:p>
            <a:pPr marL="0" indent="0">
              <a:buNone/>
            </a:pPr>
            <a:r>
              <a:rPr lang="en-US" sz="1400" b="1" dirty="0">
                <a:solidFill>
                  <a:schemeClr val="tx1"/>
                </a:solidFill>
              </a:rPr>
              <a:t>dbt</a:t>
            </a:r>
            <a:endParaRPr lang="en-US" sz="1400" dirty="0"/>
          </a:p>
        </p:txBody>
      </p:sp>
      <p:sp>
        <p:nvSpPr>
          <p:cNvPr id="35" name="Text 24"/>
          <p:cNvSpPr txBox="1"/>
          <p:nvPr/>
        </p:nvSpPr>
        <p:spPr>
          <a:xfrm>
            <a:off x="10287000" y="2258568"/>
            <a:ext cx="1280160" cy="274320"/>
          </a:xfrm>
          <a:prstGeom prst="rect">
            <a:avLst/>
          </a:prstGeom>
          <a:noFill/>
        </p:spPr>
        <p:txBody>
          <a:bodyPr wrap="square" lIns="0" tIns="0" rIns="0" bIns="0" rtlCol="0" anchor="t"/>
          <a:lstStyle/>
          <a:p>
            <a:pPr marL="0" indent="0">
              <a:buNone/>
            </a:pPr>
            <a:r>
              <a:rPr lang="en-US" sz="1100" dirty="0">
                <a:solidFill>
                  <a:schemeClr val="tx2"/>
                </a:solidFill>
              </a:rPr>
              <a:t>staging → marts models</a:t>
            </a:r>
            <a:endParaRPr lang="en-US" sz="1100" dirty="0"/>
          </a:p>
        </p:txBody>
      </p:sp>
      <p:sp>
        <p:nvSpPr>
          <p:cNvPr id="36" name="Trino"/>
          <p:cNvSpPr/>
          <p:nvPr/>
        </p:nvSpPr>
        <p:spPr>
          <a:xfrm>
            <a:off x="10149840" y="3017520"/>
            <a:ext cx="1554480" cy="1431290"/>
          </a:xfrm>
          <a:prstGeom prst="roundRect">
            <a:avLst>
              <a:gd name="adj" fmla="val 7692"/>
            </a:avLst>
          </a:prstGeom>
          <a:solidFill>
            <a:schemeClr val="bg1"/>
          </a:solidFill>
          <a:ln w="15875">
            <a:solidFill>
              <a:schemeClr val="accent5"/>
            </a:solidFill>
            <a:prstDash val="dash"/>
          </a:ln>
        </p:spPr>
      </p:sp>
      <p:pic>
        <p:nvPicPr>
          <p:cNvPr id="37" name="Image 8" descr="Trino"/>
          <p:cNvPicPr>
            <a:picLocks noChangeAspect="1"/>
          </p:cNvPicPr>
          <p:nvPr/>
        </p:nvPicPr>
        <p:blipFill>
          <a:blip r:embed="rId9"/>
          <a:stretch>
            <a:fillRect/>
          </a:stretch>
        </p:blipFill>
        <p:spPr>
          <a:xfrm>
            <a:off x="10287000" y="3154680"/>
            <a:ext cx="329184" cy="329184"/>
          </a:xfrm>
          <a:prstGeom prst="rect">
            <a:avLst/>
          </a:prstGeom>
        </p:spPr>
      </p:pic>
      <p:sp>
        <p:nvSpPr>
          <p:cNvPr id="38" name="Text 26"/>
          <p:cNvSpPr txBox="1"/>
          <p:nvPr/>
        </p:nvSpPr>
        <p:spPr>
          <a:xfrm>
            <a:off x="10287000" y="3566160"/>
            <a:ext cx="1280160" cy="274320"/>
          </a:xfrm>
          <a:prstGeom prst="rect">
            <a:avLst/>
          </a:prstGeom>
          <a:noFill/>
        </p:spPr>
        <p:txBody>
          <a:bodyPr wrap="square" lIns="0" tIns="0" rIns="0" bIns="0" rtlCol="0" anchor="t"/>
          <a:lstStyle/>
          <a:p>
            <a:pPr marL="0" indent="0">
              <a:buNone/>
            </a:pPr>
            <a:r>
              <a:rPr lang="en-US" sz="1400" b="1" dirty="0">
                <a:solidFill>
                  <a:schemeClr val="tx1"/>
                </a:solidFill>
              </a:rPr>
              <a:t>Trino</a:t>
            </a:r>
            <a:endParaRPr lang="en-US" sz="1400" dirty="0"/>
          </a:p>
        </p:txBody>
      </p:sp>
      <p:sp>
        <p:nvSpPr>
          <p:cNvPr id="39" name="Text 27"/>
          <p:cNvSpPr txBox="1"/>
          <p:nvPr/>
        </p:nvSpPr>
        <p:spPr>
          <a:xfrm>
            <a:off x="10287000" y="3858768"/>
            <a:ext cx="1280160" cy="274320"/>
          </a:xfrm>
          <a:prstGeom prst="rect">
            <a:avLst/>
          </a:prstGeom>
          <a:noFill/>
        </p:spPr>
        <p:txBody>
          <a:bodyPr wrap="square" lIns="0" tIns="0" rIns="0" bIns="0" rtlCol="0" anchor="t"/>
          <a:lstStyle/>
          <a:p>
            <a:pPr marL="0" indent="0">
              <a:buNone/>
            </a:pPr>
            <a:r>
              <a:rPr lang="en-US" sz="1100" dirty="0">
                <a:solidFill>
                  <a:schemeClr val="tx2"/>
                </a:solidFill>
              </a:rPr>
              <a:t>distributed SQL serving</a:t>
            </a:r>
            <a:endParaRPr lang="en-US" sz="1100" dirty="0"/>
          </a:p>
        </p:txBody>
      </p:sp>
      <p:sp>
        <p:nvSpPr>
          <p:cNvPr id="40" name="Shape 28"/>
          <p:cNvSpPr/>
          <p:nvPr/>
        </p:nvSpPr>
        <p:spPr>
          <a:xfrm>
            <a:off x="2103120" y="2811780"/>
            <a:ext cx="365760" cy="0"/>
          </a:xfrm>
          <a:prstGeom prst="line">
            <a:avLst/>
          </a:prstGeom>
          <a:noFill/>
          <a:ln w="19050">
            <a:solidFill>
              <a:schemeClr val="accent5"/>
            </a:solidFill>
            <a:prstDash val="solid"/>
            <a:tailEnd type="triangle"/>
          </a:ln>
        </p:spPr>
      </p:sp>
      <p:sp>
        <p:nvSpPr>
          <p:cNvPr id="41" name="Shape 29"/>
          <p:cNvSpPr/>
          <p:nvPr/>
        </p:nvSpPr>
        <p:spPr>
          <a:xfrm>
            <a:off x="4023360" y="2011680"/>
            <a:ext cx="365760" cy="0"/>
          </a:xfrm>
          <a:prstGeom prst="line">
            <a:avLst/>
          </a:prstGeom>
          <a:noFill/>
          <a:ln w="19050">
            <a:solidFill>
              <a:schemeClr val="accent5"/>
            </a:solidFill>
            <a:prstDash val="solid"/>
            <a:tailEnd type="triangle"/>
          </a:ln>
        </p:spPr>
      </p:sp>
      <p:sp>
        <p:nvSpPr>
          <p:cNvPr id="42" name="Shape 30"/>
          <p:cNvSpPr/>
          <p:nvPr/>
        </p:nvSpPr>
        <p:spPr>
          <a:xfrm>
            <a:off x="4023360" y="3611880"/>
            <a:ext cx="365760" cy="0"/>
          </a:xfrm>
          <a:prstGeom prst="line">
            <a:avLst/>
          </a:prstGeom>
          <a:noFill/>
          <a:ln w="19050">
            <a:solidFill>
              <a:schemeClr val="accent5"/>
            </a:solidFill>
            <a:prstDash val="solid"/>
            <a:tailEnd type="triangle"/>
          </a:ln>
        </p:spPr>
      </p:sp>
      <p:sp>
        <p:nvSpPr>
          <p:cNvPr id="43" name="Shape 31"/>
          <p:cNvSpPr/>
          <p:nvPr/>
        </p:nvSpPr>
        <p:spPr>
          <a:xfrm>
            <a:off x="5943600" y="2011680"/>
            <a:ext cx="365760" cy="0"/>
          </a:xfrm>
          <a:prstGeom prst="line">
            <a:avLst/>
          </a:prstGeom>
          <a:noFill/>
          <a:ln w="19050">
            <a:solidFill>
              <a:schemeClr val="accent5"/>
            </a:solidFill>
            <a:prstDash val="solid"/>
            <a:tailEnd type="triangle"/>
          </a:ln>
        </p:spPr>
      </p:sp>
      <p:sp>
        <p:nvSpPr>
          <p:cNvPr id="44" name="Shape 32"/>
          <p:cNvSpPr/>
          <p:nvPr/>
        </p:nvSpPr>
        <p:spPr>
          <a:xfrm>
            <a:off x="5943600" y="3611880"/>
            <a:ext cx="365760" cy="0"/>
          </a:xfrm>
          <a:prstGeom prst="line">
            <a:avLst/>
          </a:prstGeom>
          <a:noFill/>
          <a:ln w="19050">
            <a:solidFill>
              <a:schemeClr val="accent5"/>
            </a:solidFill>
            <a:prstDash val="solid"/>
            <a:tailEnd type="triangle"/>
          </a:ln>
        </p:spPr>
      </p:sp>
      <p:sp>
        <p:nvSpPr>
          <p:cNvPr id="45" name="Shape 33"/>
          <p:cNvSpPr/>
          <p:nvPr/>
        </p:nvSpPr>
        <p:spPr>
          <a:xfrm>
            <a:off x="7863840" y="2011680"/>
            <a:ext cx="365760" cy="0"/>
          </a:xfrm>
          <a:prstGeom prst="line">
            <a:avLst/>
          </a:prstGeom>
          <a:noFill/>
          <a:ln w="19050">
            <a:solidFill>
              <a:schemeClr val="accent5"/>
            </a:solidFill>
            <a:prstDash val="solid"/>
            <a:tailEnd type="triangle"/>
          </a:ln>
        </p:spPr>
      </p:sp>
      <p:sp>
        <p:nvSpPr>
          <p:cNvPr id="46" name="Shape 34"/>
          <p:cNvSpPr/>
          <p:nvPr/>
        </p:nvSpPr>
        <p:spPr>
          <a:xfrm>
            <a:off x="9784080" y="2011680"/>
            <a:ext cx="365760" cy="0"/>
          </a:xfrm>
          <a:prstGeom prst="line">
            <a:avLst/>
          </a:prstGeom>
          <a:noFill/>
          <a:ln w="19050">
            <a:solidFill>
              <a:schemeClr val="accent5"/>
            </a:solidFill>
            <a:prstDash val="solid"/>
            <a:tailEnd type="triangle"/>
          </a:ln>
        </p:spPr>
      </p:sp>
      <p:sp>
        <p:nvSpPr>
          <p:cNvPr id="47" name="Shape 35"/>
          <p:cNvSpPr/>
          <p:nvPr/>
        </p:nvSpPr>
        <p:spPr>
          <a:xfrm>
            <a:off x="9006840" y="2606040"/>
            <a:ext cx="0" cy="411480"/>
          </a:xfrm>
          <a:prstGeom prst="line">
            <a:avLst/>
          </a:prstGeom>
          <a:noFill/>
          <a:ln w="19050">
            <a:solidFill>
              <a:schemeClr val="accent5"/>
            </a:solidFill>
            <a:prstDash val="solid"/>
            <a:tailEnd type="triangle"/>
          </a:ln>
        </p:spPr>
      </p:sp>
      <p:sp>
        <p:nvSpPr>
          <p:cNvPr id="48" name="Shape 36"/>
          <p:cNvSpPr/>
          <p:nvPr/>
        </p:nvSpPr>
        <p:spPr>
          <a:xfrm>
            <a:off x="10927080" y="2606040"/>
            <a:ext cx="0" cy="411480"/>
          </a:xfrm>
          <a:prstGeom prst="line">
            <a:avLst/>
          </a:prstGeom>
          <a:noFill/>
          <a:ln w="19050">
            <a:solidFill>
              <a:schemeClr val="accent5"/>
            </a:solidFill>
            <a:prstDash val="solid"/>
            <a:tailEnd type="triangle"/>
          </a:ln>
        </p:spPr>
      </p:sp>
      <p:sp>
        <p:nvSpPr>
          <p:cNvPr id="49" name="Apache Airflow — schedules and orchestrates every stage"/>
          <p:cNvSpPr/>
          <p:nvPr/>
        </p:nvSpPr>
        <p:spPr>
          <a:xfrm>
            <a:off x="548640" y="4960620"/>
            <a:ext cx="7315200" cy="548640"/>
          </a:xfrm>
          <a:prstGeom prst="roundRect">
            <a:avLst>
              <a:gd name="adj" fmla="val 16667"/>
            </a:avLst>
          </a:prstGeom>
          <a:solidFill>
            <a:schemeClr val="bg1"/>
          </a:solidFill>
          <a:ln w="15875">
            <a:solidFill>
              <a:schemeClr val="accent5"/>
            </a:solidFill>
            <a:prstDash val="dash"/>
          </a:ln>
        </p:spPr>
      </p:sp>
      <p:sp>
        <p:nvSpPr>
          <p:cNvPr id="50" name="Text 38"/>
          <p:cNvSpPr txBox="1"/>
          <p:nvPr/>
        </p:nvSpPr>
        <p:spPr>
          <a:xfrm>
            <a:off x="1143000" y="4960620"/>
            <a:ext cx="6583680" cy="548640"/>
          </a:xfrm>
          <a:prstGeom prst="rect">
            <a:avLst/>
          </a:prstGeom>
          <a:noFill/>
        </p:spPr>
        <p:txBody>
          <a:bodyPr wrap="square" lIns="0" tIns="0" rIns="0" bIns="0" rtlCol="0" anchor="ctr"/>
          <a:lstStyle/>
          <a:p>
            <a:pPr marL="0" indent="0">
              <a:buNone/>
            </a:pPr>
            <a:r>
              <a:rPr lang="en-US" sz="1300" b="1" dirty="0">
                <a:solidFill>
                  <a:schemeClr val="tx1"/>
                </a:solidFill>
              </a:rPr>
              <a:t>Apache Airflow — schedules and orchestrates every stage</a:t>
            </a:r>
            <a:endParaRPr lang="en-US" sz="1300" dirty="0"/>
          </a:p>
        </p:txBody>
      </p:sp>
      <p:sp>
        <p:nvSpPr>
          <p:cNvPr id="51" name="OpenMetadata — catalog &amp; lineage"/>
          <p:cNvSpPr/>
          <p:nvPr/>
        </p:nvSpPr>
        <p:spPr>
          <a:xfrm>
            <a:off x="8229600" y="4960620"/>
            <a:ext cx="3474720" cy="548640"/>
          </a:xfrm>
          <a:prstGeom prst="roundRect">
            <a:avLst>
              <a:gd name="adj" fmla="val 16667"/>
            </a:avLst>
          </a:prstGeom>
          <a:solidFill>
            <a:schemeClr val="bg1"/>
          </a:solidFill>
          <a:ln w="15875">
            <a:solidFill>
              <a:schemeClr val="accent5"/>
            </a:solidFill>
            <a:prstDash val="dash"/>
          </a:ln>
        </p:spPr>
      </p:sp>
      <p:sp>
        <p:nvSpPr>
          <p:cNvPr id="52" name="Text 40"/>
          <p:cNvSpPr txBox="1"/>
          <p:nvPr/>
        </p:nvSpPr>
        <p:spPr>
          <a:xfrm>
            <a:off x="8823960" y="4960620"/>
            <a:ext cx="2743200" cy="548640"/>
          </a:xfrm>
          <a:prstGeom prst="rect">
            <a:avLst/>
          </a:prstGeom>
          <a:noFill/>
        </p:spPr>
        <p:txBody>
          <a:bodyPr wrap="square" lIns="0" tIns="0" rIns="0" bIns="0" rtlCol="0" anchor="ctr"/>
          <a:lstStyle/>
          <a:p>
            <a:pPr marL="0" indent="0">
              <a:buNone/>
            </a:pPr>
            <a:r>
              <a:rPr lang="en-US" sz="1300" b="1" dirty="0">
                <a:solidFill>
                  <a:schemeClr val="tx1"/>
                </a:solidFill>
              </a:rPr>
              <a:t>OpenMetadata — catalog &amp; lineage</a:t>
            </a:r>
            <a:endParaRPr lang="en-US" sz="1300" dirty="0"/>
          </a:p>
        </p:txBody>
      </p:sp>
      <p:sp>
        <p:nvSpPr>
          <p:cNvPr id="53" name="Shape 41"/>
          <p:cNvSpPr/>
          <p:nvPr/>
        </p:nvSpPr>
        <p:spPr>
          <a:xfrm>
            <a:off x="548640" y="5728716"/>
            <a:ext cx="329184" cy="201168"/>
          </a:xfrm>
          <a:prstGeom prst="roundRect">
            <a:avLst>
              <a:gd name="adj" fmla="val 22727"/>
            </a:avLst>
          </a:prstGeom>
          <a:solidFill>
            <a:schemeClr val="accent1">
              <a:alpha val="12000"/>
            </a:schemeClr>
          </a:solidFill>
          <a:ln w="15875">
            <a:solidFill>
              <a:schemeClr val="accent1"/>
            </a:solidFill>
            <a:prstDash val="solid"/>
          </a:ln>
        </p:spPr>
      </p:sp>
      <p:sp>
        <p:nvSpPr>
          <p:cNvPr id="54" name="Text 42"/>
          <p:cNvSpPr txBox="1"/>
          <p:nvPr/>
        </p:nvSpPr>
        <p:spPr>
          <a:xfrm>
            <a:off x="969264" y="5692140"/>
            <a:ext cx="2560320" cy="274320"/>
          </a:xfrm>
          <a:prstGeom prst="rect">
            <a:avLst/>
          </a:prstGeom>
          <a:noFill/>
        </p:spPr>
        <p:txBody>
          <a:bodyPr wrap="square" lIns="0" tIns="0" rIns="0" bIns="0" rtlCol="0" anchor="ctr"/>
          <a:lstStyle/>
          <a:p>
            <a:pPr marL="0" indent="0">
              <a:buNone/>
            </a:pPr>
            <a:r>
              <a:rPr lang="en-US" sz="1100" dirty="0">
                <a:solidFill>
                  <a:schemeClr val="tx2"/>
                </a:solidFill>
              </a:rPr>
              <a:t>Running / done</a:t>
            </a:r>
            <a:endParaRPr lang="en-US" sz="1100" dirty="0"/>
          </a:p>
        </p:txBody>
      </p:sp>
      <p:sp>
        <p:nvSpPr>
          <p:cNvPr id="55" name="Shape 43"/>
          <p:cNvSpPr/>
          <p:nvPr/>
        </p:nvSpPr>
        <p:spPr>
          <a:xfrm>
            <a:off x="2386584" y="5728716"/>
            <a:ext cx="329184" cy="201168"/>
          </a:xfrm>
          <a:prstGeom prst="roundRect">
            <a:avLst>
              <a:gd name="adj" fmla="val 22727"/>
            </a:avLst>
          </a:prstGeom>
          <a:solidFill>
            <a:schemeClr val="accent2">
              <a:alpha val="18000"/>
            </a:schemeClr>
          </a:solidFill>
          <a:ln w="15875">
            <a:solidFill>
              <a:schemeClr val="accent2"/>
            </a:solidFill>
            <a:prstDash val="solid"/>
          </a:ln>
        </p:spPr>
      </p:sp>
      <p:sp>
        <p:nvSpPr>
          <p:cNvPr id="56" name="Text 44"/>
          <p:cNvSpPr txBox="1"/>
          <p:nvPr/>
        </p:nvSpPr>
        <p:spPr>
          <a:xfrm>
            <a:off x="2807208" y="5692140"/>
            <a:ext cx="2560320" cy="274320"/>
          </a:xfrm>
          <a:prstGeom prst="rect">
            <a:avLst/>
          </a:prstGeom>
          <a:noFill/>
        </p:spPr>
        <p:txBody>
          <a:bodyPr wrap="square" lIns="0" tIns="0" rIns="0" bIns="0" rtlCol="0" anchor="ctr"/>
          <a:lstStyle/>
          <a:p>
            <a:pPr marL="0" indent="0">
              <a:buNone/>
            </a:pPr>
            <a:r>
              <a:rPr lang="en-US" sz="1100" dirty="0">
                <a:solidFill>
                  <a:schemeClr val="tx2"/>
                </a:solidFill>
              </a:rPr>
              <a:t>Code written or tested locally</a:t>
            </a:r>
            <a:endParaRPr lang="en-US" sz="1100" dirty="0"/>
          </a:p>
        </p:txBody>
      </p:sp>
      <p:sp>
        <p:nvSpPr>
          <p:cNvPr id="57" name="Shape 45"/>
          <p:cNvSpPr/>
          <p:nvPr/>
        </p:nvSpPr>
        <p:spPr>
          <a:xfrm>
            <a:off x="5321808" y="5728716"/>
            <a:ext cx="329184" cy="201168"/>
          </a:xfrm>
          <a:prstGeom prst="roundRect">
            <a:avLst>
              <a:gd name="adj" fmla="val 22727"/>
            </a:avLst>
          </a:prstGeom>
          <a:solidFill>
            <a:schemeClr val="bg1"/>
          </a:solidFill>
          <a:ln w="15875">
            <a:solidFill>
              <a:schemeClr val="accent5"/>
            </a:solidFill>
            <a:prstDash val="dash"/>
          </a:ln>
        </p:spPr>
      </p:sp>
      <p:sp>
        <p:nvSpPr>
          <p:cNvPr id="58" name="Text 46"/>
          <p:cNvSpPr txBox="1"/>
          <p:nvPr/>
        </p:nvSpPr>
        <p:spPr>
          <a:xfrm>
            <a:off x="5742432" y="5692140"/>
            <a:ext cx="2560320" cy="274320"/>
          </a:xfrm>
          <a:prstGeom prst="rect">
            <a:avLst/>
          </a:prstGeom>
          <a:noFill/>
        </p:spPr>
        <p:txBody>
          <a:bodyPr wrap="square" lIns="0" tIns="0" rIns="0" bIns="0" rtlCol="0" anchor="ctr"/>
          <a:lstStyle/>
          <a:p>
            <a:pPr marL="0" indent="0">
              <a:buNone/>
            </a:pPr>
            <a:r>
              <a:rPr lang="en-US" sz="1100" dirty="0">
                <a:solidFill>
                  <a:schemeClr val="tx2"/>
                </a:solidFill>
              </a:rPr>
              <a:t>Planned</a:t>
            </a:r>
            <a:endParaRPr lang="en-US" sz="1100" dirty="0"/>
          </a:p>
        </p:txBody>
      </p:sp>
      <p:pic>
        <p:nvPicPr>
          <p:cNvPr id="59" name="Image 9" descr="Band icon"/>
          <p:cNvPicPr>
            <a:picLocks noChangeAspect="1"/>
          </p:cNvPicPr>
          <p:nvPr/>
        </p:nvPicPr>
        <p:blipFill>
          <a:blip r:embed="rId10"/>
          <a:stretch>
            <a:fillRect/>
          </a:stretch>
        </p:blipFill>
        <p:spPr>
          <a:xfrm>
            <a:off x="685800" y="5070348"/>
            <a:ext cx="329184" cy="329184"/>
          </a:xfrm>
          <a:prstGeom prst="rect">
            <a:avLst/>
          </a:prstGeom>
        </p:spPr>
      </p:pic>
      <p:pic>
        <p:nvPicPr>
          <p:cNvPr id="60" name="Image 10" descr="Band icon"/>
          <p:cNvPicPr>
            <a:picLocks noChangeAspect="1"/>
          </p:cNvPicPr>
          <p:nvPr/>
        </p:nvPicPr>
        <p:blipFill>
          <a:blip r:embed="rId11"/>
          <a:stretch>
            <a:fillRect/>
          </a:stretch>
        </p:blipFill>
        <p:spPr>
          <a:xfrm>
            <a:off x="8366760" y="5070348"/>
            <a:ext cx="329184" cy="329184"/>
          </a:xfrm>
          <a:prstGeom prst="rect">
            <a:avLst/>
          </a:prstGeom>
        </p:spPr>
      </p:pic>
      <p:sp>
        <p:nvSpPr>
          <p:cNvPr id="3" name="Slide Number Placeholder 0"/>
          <p:cNvSpPr>
            <a:spLocks noGrp="1"/>
          </p:cNvSpPr>
          <p:nvPr>
            <p:ph type="sldNum" sz="quarter" idx="4294967295"/>
          </p:nvPr>
        </p:nvSpPr>
        <p:spPr>
          <a:xfrm>
            <a:off x="11155680" y="6355080"/>
            <a:ext cx="457200" cy="274320"/>
          </a:xfrm>
          <a:prstGeom prst="rect">
            <a:avLst/>
          </a:prstGeom>
        </p:spPr>
        <p:txBody>
          <a:bodyPr/>
          <a:lstStyle>
            <a:lvl1pPr>
              <a:defRPr sz="1000">
                <a:solidFill>
                  <a:schemeClr val="accent5"/>
                </a:solidFill>
              </a:defRPr>
            </a:lvl1pPr>
          </a:lstStyle>
          <a:p>
            <a:pPr algn="r"/>
            <a:fld id="{F7021451-1387-4CA6-816F-3879F97B5CBC}" type="slidenum">
              <a:rPr lang="en-US" b="0"/>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0" hasCustomPrompt="1"/>
          </p:nvPr>
        </p:nvSpPr>
        <p:spPr>
          <a:xfrm>
            <a:off x="548640" y="320040"/>
            <a:ext cx="11064240" cy="777240"/>
          </a:xfrm>
          <a:prstGeom prst="rect">
            <a:avLst/>
          </a:prstGeom>
          <a:noFill/>
        </p:spPr>
        <p:txBody>
          <a:bodyPr wrap="square" lIns="0" tIns="0" rIns="0" bIns="0" rtlCol="0" anchor="ctr"/>
          <a:lstStyle/>
          <a:p>
            <a:pPr marL="0" indent="0" algn="l">
              <a:buNone/>
            </a:pPr>
            <a:r>
              <a:rPr lang="en-US" sz="3200" b="1" dirty="0">
                <a:solidFill>
                  <a:schemeClr val="tx1"/>
                </a:solidFill>
              </a:rPr>
              <a:t>Storage follows three Medallion zones on MinIO</a:t>
            </a:r>
            <a:endParaRPr lang="en-US" sz="3200" dirty="0"/>
          </a:p>
        </p:txBody>
      </p:sp>
      <p:sp>
        <p:nvSpPr>
          <p:cNvPr id="4" name="raw-zone card"/>
          <p:cNvSpPr/>
          <p:nvPr/>
        </p:nvSpPr>
        <p:spPr>
          <a:xfrm>
            <a:off x="548640" y="1371600"/>
            <a:ext cx="3291840" cy="4206240"/>
          </a:xfrm>
          <a:prstGeom prst="roundRect">
            <a:avLst>
              <a:gd name="adj" fmla="val 3333"/>
            </a:avLst>
          </a:prstGeom>
          <a:solidFill>
            <a:schemeClr val="bg2"/>
          </a:solidFill>
          <a:effectLst>
            <a:outerShdw blurRad="76200" dist="25400" dir="5400000" algn="bl" rotWithShape="0">
              <a:srgbClr val="000000">
                <a:alpha val="12000"/>
              </a:srgbClr>
            </a:outerShdw>
          </a:effectLst>
        </p:spPr>
      </p:sp>
      <p:sp>
        <p:nvSpPr>
          <p:cNvPr id="5" name="raw-zone icon"/>
          <p:cNvSpPr/>
          <p:nvPr/>
        </p:nvSpPr>
        <p:spPr>
          <a:xfrm>
            <a:off x="777240" y="1600200"/>
            <a:ext cx="594360" cy="594360"/>
          </a:xfrm>
          <a:prstGeom prst="ellipse">
            <a:avLst/>
          </a:prstGeom>
          <a:solidFill>
            <a:schemeClr val="tx1"/>
          </a:solidFill>
        </p:spPr>
      </p:sp>
      <p:pic>
        <p:nvPicPr>
          <p:cNvPr id="6" name="Image 0" descr="raw-zone icon"/>
          <p:cNvPicPr>
            <a:picLocks noChangeAspect="1"/>
          </p:cNvPicPr>
          <p:nvPr/>
        </p:nvPicPr>
        <p:blipFill>
          <a:blip r:embed="rId1"/>
          <a:stretch>
            <a:fillRect/>
          </a:stretch>
        </p:blipFill>
        <p:spPr>
          <a:xfrm>
            <a:off x="925830" y="1748790"/>
            <a:ext cx="297180" cy="297180"/>
          </a:xfrm>
          <a:prstGeom prst="rect">
            <a:avLst/>
          </a:prstGeom>
        </p:spPr>
      </p:pic>
      <p:sp>
        <p:nvSpPr>
          <p:cNvPr id="7" name="Text 3"/>
          <p:cNvSpPr txBox="1"/>
          <p:nvPr/>
        </p:nvSpPr>
        <p:spPr>
          <a:xfrm>
            <a:off x="1508760" y="1572768"/>
            <a:ext cx="2103120" cy="320040"/>
          </a:xfrm>
          <a:prstGeom prst="rect">
            <a:avLst/>
          </a:prstGeom>
          <a:noFill/>
        </p:spPr>
        <p:txBody>
          <a:bodyPr wrap="square" lIns="0" tIns="0" rIns="0" bIns="0" rtlCol="0" anchor="t"/>
          <a:lstStyle/>
          <a:p>
            <a:pPr marL="0" indent="0">
              <a:buNone/>
            </a:pPr>
            <a:r>
              <a:rPr lang="en-US" sz="1300" dirty="0">
                <a:solidFill>
                  <a:schemeClr val="tx2"/>
                </a:solidFill>
              </a:rPr>
              <a:t>Bronze</a:t>
            </a:r>
            <a:endParaRPr lang="en-US" sz="1300" dirty="0"/>
          </a:p>
        </p:txBody>
      </p:sp>
      <p:sp>
        <p:nvSpPr>
          <p:cNvPr id="8" name="Text 4"/>
          <p:cNvSpPr txBox="1"/>
          <p:nvPr/>
        </p:nvSpPr>
        <p:spPr>
          <a:xfrm>
            <a:off x="1508760" y="1847088"/>
            <a:ext cx="2194560" cy="365760"/>
          </a:xfrm>
          <a:prstGeom prst="rect">
            <a:avLst/>
          </a:prstGeom>
          <a:noFill/>
        </p:spPr>
        <p:txBody>
          <a:bodyPr wrap="square" lIns="0" tIns="0" rIns="0" bIns="0" rtlCol="0" anchor="t"/>
          <a:lstStyle/>
          <a:p>
            <a:pPr marL="0" indent="0">
              <a:buNone/>
            </a:pPr>
            <a:r>
              <a:rPr lang="en-US" sz="1700" b="1" dirty="0">
                <a:solidFill>
                  <a:schemeClr val="tx1"/>
                </a:solidFill>
                <a:latin typeface="Courier New" panose="02070609020205020404" pitchFamily="34" charset="0"/>
                <a:ea typeface="Courier New" panose="02070609020205020404" pitchFamily="34" charset="-122"/>
                <a:cs typeface="Courier New" panose="02070609020205020404" pitchFamily="34" charset="-120"/>
              </a:rPr>
              <a:t>raw-zone</a:t>
            </a:r>
            <a:endParaRPr lang="en-US" sz="1700" dirty="0"/>
          </a:p>
        </p:txBody>
      </p:sp>
      <p:sp>
        <p:nvSpPr>
          <p:cNvPr id="9" name="Text 5"/>
          <p:cNvSpPr txBox="1"/>
          <p:nvPr/>
        </p:nvSpPr>
        <p:spPr>
          <a:xfrm>
            <a:off x="777240" y="2468880"/>
            <a:ext cx="2834640" cy="256032"/>
          </a:xfrm>
          <a:prstGeom prst="rect">
            <a:avLst/>
          </a:prstGeom>
          <a:noFill/>
        </p:spPr>
        <p:txBody>
          <a:bodyPr wrap="square" lIns="0" tIns="0" rIns="0" bIns="0" rtlCol="0" anchor="t"/>
          <a:lstStyle/>
          <a:p>
            <a:pPr marL="0" indent="0">
              <a:buNone/>
            </a:pPr>
            <a:r>
              <a:rPr lang="en-US" sz="1100" b="1" dirty="0">
                <a:solidFill>
                  <a:schemeClr val="accent3"/>
                </a:solidFill>
              </a:rPr>
              <a:t>Format</a:t>
            </a:r>
            <a:endParaRPr lang="en-US" sz="1100" dirty="0"/>
          </a:p>
        </p:txBody>
      </p:sp>
      <p:sp>
        <p:nvSpPr>
          <p:cNvPr id="10" name="Text 6"/>
          <p:cNvSpPr txBox="1"/>
          <p:nvPr/>
        </p:nvSpPr>
        <p:spPr>
          <a:xfrm>
            <a:off x="777240" y="2724912"/>
            <a:ext cx="2834640" cy="594360"/>
          </a:xfrm>
          <a:prstGeom prst="rect">
            <a:avLst/>
          </a:prstGeom>
          <a:noFill/>
        </p:spPr>
        <p:txBody>
          <a:bodyPr wrap="square" lIns="0" tIns="0" rIns="0" bIns="0" rtlCol="0" anchor="t"/>
          <a:lstStyle/>
          <a:p>
            <a:pPr marL="0" indent="0">
              <a:buNone/>
            </a:pPr>
            <a:r>
              <a:rPr lang="en-US" sz="1300" dirty="0">
                <a:solidFill>
                  <a:schemeClr val="tx1"/>
                </a:solidFill>
              </a:rPr>
              <a:t>Parquet / CSV as collected</a:t>
            </a:r>
            <a:endParaRPr lang="en-US" sz="1300" dirty="0"/>
          </a:p>
        </p:txBody>
      </p:sp>
      <p:sp>
        <p:nvSpPr>
          <p:cNvPr id="11" name="Text 7"/>
          <p:cNvSpPr txBox="1"/>
          <p:nvPr/>
        </p:nvSpPr>
        <p:spPr>
          <a:xfrm>
            <a:off x="777240" y="3337560"/>
            <a:ext cx="2834640" cy="256032"/>
          </a:xfrm>
          <a:prstGeom prst="rect">
            <a:avLst/>
          </a:prstGeom>
          <a:noFill/>
        </p:spPr>
        <p:txBody>
          <a:bodyPr wrap="square" lIns="0" tIns="0" rIns="0" bIns="0" rtlCol="0" anchor="t"/>
          <a:lstStyle/>
          <a:p>
            <a:pPr marL="0" indent="0">
              <a:buNone/>
            </a:pPr>
            <a:r>
              <a:rPr lang="en-US" sz="1100" b="1" dirty="0">
                <a:solidFill>
                  <a:schemeClr val="accent3"/>
                </a:solidFill>
              </a:rPr>
              <a:t>Access</a:t>
            </a:r>
            <a:endParaRPr lang="en-US" sz="1100" dirty="0"/>
          </a:p>
        </p:txBody>
      </p:sp>
      <p:sp>
        <p:nvSpPr>
          <p:cNvPr id="12" name="Text 8"/>
          <p:cNvSpPr txBox="1"/>
          <p:nvPr/>
        </p:nvSpPr>
        <p:spPr>
          <a:xfrm>
            <a:off x="777240" y="3593592"/>
            <a:ext cx="2834640" cy="594360"/>
          </a:xfrm>
          <a:prstGeom prst="rect">
            <a:avLst/>
          </a:prstGeom>
          <a:noFill/>
        </p:spPr>
        <p:txBody>
          <a:bodyPr wrap="square" lIns="0" tIns="0" rIns="0" bIns="0" rtlCol="0" anchor="t"/>
          <a:lstStyle/>
          <a:p>
            <a:pPr marL="0" indent="0">
              <a:buNone/>
            </a:pPr>
            <a:r>
              <a:rPr lang="en-US" sz="1300" dirty="0">
                <a:solidFill>
                  <a:schemeClr val="tx1"/>
                </a:solidFill>
              </a:rPr>
              <a:t>NiFi / loaders write · Spark reads</a:t>
            </a:r>
            <a:endParaRPr lang="en-US" sz="1300" dirty="0"/>
          </a:p>
        </p:txBody>
      </p:sp>
      <p:sp>
        <p:nvSpPr>
          <p:cNvPr id="13" name="Text 9"/>
          <p:cNvSpPr txBox="1"/>
          <p:nvPr/>
        </p:nvSpPr>
        <p:spPr>
          <a:xfrm>
            <a:off x="777240" y="4206240"/>
            <a:ext cx="2834640" cy="256032"/>
          </a:xfrm>
          <a:prstGeom prst="rect">
            <a:avLst/>
          </a:prstGeom>
          <a:noFill/>
        </p:spPr>
        <p:txBody>
          <a:bodyPr wrap="square" lIns="0" tIns="0" rIns="0" bIns="0" rtlCol="0" anchor="t"/>
          <a:lstStyle/>
          <a:p>
            <a:pPr marL="0" indent="0">
              <a:buNone/>
            </a:pPr>
            <a:r>
              <a:rPr lang="en-US" sz="1100" b="1" dirty="0">
                <a:solidFill>
                  <a:schemeClr val="accent3"/>
                </a:solidFill>
              </a:rPr>
              <a:t>Contents today</a:t>
            </a:r>
            <a:endParaRPr lang="en-US" sz="1100" dirty="0"/>
          </a:p>
        </p:txBody>
      </p:sp>
      <p:sp>
        <p:nvSpPr>
          <p:cNvPr id="14" name="Text 10"/>
          <p:cNvSpPr txBox="1"/>
          <p:nvPr/>
        </p:nvSpPr>
        <p:spPr>
          <a:xfrm>
            <a:off x="777240" y="4462272"/>
            <a:ext cx="2834640" cy="594360"/>
          </a:xfrm>
          <a:prstGeom prst="rect">
            <a:avLst/>
          </a:prstGeom>
          <a:noFill/>
        </p:spPr>
        <p:txBody>
          <a:bodyPr wrap="square" lIns="0" tIns="0" rIns="0" bIns="0" rtlCol="0" anchor="t"/>
          <a:lstStyle/>
          <a:p>
            <a:pPr marL="0" indent="0">
              <a:buNone/>
            </a:pPr>
            <a:r>
              <a:rPr lang="en-US" sz="1300" dirty="0">
                <a:solidFill>
                  <a:schemeClr val="tx1"/>
                </a:solidFill>
              </a:rPr>
              <a:t>stock_prices_daily.parquet, dim_symbol.csv</a:t>
            </a:r>
            <a:endParaRPr lang="en-US" sz="1300" dirty="0"/>
          </a:p>
        </p:txBody>
      </p:sp>
      <p:sp>
        <p:nvSpPr>
          <p:cNvPr id="15" name="Text 11"/>
          <p:cNvSpPr txBox="1"/>
          <p:nvPr/>
        </p:nvSpPr>
        <p:spPr>
          <a:xfrm>
            <a:off x="777240" y="5120640"/>
            <a:ext cx="1188720" cy="256032"/>
          </a:xfrm>
          <a:prstGeom prst="roundRect">
            <a:avLst>
              <a:gd name="adj" fmla="val 46429"/>
            </a:avLst>
          </a:prstGeom>
          <a:solidFill>
            <a:schemeClr val="accent1"/>
          </a:solidFill>
        </p:spPr>
        <p:txBody>
          <a:bodyPr wrap="square" lIns="0" tIns="0" rIns="0" bIns="0" rtlCol="0" anchor="ctr"/>
          <a:lstStyle/>
          <a:p>
            <a:pPr marL="0" indent="0" algn="ctr">
              <a:buNone/>
            </a:pPr>
            <a:r>
              <a:rPr lang="en-US" sz="1000" b="1" kern="0" spc="100" dirty="0">
                <a:solidFill>
                  <a:schemeClr val="bg1"/>
                </a:solidFill>
              </a:rPr>
              <a:t>RUNNING</a:t>
            </a:r>
            <a:endParaRPr lang="en-US" sz="1000" dirty="0"/>
          </a:p>
        </p:txBody>
      </p:sp>
      <p:sp>
        <p:nvSpPr>
          <p:cNvPr id="16" name="Shape 12"/>
          <p:cNvSpPr/>
          <p:nvPr/>
        </p:nvSpPr>
        <p:spPr>
          <a:xfrm>
            <a:off x="3913632" y="3474720"/>
            <a:ext cx="338328" cy="0"/>
          </a:xfrm>
          <a:prstGeom prst="line">
            <a:avLst/>
          </a:prstGeom>
          <a:noFill/>
          <a:ln w="19050">
            <a:solidFill>
              <a:schemeClr val="accent5"/>
            </a:solidFill>
            <a:prstDash val="solid"/>
            <a:tailEnd type="triangle"/>
          </a:ln>
        </p:spPr>
      </p:sp>
      <p:sp>
        <p:nvSpPr>
          <p:cNvPr id="17" name="cleansed-zone card"/>
          <p:cNvSpPr/>
          <p:nvPr/>
        </p:nvSpPr>
        <p:spPr>
          <a:xfrm>
            <a:off x="4320540" y="1371600"/>
            <a:ext cx="3291840" cy="4206240"/>
          </a:xfrm>
          <a:prstGeom prst="roundRect">
            <a:avLst>
              <a:gd name="adj" fmla="val 3333"/>
            </a:avLst>
          </a:prstGeom>
          <a:solidFill>
            <a:schemeClr val="bg2"/>
          </a:solidFill>
          <a:effectLst>
            <a:outerShdw blurRad="76200" dist="25400" dir="5400000" algn="bl" rotWithShape="0">
              <a:srgbClr val="000000">
                <a:alpha val="12000"/>
              </a:srgbClr>
            </a:outerShdw>
          </a:effectLst>
        </p:spPr>
      </p:sp>
      <p:sp>
        <p:nvSpPr>
          <p:cNvPr id="18" name="cleansed-zone icon"/>
          <p:cNvSpPr/>
          <p:nvPr/>
        </p:nvSpPr>
        <p:spPr>
          <a:xfrm>
            <a:off x="4549140" y="1600200"/>
            <a:ext cx="594360" cy="594360"/>
          </a:xfrm>
          <a:prstGeom prst="ellipse">
            <a:avLst/>
          </a:prstGeom>
          <a:solidFill>
            <a:schemeClr val="tx1"/>
          </a:solidFill>
        </p:spPr>
      </p:sp>
      <p:pic>
        <p:nvPicPr>
          <p:cNvPr id="19" name="Image 1" descr="cleansed-zone icon"/>
          <p:cNvPicPr>
            <a:picLocks noChangeAspect="1"/>
          </p:cNvPicPr>
          <p:nvPr/>
        </p:nvPicPr>
        <p:blipFill>
          <a:blip r:embed="rId2"/>
          <a:stretch>
            <a:fillRect/>
          </a:stretch>
        </p:blipFill>
        <p:spPr>
          <a:xfrm>
            <a:off x="4697730" y="1748790"/>
            <a:ext cx="297180" cy="297180"/>
          </a:xfrm>
          <a:prstGeom prst="rect">
            <a:avLst/>
          </a:prstGeom>
        </p:spPr>
      </p:pic>
      <p:sp>
        <p:nvSpPr>
          <p:cNvPr id="20" name="Text 15"/>
          <p:cNvSpPr txBox="1"/>
          <p:nvPr/>
        </p:nvSpPr>
        <p:spPr>
          <a:xfrm>
            <a:off x="5280660" y="1572768"/>
            <a:ext cx="2103120" cy="320040"/>
          </a:xfrm>
          <a:prstGeom prst="rect">
            <a:avLst/>
          </a:prstGeom>
          <a:noFill/>
        </p:spPr>
        <p:txBody>
          <a:bodyPr wrap="square" lIns="0" tIns="0" rIns="0" bIns="0" rtlCol="0" anchor="t"/>
          <a:lstStyle/>
          <a:p>
            <a:pPr marL="0" indent="0">
              <a:buNone/>
            </a:pPr>
            <a:r>
              <a:rPr lang="en-US" sz="1300" dirty="0">
                <a:solidFill>
                  <a:schemeClr val="tx2"/>
                </a:solidFill>
              </a:rPr>
              <a:t>Silver</a:t>
            </a:r>
            <a:endParaRPr lang="en-US" sz="1300" dirty="0"/>
          </a:p>
        </p:txBody>
      </p:sp>
      <p:sp>
        <p:nvSpPr>
          <p:cNvPr id="21" name="Text 16"/>
          <p:cNvSpPr txBox="1"/>
          <p:nvPr/>
        </p:nvSpPr>
        <p:spPr>
          <a:xfrm>
            <a:off x="5280660" y="1847088"/>
            <a:ext cx="2194560" cy="365760"/>
          </a:xfrm>
          <a:prstGeom prst="rect">
            <a:avLst/>
          </a:prstGeom>
          <a:noFill/>
        </p:spPr>
        <p:txBody>
          <a:bodyPr wrap="square" lIns="0" tIns="0" rIns="0" bIns="0" rtlCol="0" anchor="t"/>
          <a:lstStyle/>
          <a:p>
            <a:pPr marL="0" indent="0">
              <a:buNone/>
            </a:pPr>
            <a:r>
              <a:rPr lang="en-US" sz="1700" b="1" dirty="0">
                <a:solidFill>
                  <a:schemeClr val="tx1"/>
                </a:solidFill>
                <a:latin typeface="Courier New" panose="02070609020205020404" pitchFamily="34" charset="0"/>
                <a:ea typeface="Courier New" panose="02070609020205020404" pitchFamily="34" charset="-122"/>
                <a:cs typeface="Courier New" panose="02070609020205020404" pitchFamily="34" charset="-120"/>
              </a:rPr>
              <a:t>cleansed-zone</a:t>
            </a:r>
            <a:endParaRPr lang="en-US" sz="1700" dirty="0"/>
          </a:p>
        </p:txBody>
      </p:sp>
      <p:sp>
        <p:nvSpPr>
          <p:cNvPr id="22" name="Text 17"/>
          <p:cNvSpPr txBox="1"/>
          <p:nvPr/>
        </p:nvSpPr>
        <p:spPr>
          <a:xfrm>
            <a:off x="4549140" y="2468880"/>
            <a:ext cx="2834640" cy="256032"/>
          </a:xfrm>
          <a:prstGeom prst="rect">
            <a:avLst/>
          </a:prstGeom>
          <a:noFill/>
        </p:spPr>
        <p:txBody>
          <a:bodyPr wrap="square" lIns="0" tIns="0" rIns="0" bIns="0" rtlCol="0" anchor="t"/>
          <a:lstStyle/>
          <a:p>
            <a:pPr marL="0" indent="0">
              <a:buNone/>
            </a:pPr>
            <a:r>
              <a:rPr lang="en-US" sz="1100" b="1" dirty="0">
                <a:solidFill>
                  <a:schemeClr val="accent3"/>
                </a:solidFill>
              </a:rPr>
              <a:t>Format</a:t>
            </a:r>
            <a:endParaRPr lang="en-US" sz="1100" dirty="0"/>
          </a:p>
        </p:txBody>
      </p:sp>
      <p:sp>
        <p:nvSpPr>
          <p:cNvPr id="23" name="Text 18"/>
          <p:cNvSpPr txBox="1"/>
          <p:nvPr/>
        </p:nvSpPr>
        <p:spPr>
          <a:xfrm>
            <a:off x="4549140" y="2724912"/>
            <a:ext cx="2834640" cy="594360"/>
          </a:xfrm>
          <a:prstGeom prst="rect">
            <a:avLst/>
          </a:prstGeom>
          <a:noFill/>
        </p:spPr>
        <p:txBody>
          <a:bodyPr wrap="square" lIns="0" tIns="0" rIns="0" bIns="0" rtlCol="0" anchor="t"/>
          <a:lstStyle/>
          <a:p>
            <a:pPr marL="0" indent="0">
              <a:buNone/>
            </a:pPr>
            <a:r>
              <a:rPr lang="en-US" sz="1300" dirty="0">
                <a:solidFill>
                  <a:schemeClr val="tx1"/>
                </a:solidFill>
              </a:rPr>
              <a:t>Iceberg (ACID, snapshots)</a:t>
            </a:r>
            <a:endParaRPr lang="en-US" sz="1300" dirty="0"/>
          </a:p>
        </p:txBody>
      </p:sp>
      <p:sp>
        <p:nvSpPr>
          <p:cNvPr id="24" name="Text 19"/>
          <p:cNvSpPr txBox="1"/>
          <p:nvPr/>
        </p:nvSpPr>
        <p:spPr>
          <a:xfrm>
            <a:off x="4549140" y="3337560"/>
            <a:ext cx="2834640" cy="256032"/>
          </a:xfrm>
          <a:prstGeom prst="rect">
            <a:avLst/>
          </a:prstGeom>
          <a:noFill/>
        </p:spPr>
        <p:txBody>
          <a:bodyPr wrap="square" lIns="0" tIns="0" rIns="0" bIns="0" rtlCol="0" anchor="t"/>
          <a:lstStyle/>
          <a:p>
            <a:pPr marL="0" indent="0">
              <a:buNone/>
            </a:pPr>
            <a:r>
              <a:rPr lang="en-US" sz="1100" b="1" dirty="0">
                <a:solidFill>
                  <a:schemeClr val="accent3"/>
                </a:solidFill>
              </a:rPr>
              <a:t>Access</a:t>
            </a:r>
            <a:endParaRPr lang="en-US" sz="1100" dirty="0"/>
          </a:p>
        </p:txBody>
      </p:sp>
      <p:sp>
        <p:nvSpPr>
          <p:cNvPr id="25" name="Text 20"/>
          <p:cNvSpPr txBox="1"/>
          <p:nvPr/>
        </p:nvSpPr>
        <p:spPr>
          <a:xfrm>
            <a:off x="4549140" y="3593592"/>
            <a:ext cx="2834640" cy="594360"/>
          </a:xfrm>
          <a:prstGeom prst="rect">
            <a:avLst/>
          </a:prstGeom>
          <a:noFill/>
        </p:spPr>
        <p:txBody>
          <a:bodyPr wrap="square" lIns="0" tIns="0" rIns="0" bIns="0" rtlCol="0" anchor="t"/>
          <a:lstStyle/>
          <a:p>
            <a:pPr marL="0" indent="0">
              <a:buNone/>
            </a:pPr>
            <a:r>
              <a:rPr lang="en-US" sz="1300" dirty="0">
                <a:solidFill>
                  <a:schemeClr val="tx1"/>
                </a:solidFill>
              </a:rPr>
              <a:t>Spark writes · Trino &amp; Spark read</a:t>
            </a:r>
            <a:endParaRPr lang="en-US" sz="1300" dirty="0"/>
          </a:p>
        </p:txBody>
      </p:sp>
      <p:sp>
        <p:nvSpPr>
          <p:cNvPr id="26" name="Text 21"/>
          <p:cNvSpPr txBox="1"/>
          <p:nvPr/>
        </p:nvSpPr>
        <p:spPr>
          <a:xfrm>
            <a:off x="4549140" y="4206240"/>
            <a:ext cx="2834640" cy="256032"/>
          </a:xfrm>
          <a:prstGeom prst="rect">
            <a:avLst/>
          </a:prstGeom>
          <a:noFill/>
        </p:spPr>
        <p:txBody>
          <a:bodyPr wrap="square" lIns="0" tIns="0" rIns="0" bIns="0" rtlCol="0" anchor="t"/>
          <a:lstStyle/>
          <a:p>
            <a:pPr marL="0" indent="0">
              <a:buNone/>
            </a:pPr>
            <a:r>
              <a:rPr lang="en-US" sz="1100" b="1" dirty="0">
                <a:solidFill>
                  <a:schemeClr val="accent3"/>
                </a:solidFill>
              </a:rPr>
              <a:t>Contents today</a:t>
            </a:r>
            <a:endParaRPr lang="en-US" sz="1100" dirty="0"/>
          </a:p>
        </p:txBody>
      </p:sp>
      <p:sp>
        <p:nvSpPr>
          <p:cNvPr id="27" name="Text 22"/>
          <p:cNvSpPr txBox="1"/>
          <p:nvPr/>
        </p:nvSpPr>
        <p:spPr>
          <a:xfrm>
            <a:off x="4549140" y="4462272"/>
            <a:ext cx="2834640" cy="594360"/>
          </a:xfrm>
          <a:prstGeom prst="rect">
            <a:avLst/>
          </a:prstGeom>
          <a:noFill/>
        </p:spPr>
        <p:txBody>
          <a:bodyPr wrap="square" lIns="0" tIns="0" rIns="0" bIns="0" rtlCol="0" anchor="t"/>
          <a:lstStyle/>
          <a:p>
            <a:pPr marL="0" indent="0">
              <a:buNone/>
            </a:pPr>
            <a:r>
              <a:rPr lang="en-US" sz="1300" dirty="0">
                <a:solidFill>
                  <a:schemeClr val="tx1"/>
                </a:solidFill>
              </a:rPr>
              <a:t>iceberg.stock.stock_prices_daily, partitioned by years(trade_date)</a:t>
            </a:r>
            <a:endParaRPr lang="en-US" sz="1300" dirty="0"/>
          </a:p>
        </p:txBody>
      </p:sp>
      <p:sp>
        <p:nvSpPr>
          <p:cNvPr id="28" name="Text 23"/>
          <p:cNvSpPr txBox="1"/>
          <p:nvPr/>
        </p:nvSpPr>
        <p:spPr>
          <a:xfrm>
            <a:off x="4549140" y="5120640"/>
            <a:ext cx="1463040" cy="256032"/>
          </a:xfrm>
          <a:prstGeom prst="roundRect">
            <a:avLst>
              <a:gd name="adj" fmla="val 46429"/>
            </a:avLst>
          </a:prstGeom>
          <a:solidFill>
            <a:schemeClr val="accent2"/>
          </a:solidFill>
        </p:spPr>
        <p:txBody>
          <a:bodyPr wrap="square" lIns="0" tIns="0" rIns="0" bIns="0" rtlCol="0" anchor="ctr"/>
          <a:lstStyle/>
          <a:p>
            <a:pPr marL="0" indent="0" algn="ctr">
              <a:buNone/>
            </a:pPr>
            <a:r>
              <a:rPr lang="en-US" sz="1000" b="1" kern="0" spc="100" dirty="0">
                <a:solidFill>
                  <a:schemeClr val="tx1"/>
                </a:solidFill>
              </a:rPr>
              <a:t>TESTED LOCALLY</a:t>
            </a:r>
            <a:endParaRPr lang="en-US" sz="1000" dirty="0"/>
          </a:p>
        </p:txBody>
      </p:sp>
      <p:sp>
        <p:nvSpPr>
          <p:cNvPr id="29" name="Shape 24"/>
          <p:cNvSpPr/>
          <p:nvPr/>
        </p:nvSpPr>
        <p:spPr>
          <a:xfrm>
            <a:off x="7685532" y="3474720"/>
            <a:ext cx="338328" cy="0"/>
          </a:xfrm>
          <a:prstGeom prst="line">
            <a:avLst/>
          </a:prstGeom>
          <a:noFill/>
          <a:ln w="19050">
            <a:solidFill>
              <a:schemeClr val="accent5"/>
            </a:solidFill>
            <a:prstDash val="solid"/>
            <a:tailEnd type="triangle"/>
          </a:ln>
        </p:spPr>
      </p:sp>
      <p:sp>
        <p:nvSpPr>
          <p:cNvPr id="30" name="curated-zone card"/>
          <p:cNvSpPr/>
          <p:nvPr/>
        </p:nvSpPr>
        <p:spPr>
          <a:xfrm>
            <a:off x="8092440" y="1371600"/>
            <a:ext cx="3291840" cy="4206240"/>
          </a:xfrm>
          <a:prstGeom prst="roundRect">
            <a:avLst>
              <a:gd name="adj" fmla="val 3333"/>
            </a:avLst>
          </a:prstGeom>
          <a:solidFill>
            <a:schemeClr val="bg2"/>
          </a:solidFill>
          <a:effectLst>
            <a:outerShdw blurRad="76200" dist="25400" dir="5400000" algn="bl" rotWithShape="0">
              <a:srgbClr val="000000">
                <a:alpha val="12000"/>
              </a:srgbClr>
            </a:outerShdw>
          </a:effectLst>
        </p:spPr>
      </p:sp>
      <p:sp>
        <p:nvSpPr>
          <p:cNvPr id="31" name="curated-zone icon"/>
          <p:cNvSpPr/>
          <p:nvPr/>
        </p:nvSpPr>
        <p:spPr>
          <a:xfrm>
            <a:off x="8321040" y="1600200"/>
            <a:ext cx="594360" cy="594360"/>
          </a:xfrm>
          <a:prstGeom prst="ellipse">
            <a:avLst/>
          </a:prstGeom>
          <a:solidFill>
            <a:schemeClr val="tx1"/>
          </a:solidFill>
        </p:spPr>
      </p:sp>
      <p:pic>
        <p:nvPicPr>
          <p:cNvPr id="32" name="Image 2" descr="curated-zone icon"/>
          <p:cNvPicPr>
            <a:picLocks noChangeAspect="1"/>
          </p:cNvPicPr>
          <p:nvPr/>
        </p:nvPicPr>
        <p:blipFill>
          <a:blip r:embed="rId3"/>
          <a:stretch>
            <a:fillRect/>
          </a:stretch>
        </p:blipFill>
        <p:spPr>
          <a:xfrm>
            <a:off x="8469630" y="1748790"/>
            <a:ext cx="297180" cy="297180"/>
          </a:xfrm>
          <a:prstGeom prst="rect">
            <a:avLst/>
          </a:prstGeom>
        </p:spPr>
      </p:pic>
      <p:sp>
        <p:nvSpPr>
          <p:cNvPr id="33" name="Text 27"/>
          <p:cNvSpPr txBox="1"/>
          <p:nvPr/>
        </p:nvSpPr>
        <p:spPr>
          <a:xfrm>
            <a:off x="9052560" y="1572768"/>
            <a:ext cx="2103120" cy="320040"/>
          </a:xfrm>
          <a:prstGeom prst="rect">
            <a:avLst/>
          </a:prstGeom>
          <a:noFill/>
        </p:spPr>
        <p:txBody>
          <a:bodyPr wrap="square" lIns="0" tIns="0" rIns="0" bIns="0" rtlCol="0" anchor="t"/>
          <a:lstStyle/>
          <a:p>
            <a:pPr marL="0" indent="0">
              <a:buNone/>
            </a:pPr>
            <a:r>
              <a:rPr lang="en-US" sz="1300" dirty="0">
                <a:solidFill>
                  <a:schemeClr val="tx2"/>
                </a:solidFill>
              </a:rPr>
              <a:t>Gold</a:t>
            </a:r>
            <a:endParaRPr lang="en-US" sz="1300" dirty="0"/>
          </a:p>
        </p:txBody>
      </p:sp>
      <p:sp>
        <p:nvSpPr>
          <p:cNvPr id="34" name="Text 28"/>
          <p:cNvSpPr txBox="1"/>
          <p:nvPr/>
        </p:nvSpPr>
        <p:spPr>
          <a:xfrm>
            <a:off x="9052560" y="1847088"/>
            <a:ext cx="2194560" cy="365760"/>
          </a:xfrm>
          <a:prstGeom prst="rect">
            <a:avLst/>
          </a:prstGeom>
          <a:noFill/>
        </p:spPr>
        <p:txBody>
          <a:bodyPr wrap="square" lIns="0" tIns="0" rIns="0" bIns="0" rtlCol="0" anchor="t"/>
          <a:lstStyle/>
          <a:p>
            <a:pPr marL="0" indent="0">
              <a:buNone/>
            </a:pPr>
            <a:r>
              <a:rPr lang="en-US" sz="1700" b="1" dirty="0">
                <a:solidFill>
                  <a:schemeClr val="tx1"/>
                </a:solidFill>
                <a:latin typeface="Courier New" panose="02070609020205020404" pitchFamily="34" charset="0"/>
                <a:ea typeface="Courier New" panose="02070609020205020404" pitchFamily="34" charset="-122"/>
                <a:cs typeface="Courier New" panose="02070609020205020404" pitchFamily="34" charset="-120"/>
              </a:rPr>
              <a:t>curated-zone</a:t>
            </a:r>
            <a:endParaRPr lang="en-US" sz="1700" dirty="0"/>
          </a:p>
        </p:txBody>
      </p:sp>
      <p:sp>
        <p:nvSpPr>
          <p:cNvPr id="35" name="Text 29"/>
          <p:cNvSpPr txBox="1"/>
          <p:nvPr/>
        </p:nvSpPr>
        <p:spPr>
          <a:xfrm>
            <a:off x="8321040" y="2468880"/>
            <a:ext cx="2834640" cy="256032"/>
          </a:xfrm>
          <a:prstGeom prst="rect">
            <a:avLst/>
          </a:prstGeom>
          <a:noFill/>
        </p:spPr>
        <p:txBody>
          <a:bodyPr wrap="square" lIns="0" tIns="0" rIns="0" bIns="0" rtlCol="0" anchor="t"/>
          <a:lstStyle/>
          <a:p>
            <a:pPr marL="0" indent="0">
              <a:buNone/>
            </a:pPr>
            <a:r>
              <a:rPr lang="en-US" sz="1100" b="1" dirty="0">
                <a:solidFill>
                  <a:schemeClr val="accent3"/>
                </a:solidFill>
              </a:rPr>
              <a:t>Format</a:t>
            </a:r>
            <a:endParaRPr lang="en-US" sz="1100" dirty="0"/>
          </a:p>
        </p:txBody>
      </p:sp>
      <p:sp>
        <p:nvSpPr>
          <p:cNvPr id="36" name="Text 30"/>
          <p:cNvSpPr txBox="1"/>
          <p:nvPr/>
        </p:nvSpPr>
        <p:spPr>
          <a:xfrm>
            <a:off x="8321040" y="2724912"/>
            <a:ext cx="2834640" cy="594360"/>
          </a:xfrm>
          <a:prstGeom prst="rect">
            <a:avLst/>
          </a:prstGeom>
          <a:noFill/>
        </p:spPr>
        <p:txBody>
          <a:bodyPr wrap="square" lIns="0" tIns="0" rIns="0" bIns="0" rtlCol="0" anchor="t"/>
          <a:lstStyle/>
          <a:p>
            <a:pPr marL="0" indent="0">
              <a:buNone/>
            </a:pPr>
            <a:r>
              <a:rPr lang="en-US" sz="1300" dirty="0">
                <a:solidFill>
                  <a:schemeClr val="tx1"/>
                </a:solidFill>
              </a:rPr>
              <a:t>Iceberg, aggregated</a:t>
            </a:r>
            <a:endParaRPr lang="en-US" sz="1300" dirty="0"/>
          </a:p>
        </p:txBody>
      </p:sp>
      <p:sp>
        <p:nvSpPr>
          <p:cNvPr id="37" name="Text 31"/>
          <p:cNvSpPr txBox="1"/>
          <p:nvPr/>
        </p:nvSpPr>
        <p:spPr>
          <a:xfrm>
            <a:off x="8321040" y="3337560"/>
            <a:ext cx="2834640" cy="256032"/>
          </a:xfrm>
          <a:prstGeom prst="rect">
            <a:avLst/>
          </a:prstGeom>
          <a:noFill/>
        </p:spPr>
        <p:txBody>
          <a:bodyPr wrap="square" lIns="0" tIns="0" rIns="0" bIns="0" rtlCol="0" anchor="t"/>
          <a:lstStyle/>
          <a:p>
            <a:pPr marL="0" indent="0">
              <a:buNone/>
            </a:pPr>
            <a:r>
              <a:rPr lang="en-US" sz="1100" b="1" dirty="0">
                <a:solidFill>
                  <a:schemeClr val="accent3"/>
                </a:solidFill>
              </a:rPr>
              <a:t>Access</a:t>
            </a:r>
            <a:endParaRPr lang="en-US" sz="1100" dirty="0"/>
          </a:p>
        </p:txBody>
      </p:sp>
      <p:sp>
        <p:nvSpPr>
          <p:cNvPr id="38" name="Text 32"/>
          <p:cNvSpPr txBox="1"/>
          <p:nvPr/>
        </p:nvSpPr>
        <p:spPr>
          <a:xfrm>
            <a:off x="8321040" y="3593592"/>
            <a:ext cx="2834640" cy="594360"/>
          </a:xfrm>
          <a:prstGeom prst="rect">
            <a:avLst/>
          </a:prstGeom>
          <a:noFill/>
        </p:spPr>
        <p:txBody>
          <a:bodyPr wrap="square" lIns="0" tIns="0" rIns="0" bIns="0" rtlCol="0" anchor="t"/>
          <a:lstStyle/>
          <a:p>
            <a:pPr marL="0" indent="0">
              <a:buNone/>
            </a:pPr>
            <a:r>
              <a:rPr lang="en-US" sz="1300" dirty="0">
                <a:solidFill>
                  <a:schemeClr val="tx1"/>
                </a:solidFill>
              </a:rPr>
              <a:t>dbt (on Trino) writes · BI reads</a:t>
            </a:r>
            <a:endParaRPr lang="en-US" sz="1300" dirty="0"/>
          </a:p>
        </p:txBody>
      </p:sp>
      <p:sp>
        <p:nvSpPr>
          <p:cNvPr id="39" name="Text 33"/>
          <p:cNvSpPr txBox="1"/>
          <p:nvPr/>
        </p:nvSpPr>
        <p:spPr>
          <a:xfrm>
            <a:off x="8321040" y="4206240"/>
            <a:ext cx="2834640" cy="256032"/>
          </a:xfrm>
          <a:prstGeom prst="rect">
            <a:avLst/>
          </a:prstGeom>
          <a:noFill/>
        </p:spPr>
        <p:txBody>
          <a:bodyPr wrap="square" lIns="0" tIns="0" rIns="0" bIns="0" rtlCol="0" anchor="t"/>
          <a:lstStyle/>
          <a:p>
            <a:pPr marL="0" indent="0">
              <a:buNone/>
            </a:pPr>
            <a:r>
              <a:rPr lang="en-US" sz="1100" b="1" dirty="0">
                <a:solidFill>
                  <a:schemeClr val="accent3"/>
                </a:solidFill>
              </a:rPr>
              <a:t>Contents today</a:t>
            </a:r>
            <a:endParaRPr lang="en-US" sz="1100" dirty="0"/>
          </a:p>
        </p:txBody>
      </p:sp>
      <p:sp>
        <p:nvSpPr>
          <p:cNvPr id="40" name="Text 34"/>
          <p:cNvSpPr txBox="1"/>
          <p:nvPr/>
        </p:nvSpPr>
        <p:spPr>
          <a:xfrm>
            <a:off x="8321040" y="4462272"/>
            <a:ext cx="2834640" cy="594360"/>
          </a:xfrm>
          <a:prstGeom prst="rect">
            <a:avLst/>
          </a:prstGeom>
          <a:noFill/>
        </p:spPr>
        <p:txBody>
          <a:bodyPr wrap="square" lIns="0" tIns="0" rIns="0" bIns="0" rtlCol="0" anchor="t"/>
          <a:lstStyle/>
          <a:p>
            <a:pPr marL="0" indent="0">
              <a:buNone/>
            </a:pPr>
            <a:r>
              <a:rPr lang="en-US" sz="1300" dirty="0">
                <a:solidFill>
                  <a:schemeClr val="tx1"/>
                </a:solidFill>
              </a:rPr>
              <a:t>stg_stock_prices (daily_return) → mart_symbol_monthly</a:t>
            </a:r>
            <a:endParaRPr lang="en-US" sz="1300" dirty="0"/>
          </a:p>
        </p:txBody>
      </p:sp>
      <p:sp>
        <p:nvSpPr>
          <p:cNvPr id="41" name="Text 35"/>
          <p:cNvSpPr txBox="1"/>
          <p:nvPr/>
        </p:nvSpPr>
        <p:spPr>
          <a:xfrm>
            <a:off x="8321040" y="5120640"/>
            <a:ext cx="1188720" cy="256032"/>
          </a:xfrm>
          <a:prstGeom prst="roundRect">
            <a:avLst>
              <a:gd name="adj" fmla="val 46429"/>
            </a:avLst>
          </a:prstGeom>
          <a:solidFill>
            <a:schemeClr val="accent2"/>
          </a:solidFill>
        </p:spPr>
        <p:txBody>
          <a:bodyPr wrap="square" lIns="0" tIns="0" rIns="0" bIns="0" rtlCol="0" anchor="ctr"/>
          <a:lstStyle/>
          <a:p>
            <a:pPr marL="0" indent="0" algn="ctr">
              <a:buNone/>
            </a:pPr>
            <a:r>
              <a:rPr lang="en-US" sz="1000" b="1" kern="0" spc="100" dirty="0">
                <a:solidFill>
                  <a:schemeClr val="tx1"/>
                </a:solidFill>
              </a:rPr>
              <a:t>CODE READY</a:t>
            </a:r>
            <a:endParaRPr lang="en-US" sz="1000" dirty="0"/>
          </a:p>
        </p:txBody>
      </p:sp>
      <p:sp>
        <p:nvSpPr>
          <p:cNvPr id="42" name="Text 36"/>
          <p:cNvSpPr txBox="1"/>
          <p:nvPr/>
        </p:nvSpPr>
        <p:spPr>
          <a:xfrm>
            <a:off x="548640" y="5760720"/>
            <a:ext cx="11064240" cy="320040"/>
          </a:xfrm>
          <a:prstGeom prst="rect">
            <a:avLst/>
          </a:prstGeom>
          <a:noFill/>
        </p:spPr>
        <p:txBody>
          <a:bodyPr wrap="square" lIns="0" tIns="0" rIns="0" bIns="0" rtlCol="0" anchor="t"/>
          <a:lstStyle/>
          <a:p>
            <a:pPr marL="0" indent="0">
              <a:buNone/>
            </a:pPr>
            <a:r>
              <a:rPr lang="en-US" sz="1300" b="1" dirty="0">
                <a:solidFill>
                  <a:schemeClr val="tx2"/>
                </a:solidFill>
              </a:rPr>
              <a:t>Catalog: </a:t>
            </a:r>
            <a:r>
              <a:rPr lang="en-US" sz="1300" dirty="0">
                <a:solidFill>
                  <a:schemeClr val="tx2"/>
                </a:solidFill>
              </a:rPr>
              <a:t>Iceberg JDBC catalog in PostgreSQL  ·  warehouse s3a://cleansed-zone/warehouse</a:t>
            </a:r>
            <a:endParaRPr lang="en-US" sz="1300" dirty="0"/>
          </a:p>
        </p:txBody>
      </p:sp>
      <p:sp>
        <p:nvSpPr>
          <p:cNvPr id="3" name="Slide Number Placeholder 0"/>
          <p:cNvSpPr>
            <a:spLocks noGrp="1"/>
          </p:cNvSpPr>
          <p:nvPr>
            <p:ph type="sldNum" sz="quarter" idx="4294967295"/>
          </p:nvPr>
        </p:nvSpPr>
        <p:spPr>
          <a:xfrm>
            <a:off x="11155680" y="6355080"/>
            <a:ext cx="457200" cy="274320"/>
          </a:xfrm>
          <a:prstGeom prst="rect">
            <a:avLst/>
          </a:prstGeom>
        </p:spPr>
        <p:txBody>
          <a:bodyPr/>
          <a:lstStyle>
            <a:lvl1pPr>
              <a:defRPr sz="1000">
                <a:solidFill>
                  <a:schemeClr val="accent5"/>
                </a:solidFill>
              </a:defRPr>
            </a:lvl1pPr>
          </a:lstStyle>
          <a:p>
            <a:pPr algn="r"/>
            <a:fld id="{F7021451-1387-4CA6-816F-3879F97B5CBC}" type="slidenum">
              <a:rPr lang="en-US" b="0"/>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0" hasCustomPrompt="1"/>
          </p:nvPr>
        </p:nvSpPr>
        <p:spPr>
          <a:xfrm>
            <a:off x="548640" y="320040"/>
            <a:ext cx="11064240" cy="777240"/>
          </a:xfrm>
          <a:prstGeom prst="rect">
            <a:avLst/>
          </a:prstGeom>
          <a:noFill/>
        </p:spPr>
        <p:txBody>
          <a:bodyPr wrap="square" lIns="0" tIns="0" rIns="0" bIns="0" rtlCol="0" anchor="ctr"/>
          <a:lstStyle/>
          <a:p>
            <a:pPr marL="0" indent="0" algn="l">
              <a:buNone/>
            </a:pPr>
            <a:r>
              <a:rPr lang="en-US" sz="3200" b="1" dirty="0">
                <a:solidFill>
                  <a:schemeClr val="tx1"/>
                </a:solidFill>
              </a:rPr>
              <a:t>Deployed today on a 3-node Kubernetes cluster</a:t>
            </a:r>
            <a:endParaRPr lang="en-US" sz="3200" dirty="0"/>
          </a:p>
        </p:txBody>
      </p:sp>
      <p:sp>
        <p:nvSpPr>
          <p:cNvPr id="4" name="Cluster frame"/>
          <p:cNvSpPr/>
          <p:nvPr/>
        </p:nvSpPr>
        <p:spPr>
          <a:xfrm>
            <a:off x="548640" y="1371600"/>
            <a:ext cx="6400800" cy="4663440"/>
          </a:xfrm>
          <a:prstGeom prst="roundRect">
            <a:avLst>
              <a:gd name="adj" fmla="val 2353"/>
            </a:avLst>
          </a:prstGeom>
          <a:solidFill>
            <a:schemeClr val="bg1"/>
          </a:solidFill>
          <a:ln w="12700">
            <a:solidFill>
              <a:schemeClr val="accent5"/>
            </a:solidFill>
            <a:prstDash val="solid"/>
          </a:ln>
        </p:spPr>
      </p:sp>
      <p:sp>
        <p:nvSpPr>
          <p:cNvPr id="5" name="Kubernetes icon"/>
          <p:cNvSpPr/>
          <p:nvPr/>
        </p:nvSpPr>
        <p:spPr>
          <a:xfrm>
            <a:off x="777240" y="1554480"/>
            <a:ext cx="457200" cy="457200"/>
          </a:xfrm>
          <a:prstGeom prst="ellipse">
            <a:avLst/>
          </a:prstGeom>
          <a:solidFill>
            <a:schemeClr val="tx1"/>
          </a:solidFill>
        </p:spPr>
      </p:sp>
      <p:pic>
        <p:nvPicPr>
          <p:cNvPr id="6" name="Image 0" descr="Kubernetes icon"/>
          <p:cNvPicPr>
            <a:picLocks noChangeAspect="1"/>
          </p:cNvPicPr>
          <p:nvPr/>
        </p:nvPicPr>
        <p:blipFill>
          <a:blip r:embed="rId1"/>
          <a:stretch>
            <a:fillRect/>
          </a:stretch>
        </p:blipFill>
        <p:spPr>
          <a:xfrm>
            <a:off x="891540" y="1668780"/>
            <a:ext cx="228600" cy="228600"/>
          </a:xfrm>
          <a:prstGeom prst="rect">
            <a:avLst/>
          </a:prstGeom>
        </p:spPr>
      </p:pic>
      <p:sp>
        <p:nvSpPr>
          <p:cNvPr id="7" name="Text 3"/>
          <p:cNvSpPr txBox="1"/>
          <p:nvPr/>
        </p:nvSpPr>
        <p:spPr>
          <a:xfrm>
            <a:off x="1371600" y="1554480"/>
            <a:ext cx="5394960" cy="457200"/>
          </a:xfrm>
          <a:prstGeom prst="rect">
            <a:avLst/>
          </a:prstGeom>
          <a:noFill/>
        </p:spPr>
        <p:txBody>
          <a:bodyPr wrap="square" lIns="0" tIns="0" rIns="0" bIns="0" rtlCol="0" anchor="ctr"/>
          <a:lstStyle/>
          <a:p>
            <a:pPr marL="0" indent="0">
              <a:buNone/>
            </a:pPr>
            <a:r>
              <a:rPr lang="en-US" sz="1600" b="1" dirty="0">
                <a:solidFill>
                  <a:schemeClr val="tx1"/>
                </a:solidFill>
              </a:rPr>
              <a:t>k3d cluster “lakehouse”</a:t>
            </a:r>
            <a:r>
              <a:rPr lang="en-US" sz="1600" dirty="0">
                <a:solidFill>
                  <a:schemeClr val="tx2"/>
                </a:solidFill>
              </a:rPr>
              <a:t>   k3s v1.30.14</a:t>
            </a:r>
            <a:endParaRPr lang="en-US" sz="1600" dirty="0"/>
          </a:p>
        </p:txBody>
      </p:sp>
      <p:sp>
        <p:nvSpPr>
          <p:cNvPr id="8" name="server-0"/>
          <p:cNvSpPr/>
          <p:nvPr/>
        </p:nvSpPr>
        <p:spPr>
          <a:xfrm>
            <a:off x="777240" y="2194560"/>
            <a:ext cx="1828800" cy="914400"/>
          </a:xfrm>
          <a:prstGeom prst="roundRect">
            <a:avLst>
              <a:gd name="adj" fmla="val 12000"/>
            </a:avLst>
          </a:prstGeom>
          <a:solidFill>
            <a:schemeClr val="tx1"/>
          </a:solidFill>
        </p:spPr>
      </p:sp>
      <p:sp>
        <p:nvSpPr>
          <p:cNvPr id="9" name="Text 5"/>
          <p:cNvSpPr txBox="1"/>
          <p:nvPr/>
        </p:nvSpPr>
        <p:spPr>
          <a:xfrm>
            <a:off x="914400" y="2286000"/>
            <a:ext cx="1554480" cy="320040"/>
          </a:xfrm>
          <a:prstGeom prst="rect">
            <a:avLst/>
          </a:prstGeom>
          <a:noFill/>
        </p:spPr>
        <p:txBody>
          <a:bodyPr wrap="square" lIns="0" tIns="0" rIns="0" bIns="0" rtlCol="0" anchor="t"/>
          <a:lstStyle/>
          <a:p>
            <a:pPr marL="0" indent="0">
              <a:buNone/>
            </a:pPr>
            <a:r>
              <a:rPr lang="en-US" sz="1400" b="1" dirty="0">
                <a:solidFill>
                  <a:schemeClr val="bg1"/>
                </a:solidFill>
                <a:latin typeface="Courier New" panose="02070609020205020404" pitchFamily="34" charset="0"/>
                <a:ea typeface="Courier New" panose="02070609020205020404" pitchFamily="34" charset="-122"/>
                <a:cs typeface="Courier New" panose="02070609020205020404" pitchFamily="34" charset="-120"/>
              </a:rPr>
              <a:t>server-0</a:t>
            </a:r>
            <a:endParaRPr lang="en-US" sz="1400" dirty="0"/>
          </a:p>
        </p:txBody>
      </p:sp>
      <p:sp>
        <p:nvSpPr>
          <p:cNvPr id="10" name="Text 6"/>
          <p:cNvSpPr txBox="1"/>
          <p:nvPr/>
        </p:nvSpPr>
        <p:spPr>
          <a:xfrm>
            <a:off x="914400" y="2606040"/>
            <a:ext cx="1600200" cy="411480"/>
          </a:xfrm>
          <a:prstGeom prst="rect">
            <a:avLst/>
          </a:prstGeom>
          <a:noFill/>
        </p:spPr>
        <p:txBody>
          <a:bodyPr wrap="square" lIns="0" tIns="0" rIns="0" bIns="0" rtlCol="0" anchor="t"/>
          <a:lstStyle/>
          <a:p>
            <a:pPr marL="0" indent="0">
              <a:buNone/>
            </a:pPr>
            <a:r>
              <a:rPr lang="en-US" sz="1100" dirty="0">
                <a:solidFill>
                  <a:schemeClr val="bg2"/>
                </a:solidFill>
              </a:rPr>
              <a:t>control plane + workloads</a:t>
            </a:r>
            <a:endParaRPr lang="en-US" sz="1100" dirty="0"/>
          </a:p>
        </p:txBody>
      </p:sp>
      <p:sp>
        <p:nvSpPr>
          <p:cNvPr id="11" name="agent-0"/>
          <p:cNvSpPr/>
          <p:nvPr/>
        </p:nvSpPr>
        <p:spPr>
          <a:xfrm>
            <a:off x="2788920" y="2194560"/>
            <a:ext cx="1828800" cy="914400"/>
          </a:xfrm>
          <a:prstGeom prst="roundRect">
            <a:avLst>
              <a:gd name="adj" fmla="val 12000"/>
            </a:avLst>
          </a:prstGeom>
          <a:solidFill>
            <a:schemeClr val="tx1"/>
          </a:solidFill>
        </p:spPr>
      </p:sp>
      <p:sp>
        <p:nvSpPr>
          <p:cNvPr id="12" name="Text 8"/>
          <p:cNvSpPr txBox="1"/>
          <p:nvPr/>
        </p:nvSpPr>
        <p:spPr>
          <a:xfrm>
            <a:off x="2926080" y="2286000"/>
            <a:ext cx="1554480" cy="320040"/>
          </a:xfrm>
          <a:prstGeom prst="rect">
            <a:avLst/>
          </a:prstGeom>
          <a:noFill/>
        </p:spPr>
        <p:txBody>
          <a:bodyPr wrap="square" lIns="0" tIns="0" rIns="0" bIns="0" rtlCol="0" anchor="t"/>
          <a:lstStyle/>
          <a:p>
            <a:pPr marL="0" indent="0">
              <a:buNone/>
            </a:pPr>
            <a:r>
              <a:rPr lang="en-US" sz="1400" b="1" dirty="0">
                <a:solidFill>
                  <a:schemeClr val="bg1"/>
                </a:solidFill>
                <a:latin typeface="Courier New" panose="02070609020205020404" pitchFamily="34" charset="0"/>
                <a:ea typeface="Courier New" panose="02070609020205020404" pitchFamily="34" charset="-122"/>
                <a:cs typeface="Courier New" panose="02070609020205020404" pitchFamily="34" charset="-120"/>
              </a:rPr>
              <a:t>agent-0</a:t>
            </a:r>
            <a:endParaRPr lang="en-US" sz="1400" dirty="0"/>
          </a:p>
        </p:txBody>
      </p:sp>
      <p:sp>
        <p:nvSpPr>
          <p:cNvPr id="13" name="Text 9"/>
          <p:cNvSpPr txBox="1"/>
          <p:nvPr/>
        </p:nvSpPr>
        <p:spPr>
          <a:xfrm>
            <a:off x="2926080" y="2606040"/>
            <a:ext cx="1600200" cy="411480"/>
          </a:xfrm>
          <a:prstGeom prst="rect">
            <a:avLst/>
          </a:prstGeom>
          <a:noFill/>
        </p:spPr>
        <p:txBody>
          <a:bodyPr wrap="square" lIns="0" tIns="0" rIns="0" bIns="0" rtlCol="0" anchor="t"/>
          <a:lstStyle/>
          <a:p>
            <a:pPr marL="0" indent="0">
              <a:buNone/>
            </a:pPr>
            <a:r>
              <a:rPr lang="en-US" sz="1100" dirty="0">
                <a:solidFill>
                  <a:schemeClr val="bg2"/>
                </a:solidFill>
              </a:rPr>
              <a:t>worker · PVC on host</a:t>
            </a:r>
            <a:endParaRPr lang="en-US" sz="1100" dirty="0"/>
          </a:p>
        </p:txBody>
      </p:sp>
      <p:sp>
        <p:nvSpPr>
          <p:cNvPr id="14" name="agent-1"/>
          <p:cNvSpPr/>
          <p:nvPr/>
        </p:nvSpPr>
        <p:spPr>
          <a:xfrm>
            <a:off x="4800600" y="2194560"/>
            <a:ext cx="1828800" cy="914400"/>
          </a:xfrm>
          <a:prstGeom prst="roundRect">
            <a:avLst>
              <a:gd name="adj" fmla="val 12000"/>
            </a:avLst>
          </a:prstGeom>
          <a:solidFill>
            <a:schemeClr val="tx1"/>
          </a:solidFill>
        </p:spPr>
      </p:sp>
      <p:sp>
        <p:nvSpPr>
          <p:cNvPr id="15" name="Text 11"/>
          <p:cNvSpPr txBox="1"/>
          <p:nvPr/>
        </p:nvSpPr>
        <p:spPr>
          <a:xfrm>
            <a:off x="4937760" y="2286000"/>
            <a:ext cx="1554480" cy="320040"/>
          </a:xfrm>
          <a:prstGeom prst="rect">
            <a:avLst/>
          </a:prstGeom>
          <a:noFill/>
        </p:spPr>
        <p:txBody>
          <a:bodyPr wrap="square" lIns="0" tIns="0" rIns="0" bIns="0" rtlCol="0" anchor="t"/>
          <a:lstStyle/>
          <a:p>
            <a:pPr marL="0" indent="0">
              <a:buNone/>
            </a:pPr>
            <a:r>
              <a:rPr lang="en-US" sz="1400" b="1" dirty="0">
                <a:solidFill>
                  <a:schemeClr val="bg1"/>
                </a:solidFill>
                <a:latin typeface="Courier New" panose="02070609020205020404" pitchFamily="34" charset="0"/>
                <a:ea typeface="Courier New" panose="02070609020205020404" pitchFamily="34" charset="-122"/>
                <a:cs typeface="Courier New" panose="02070609020205020404" pitchFamily="34" charset="-120"/>
              </a:rPr>
              <a:t>agent-1</a:t>
            </a:r>
            <a:endParaRPr lang="en-US" sz="1400" dirty="0"/>
          </a:p>
        </p:txBody>
      </p:sp>
      <p:sp>
        <p:nvSpPr>
          <p:cNvPr id="16" name="Text 12"/>
          <p:cNvSpPr txBox="1"/>
          <p:nvPr/>
        </p:nvSpPr>
        <p:spPr>
          <a:xfrm>
            <a:off x="4937760" y="2606040"/>
            <a:ext cx="1600200" cy="411480"/>
          </a:xfrm>
          <a:prstGeom prst="rect">
            <a:avLst/>
          </a:prstGeom>
          <a:noFill/>
        </p:spPr>
        <p:txBody>
          <a:bodyPr wrap="square" lIns="0" tIns="0" rIns="0" bIns="0" rtlCol="0" anchor="t"/>
          <a:lstStyle/>
          <a:p>
            <a:pPr marL="0" indent="0">
              <a:buNone/>
            </a:pPr>
            <a:r>
              <a:rPr lang="en-US" sz="1100" dirty="0">
                <a:solidFill>
                  <a:schemeClr val="bg2"/>
                </a:solidFill>
              </a:rPr>
              <a:t>worker · PVC on host</a:t>
            </a:r>
            <a:endParaRPr lang="en-US" sz="1100" dirty="0"/>
          </a:p>
        </p:txBody>
      </p:sp>
      <p:sp>
        <p:nvSpPr>
          <p:cNvPr id="17" name="Text 13"/>
          <p:cNvSpPr txBox="1"/>
          <p:nvPr/>
        </p:nvSpPr>
        <p:spPr>
          <a:xfrm>
            <a:off x="777240" y="3291840"/>
            <a:ext cx="5943600" cy="274320"/>
          </a:xfrm>
          <a:prstGeom prst="rect">
            <a:avLst/>
          </a:prstGeom>
          <a:noFill/>
        </p:spPr>
        <p:txBody>
          <a:bodyPr wrap="square" lIns="0" tIns="0" rIns="0" bIns="0" rtlCol="0" anchor="t"/>
          <a:lstStyle/>
          <a:p>
            <a:pPr marL="0" indent="0">
              <a:buNone/>
            </a:pPr>
            <a:r>
              <a:rPr lang="en-US" sz="1200" b="1" dirty="0">
                <a:solidFill>
                  <a:schemeClr val="tx2"/>
                </a:solidFill>
                <a:latin typeface="Courier New" panose="02070609020205020404" pitchFamily="34" charset="0"/>
                <a:ea typeface="Courier New" panose="02070609020205020404" pitchFamily="34" charset="-122"/>
                <a:cs typeface="Courier New" panose="02070609020205020404" pitchFamily="34" charset="-120"/>
              </a:rPr>
              <a:t>namespace lakehouse</a:t>
            </a:r>
            <a:endParaRPr lang="en-US" sz="1200" dirty="0"/>
          </a:p>
        </p:txBody>
      </p:sp>
      <p:sp>
        <p:nvSpPr>
          <p:cNvPr id="18" name="MinIO"/>
          <p:cNvSpPr/>
          <p:nvPr/>
        </p:nvSpPr>
        <p:spPr>
          <a:xfrm>
            <a:off x="777240" y="3611880"/>
            <a:ext cx="5943600" cy="658368"/>
          </a:xfrm>
          <a:prstGeom prst="roundRect">
            <a:avLst>
              <a:gd name="adj" fmla="val 16667"/>
            </a:avLst>
          </a:prstGeom>
          <a:solidFill>
            <a:schemeClr val="accent1">
              <a:alpha val="12000"/>
            </a:schemeClr>
          </a:solidFill>
        </p:spPr>
      </p:sp>
      <p:pic>
        <p:nvPicPr>
          <p:cNvPr id="19" name="Image 1" descr="MinIO"/>
          <p:cNvPicPr>
            <a:picLocks noChangeAspect="1"/>
          </p:cNvPicPr>
          <p:nvPr/>
        </p:nvPicPr>
        <p:blipFill>
          <a:blip r:embed="rId2"/>
          <a:stretch>
            <a:fillRect/>
          </a:stretch>
        </p:blipFill>
        <p:spPr>
          <a:xfrm>
            <a:off x="914400" y="3776472"/>
            <a:ext cx="329184" cy="329184"/>
          </a:xfrm>
          <a:prstGeom prst="rect">
            <a:avLst/>
          </a:prstGeom>
        </p:spPr>
      </p:pic>
      <p:sp>
        <p:nvSpPr>
          <p:cNvPr id="20" name="Text 15"/>
          <p:cNvSpPr txBox="1"/>
          <p:nvPr/>
        </p:nvSpPr>
        <p:spPr>
          <a:xfrm>
            <a:off x="1371600" y="3611880"/>
            <a:ext cx="1920240" cy="658368"/>
          </a:xfrm>
          <a:prstGeom prst="rect">
            <a:avLst/>
          </a:prstGeom>
          <a:noFill/>
        </p:spPr>
        <p:txBody>
          <a:bodyPr wrap="square" lIns="0" tIns="0" rIns="0" bIns="0" rtlCol="0" anchor="ctr"/>
          <a:lstStyle/>
          <a:p>
            <a:pPr marL="0" indent="0">
              <a:buNone/>
            </a:pPr>
            <a:r>
              <a:rPr lang="en-US" sz="1400" b="1" dirty="0">
                <a:solidFill>
                  <a:schemeClr val="tx1"/>
                </a:solidFill>
              </a:rPr>
              <a:t>MinIO</a:t>
            </a:r>
            <a:endParaRPr lang="en-US" sz="1400" dirty="0"/>
          </a:p>
        </p:txBody>
      </p:sp>
      <p:sp>
        <p:nvSpPr>
          <p:cNvPr id="21" name="Text 16"/>
          <p:cNvSpPr txBox="1"/>
          <p:nvPr/>
        </p:nvSpPr>
        <p:spPr>
          <a:xfrm>
            <a:off x="3291840" y="3611880"/>
            <a:ext cx="3337560" cy="658368"/>
          </a:xfrm>
          <a:prstGeom prst="rect">
            <a:avLst/>
          </a:prstGeom>
          <a:noFill/>
        </p:spPr>
        <p:txBody>
          <a:bodyPr wrap="square" lIns="0" tIns="0" rIns="0" bIns="0" rtlCol="0" anchor="ctr"/>
          <a:lstStyle/>
          <a:p>
            <a:pPr marL="0" indent="0">
              <a:buNone/>
            </a:pPr>
            <a:r>
              <a:rPr lang="en-US" sz="1200" dirty="0">
                <a:solidFill>
                  <a:schemeClr val="tx2"/>
                </a:solidFill>
              </a:rPr>
              <a:t>Deployment · PVC 10Gi · NodePort 30000 / 30090</a:t>
            </a:r>
            <a:endParaRPr lang="en-US" sz="1200" dirty="0"/>
          </a:p>
        </p:txBody>
      </p:sp>
      <p:sp>
        <p:nvSpPr>
          <p:cNvPr id="22" name="PostgreSQL 16"/>
          <p:cNvSpPr/>
          <p:nvPr/>
        </p:nvSpPr>
        <p:spPr>
          <a:xfrm>
            <a:off x="777240" y="4389120"/>
            <a:ext cx="5943600" cy="658368"/>
          </a:xfrm>
          <a:prstGeom prst="roundRect">
            <a:avLst>
              <a:gd name="adj" fmla="val 16667"/>
            </a:avLst>
          </a:prstGeom>
          <a:solidFill>
            <a:schemeClr val="accent1">
              <a:alpha val="12000"/>
            </a:schemeClr>
          </a:solidFill>
        </p:spPr>
      </p:sp>
      <p:pic>
        <p:nvPicPr>
          <p:cNvPr id="23" name="Image 2" descr="PostgreSQL 16"/>
          <p:cNvPicPr>
            <a:picLocks noChangeAspect="1"/>
          </p:cNvPicPr>
          <p:nvPr/>
        </p:nvPicPr>
        <p:blipFill>
          <a:blip r:embed="rId3"/>
          <a:stretch>
            <a:fillRect/>
          </a:stretch>
        </p:blipFill>
        <p:spPr>
          <a:xfrm>
            <a:off x="914400" y="4553712"/>
            <a:ext cx="329184" cy="329184"/>
          </a:xfrm>
          <a:prstGeom prst="rect">
            <a:avLst/>
          </a:prstGeom>
        </p:spPr>
      </p:pic>
      <p:sp>
        <p:nvSpPr>
          <p:cNvPr id="24" name="Text 18"/>
          <p:cNvSpPr txBox="1"/>
          <p:nvPr/>
        </p:nvSpPr>
        <p:spPr>
          <a:xfrm>
            <a:off x="1371600" y="4389120"/>
            <a:ext cx="1920240" cy="658368"/>
          </a:xfrm>
          <a:prstGeom prst="rect">
            <a:avLst/>
          </a:prstGeom>
          <a:noFill/>
        </p:spPr>
        <p:txBody>
          <a:bodyPr wrap="square" lIns="0" tIns="0" rIns="0" bIns="0" rtlCol="0" anchor="ctr"/>
          <a:lstStyle/>
          <a:p>
            <a:pPr marL="0" indent="0">
              <a:buNone/>
            </a:pPr>
            <a:r>
              <a:rPr lang="en-US" sz="1400" b="1" dirty="0">
                <a:solidFill>
                  <a:schemeClr val="tx1"/>
                </a:solidFill>
              </a:rPr>
              <a:t>PostgreSQL 16</a:t>
            </a:r>
            <a:endParaRPr lang="en-US" sz="1400" dirty="0"/>
          </a:p>
        </p:txBody>
      </p:sp>
      <p:sp>
        <p:nvSpPr>
          <p:cNvPr id="25" name="Text 19"/>
          <p:cNvSpPr txBox="1"/>
          <p:nvPr/>
        </p:nvSpPr>
        <p:spPr>
          <a:xfrm>
            <a:off x="3291840" y="4389120"/>
            <a:ext cx="3337560" cy="658368"/>
          </a:xfrm>
          <a:prstGeom prst="rect">
            <a:avLst/>
          </a:prstGeom>
          <a:noFill/>
        </p:spPr>
        <p:txBody>
          <a:bodyPr wrap="square" lIns="0" tIns="0" rIns="0" bIns="0" rtlCol="0" anchor="ctr"/>
          <a:lstStyle/>
          <a:p>
            <a:pPr marL="0" indent="0">
              <a:buNone/>
            </a:pPr>
            <a:r>
              <a:rPr lang="en-US" sz="1200" dirty="0">
                <a:solidFill>
                  <a:schemeClr val="tx2"/>
                </a:solidFill>
              </a:rPr>
              <a:t>Deployment · PVC 10Gi · NodePort 30432</a:t>
            </a:r>
            <a:endParaRPr lang="en-US" sz="1200" dirty="0"/>
          </a:p>
        </p:txBody>
      </p:sp>
      <p:sp>
        <p:nvSpPr>
          <p:cNvPr id="26" name="minio-init-buckets"/>
          <p:cNvSpPr/>
          <p:nvPr/>
        </p:nvSpPr>
        <p:spPr>
          <a:xfrm>
            <a:off x="777240" y="5166360"/>
            <a:ext cx="5943600" cy="658368"/>
          </a:xfrm>
          <a:prstGeom prst="roundRect">
            <a:avLst>
              <a:gd name="adj" fmla="val 16667"/>
            </a:avLst>
          </a:prstGeom>
          <a:solidFill>
            <a:schemeClr val="accent1">
              <a:alpha val="12000"/>
            </a:schemeClr>
          </a:solidFill>
        </p:spPr>
      </p:sp>
      <p:pic>
        <p:nvPicPr>
          <p:cNvPr id="27" name="Image 3" descr="minio-init-buckets"/>
          <p:cNvPicPr>
            <a:picLocks noChangeAspect="1"/>
          </p:cNvPicPr>
          <p:nvPr/>
        </p:nvPicPr>
        <p:blipFill>
          <a:blip r:embed="rId4"/>
          <a:stretch>
            <a:fillRect/>
          </a:stretch>
        </p:blipFill>
        <p:spPr>
          <a:xfrm>
            <a:off x="914400" y="5330952"/>
            <a:ext cx="329184" cy="329184"/>
          </a:xfrm>
          <a:prstGeom prst="rect">
            <a:avLst/>
          </a:prstGeom>
        </p:spPr>
      </p:pic>
      <p:sp>
        <p:nvSpPr>
          <p:cNvPr id="28" name="Text 21"/>
          <p:cNvSpPr txBox="1"/>
          <p:nvPr/>
        </p:nvSpPr>
        <p:spPr>
          <a:xfrm>
            <a:off x="1371600" y="5166360"/>
            <a:ext cx="1920240" cy="658368"/>
          </a:xfrm>
          <a:prstGeom prst="rect">
            <a:avLst/>
          </a:prstGeom>
          <a:noFill/>
        </p:spPr>
        <p:txBody>
          <a:bodyPr wrap="square" lIns="0" tIns="0" rIns="0" bIns="0" rtlCol="0" anchor="ctr"/>
          <a:lstStyle/>
          <a:p>
            <a:pPr marL="0" indent="0">
              <a:buNone/>
            </a:pPr>
            <a:r>
              <a:rPr lang="en-US" sz="1400" b="1" dirty="0">
                <a:solidFill>
                  <a:schemeClr val="tx1"/>
                </a:solidFill>
              </a:rPr>
              <a:t>minio-init-buckets</a:t>
            </a:r>
            <a:endParaRPr lang="en-US" sz="1400" dirty="0"/>
          </a:p>
        </p:txBody>
      </p:sp>
      <p:sp>
        <p:nvSpPr>
          <p:cNvPr id="29" name="Text 22"/>
          <p:cNvSpPr txBox="1"/>
          <p:nvPr/>
        </p:nvSpPr>
        <p:spPr>
          <a:xfrm>
            <a:off x="3291840" y="5166360"/>
            <a:ext cx="3337560" cy="658368"/>
          </a:xfrm>
          <a:prstGeom prst="rect">
            <a:avLst/>
          </a:prstGeom>
          <a:noFill/>
        </p:spPr>
        <p:txBody>
          <a:bodyPr wrap="square" lIns="0" tIns="0" rIns="0" bIns="0" rtlCol="0" anchor="ctr"/>
          <a:lstStyle/>
          <a:p>
            <a:pPr marL="0" indent="0">
              <a:buNone/>
            </a:pPr>
            <a:r>
              <a:rPr lang="en-US" sz="1200" dirty="0">
                <a:solidFill>
                  <a:schemeClr val="tx2"/>
                </a:solidFill>
              </a:rPr>
              <a:t>Job · creates raw / cleansed / curated buckets</a:t>
            </a:r>
            <a:endParaRPr lang="en-US" sz="1200" dirty="0"/>
          </a:p>
        </p:txBody>
      </p:sp>
      <p:sp>
        <p:nvSpPr>
          <p:cNvPr id="30" name="Text 23"/>
          <p:cNvSpPr txBox="1"/>
          <p:nvPr/>
        </p:nvSpPr>
        <p:spPr>
          <a:xfrm>
            <a:off x="7315200" y="1371600"/>
            <a:ext cx="4297680" cy="365760"/>
          </a:xfrm>
          <a:prstGeom prst="rect">
            <a:avLst/>
          </a:prstGeom>
          <a:noFill/>
        </p:spPr>
        <p:txBody>
          <a:bodyPr wrap="square" lIns="0" tIns="0" rIns="0" bIns="0" rtlCol="0" anchor="t"/>
          <a:lstStyle/>
          <a:p>
            <a:pPr marL="0" indent="0">
              <a:buNone/>
            </a:pPr>
            <a:r>
              <a:rPr lang="en-US" sz="1800" b="1" dirty="0">
                <a:solidFill>
                  <a:schemeClr val="tx1"/>
                </a:solidFill>
                <a:latin typeface="Arial" panose="020B0704020202020204" pitchFamily="34" charset="0"/>
                <a:ea typeface="Arial" panose="020B0704020202020204" pitchFamily="34" charset="-122"/>
                <a:cs typeface="Arial" panose="020B0704020202020204" pitchFamily="34" charset="-120"/>
              </a:rPr>
              <a:t>16 GB host → 11 GB for Docker</a:t>
            </a:r>
            <a:endParaRPr lang="en-US" sz="1800" dirty="0"/>
          </a:p>
        </p:txBody>
      </p:sp>
      <p:sp>
        <p:nvSpPr>
          <p:cNvPr id="31" name="Text 24"/>
          <p:cNvSpPr txBox="1"/>
          <p:nvPr/>
        </p:nvSpPr>
        <p:spPr>
          <a:xfrm>
            <a:off x="7315200" y="1783080"/>
            <a:ext cx="4297680" cy="548640"/>
          </a:xfrm>
          <a:prstGeom prst="rect">
            <a:avLst/>
          </a:prstGeom>
          <a:noFill/>
        </p:spPr>
        <p:txBody>
          <a:bodyPr wrap="square" lIns="0" tIns="0" rIns="0" bIns="0" rtlCol="0" anchor="t"/>
          <a:lstStyle/>
          <a:p>
            <a:pPr marL="0" indent="0">
              <a:buNone/>
            </a:pPr>
            <a:r>
              <a:rPr lang="en-US" sz="1400" dirty="0">
                <a:solidFill>
                  <a:schemeClr val="tx2"/>
                </a:solidFill>
              </a:rPr>
              <a:t>Not everything fits at once, so services run in two waves:</a:t>
            </a:r>
            <a:endParaRPr lang="en-US" sz="1400" dirty="0"/>
          </a:p>
        </p:txBody>
      </p:sp>
      <p:sp>
        <p:nvSpPr>
          <p:cNvPr id="32" name="Wave 1 · Ingest &amp; process"/>
          <p:cNvSpPr/>
          <p:nvPr/>
        </p:nvSpPr>
        <p:spPr>
          <a:xfrm>
            <a:off x="7315200" y="2514600"/>
            <a:ext cx="4297680" cy="1143000"/>
          </a:xfrm>
          <a:prstGeom prst="roundRect">
            <a:avLst>
              <a:gd name="adj" fmla="val 9600"/>
            </a:avLst>
          </a:prstGeom>
          <a:solidFill>
            <a:schemeClr val="bg2"/>
          </a:solidFill>
        </p:spPr>
      </p:sp>
      <p:sp>
        <p:nvSpPr>
          <p:cNvPr id="33" name="Text 26"/>
          <p:cNvSpPr txBox="1"/>
          <p:nvPr/>
        </p:nvSpPr>
        <p:spPr>
          <a:xfrm>
            <a:off x="7543800" y="2697480"/>
            <a:ext cx="3840480" cy="320040"/>
          </a:xfrm>
          <a:prstGeom prst="rect">
            <a:avLst/>
          </a:prstGeom>
          <a:noFill/>
        </p:spPr>
        <p:txBody>
          <a:bodyPr wrap="square" lIns="0" tIns="0" rIns="0" bIns="0" rtlCol="0" anchor="t"/>
          <a:lstStyle/>
          <a:p>
            <a:pPr marL="0" indent="0">
              <a:buNone/>
            </a:pPr>
            <a:r>
              <a:rPr lang="en-US" sz="1500" b="1" dirty="0">
                <a:solidFill>
                  <a:schemeClr val="tx1"/>
                </a:solidFill>
              </a:rPr>
              <a:t>Wave 1 · Ingest &amp; process</a:t>
            </a:r>
            <a:endParaRPr lang="en-US" sz="1500" dirty="0"/>
          </a:p>
        </p:txBody>
      </p:sp>
      <p:sp>
        <p:nvSpPr>
          <p:cNvPr id="34" name="Text 27"/>
          <p:cNvSpPr txBox="1"/>
          <p:nvPr/>
        </p:nvSpPr>
        <p:spPr>
          <a:xfrm>
            <a:off x="7543800" y="3063240"/>
            <a:ext cx="3840480" cy="502920"/>
          </a:xfrm>
          <a:prstGeom prst="rect">
            <a:avLst/>
          </a:prstGeom>
          <a:noFill/>
        </p:spPr>
        <p:txBody>
          <a:bodyPr wrap="square" lIns="0" tIns="0" rIns="0" bIns="0" rtlCol="0" anchor="t"/>
          <a:lstStyle/>
          <a:p>
            <a:pPr marL="0" indent="0">
              <a:buNone/>
            </a:pPr>
            <a:r>
              <a:rPr lang="en-US" sz="1300" dirty="0">
                <a:solidFill>
                  <a:schemeClr val="tx2"/>
                </a:solidFill>
              </a:rPr>
              <a:t>NiFi → MinIO / Kafka → Spark → Iceberg</a:t>
            </a:r>
            <a:endParaRPr lang="en-US" sz="1300" dirty="0"/>
          </a:p>
        </p:txBody>
      </p:sp>
      <p:sp>
        <p:nvSpPr>
          <p:cNvPr id="35" name="Wave 2 · Serve &amp; catalog"/>
          <p:cNvSpPr/>
          <p:nvPr/>
        </p:nvSpPr>
        <p:spPr>
          <a:xfrm>
            <a:off x="7315200" y="3886200"/>
            <a:ext cx="4297680" cy="1143000"/>
          </a:xfrm>
          <a:prstGeom prst="roundRect">
            <a:avLst>
              <a:gd name="adj" fmla="val 9600"/>
            </a:avLst>
          </a:prstGeom>
          <a:solidFill>
            <a:schemeClr val="bg2"/>
          </a:solidFill>
        </p:spPr>
      </p:sp>
      <p:sp>
        <p:nvSpPr>
          <p:cNvPr id="36" name="Text 29"/>
          <p:cNvSpPr txBox="1"/>
          <p:nvPr/>
        </p:nvSpPr>
        <p:spPr>
          <a:xfrm>
            <a:off x="7543800" y="4069080"/>
            <a:ext cx="3840480" cy="320040"/>
          </a:xfrm>
          <a:prstGeom prst="rect">
            <a:avLst/>
          </a:prstGeom>
          <a:noFill/>
        </p:spPr>
        <p:txBody>
          <a:bodyPr wrap="square" lIns="0" tIns="0" rIns="0" bIns="0" rtlCol="0" anchor="t"/>
          <a:lstStyle/>
          <a:p>
            <a:pPr marL="0" indent="0">
              <a:buNone/>
            </a:pPr>
            <a:r>
              <a:rPr lang="en-US" sz="1500" b="1" dirty="0">
                <a:solidFill>
                  <a:schemeClr val="tx1"/>
                </a:solidFill>
              </a:rPr>
              <a:t>Wave 2 · Serve &amp; catalog</a:t>
            </a:r>
            <a:endParaRPr lang="en-US" sz="1500" dirty="0"/>
          </a:p>
        </p:txBody>
      </p:sp>
      <p:sp>
        <p:nvSpPr>
          <p:cNvPr id="37" name="Text 30"/>
          <p:cNvSpPr txBox="1"/>
          <p:nvPr/>
        </p:nvSpPr>
        <p:spPr>
          <a:xfrm>
            <a:off x="7543800" y="4434840"/>
            <a:ext cx="3840480" cy="502920"/>
          </a:xfrm>
          <a:prstGeom prst="rect">
            <a:avLst/>
          </a:prstGeom>
          <a:noFill/>
        </p:spPr>
        <p:txBody>
          <a:bodyPr wrap="square" lIns="0" tIns="0" rIns="0" bIns="0" rtlCol="0" anchor="t"/>
          <a:lstStyle/>
          <a:p>
            <a:pPr marL="0" indent="0">
              <a:buNone/>
            </a:pPr>
            <a:r>
              <a:rPr lang="en-US" sz="1300" dirty="0">
                <a:solidFill>
                  <a:schemeClr val="tx2"/>
                </a:solidFill>
              </a:rPr>
              <a:t>Trino queries · OpenSearch, then OpenMetadata</a:t>
            </a:r>
            <a:endParaRPr lang="en-US" sz="1300" dirty="0"/>
          </a:p>
        </p:txBody>
      </p:sp>
      <p:sp>
        <p:nvSpPr>
          <p:cNvPr id="38" name="Text 31"/>
          <p:cNvSpPr txBox="1"/>
          <p:nvPr/>
        </p:nvSpPr>
        <p:spPr>
          <a:xfrm>
            <a:off x="7315200" y="5349240"/>
            <a:ext cx="4297680" cy="548640"/>
          </a:xfrm>
          <a:prstGeom prst="rect">
            <a:avLst/>
          </a:prstGeom>
          <a:noFill/>
        </p:spPr>
        <p:txBody>
          <a:bodyPr wrap="square" lIns="0" tIns="0" rIns="0" bIns="0" rtlCol="0" anchor="t"/>
          <a:lstStyle/>
          <a:p>
            <a:pPr marL="0" indent="0">
              <a:buNone/>
            </a:pPr>
            <a:r>
              <a:rPr lang="en-US" sz="1200" dirty="0">
                <a:solidFill>
                  <a:schemeClr val="accent5"/>
                </a:solidFill>
                <a:latin typeface="Courier New" panose="02070609020205020404" pitchFamily="34" charset="0"/>
                <a:ea typeface="Courier New" panose="02070609020205020404" pitchFamily="34" charset="-122"/>
                <a:cs typeface="Courier New" panose="02070609020205020404" pitchFamily="34" charset="-120"/>
              </a:rPr>
              <a:t>Scale with kubectl scale deployment … --replicas=0/1</a:t>
            </a:r>
            <a:endParaRPr lang="en-US" sz="1200" dirty="0"/>
          </a:p>
        </p:txBody>
      </p:sp>
      <p:sp>
        <p:nvSpPr>
          <p:cNvPr id="3" name="Slide Number Placeholder 0"/>
          <p:cNvSpPr>
            <a:spLocks noGrp="1"/>
          </p:cNvSpPr>
          <p:nvPr>
            <p:ph type="sldNum" sz="quarter" idx="4294967295"/>
          </p:nvPr>
        </p:nvSpPr>
        <p:spPr>
          <a:xfrm>
            <a:off x="11155680" y="6355080"/>
            <a:ext cx="457200" cy="274320"/>
          </a:xfrm>
          <a:prstGeom prst="rect">
            <a:avLst/>
          </a:prstGeom>
        </p:spPr>
        <p:txBody>
          <a:bodyPr/>
          <a:lstStyle>
            <a:lvl1pPr>
              <a:defRPr sz="1000">
                <a:solidFill>
                  <a:schemeClr val="accent5"/>
                </a:solidFill>
              </a:defRPr>
            </a:lvl1pPr>
          </a:lstStyle>
          <a:p>
            <a:pPr algn="r"/>
            <a:fld id="{F7021451-1387-4CA6-816F-3879F97B5CBC}" type="slidenum">
              <a:rPr lang="en-US" b="0"/>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0" hasCustomPrompt="1"/>
          </p:nvPr>
        </p:nvSpPr>
        <p:spPr>
          <a:xfrm>
            <a:off x="548640" y="320040"/>
            <a:ext cx="11064240" cy="777240"/>
          </a:xfrm>
          <a:prstGeom prst="rect">
            <a:avLst/>
          </a:prstGeom>
          <a:noFill/>
        </p:spPr>
        <p:txBody>
          <a:bodyPr wrap="square" lIns="0" tIns="0" rIns="0" bIns="0" rtlCol="0" anchor="ctr"/>
          <a:lstStyle/>
          <a:p>
            <a:pPr marL="0" indent="0" algn="l">
              <a:buNone/>
            </a:pPr>
            <a:r>
              <a:rPr lang="en-US" sz="3200" b="1" dirty="0">
                <a:solidFill>
                  <a:schemeClr val="tx1"/>
                </a:solidFill>
              </a:rPr>
              <a:t>Batch pipeline: works end to end today</a:t>
            </a:r>
            <a:endParaRPr lang="en-US" sz="3200" dirty="0"/>
          </a:p>
        </p:txBody>
      </p:sp>
      <p:sp>
        <p:nvSpPr>
          <p:cNvPr id="4" name="Step 1"/>
          <p:cNvSpPr/>
          <p:nvPr/>
        </p:nvSpPr>
        <p:spPr>
          <a:xfrm>
            <a:off x="548640" y="1371600"/>
            <a:ext cx="2560320" cy="2331720"/>
          </a:xfrm>
          <a:prstGeom prst="roundRect">
            <a:avLst>
              <a:gd name="adj" fmla="val 4706"/>
            </a:avLst>
          </a:prstGeom>
          <a:solidFill>
            <a:schemeClr val="bg2"/>
          </a:solidFill>
        </p:spPr>
      </p:sp>
      <p:sp>
        <p:nvSpPr>
          <p:cNvPr id="5" name="Text 2"/>
          <p:cNvSpPr txBox="1"/>
          <p:nvPr/>
        </p:nvSpPr>
        <p:spPr>
          <a:xfrm>
            <a:off x="777240" y="1600200"/>
            <a:ext cx="502920" cy="502920"/>
          </a:xfrm>
          <a:prstGeom prst="ellipse">
            <a:avLst/>
          </a:prstGeom>
          <a:solidFill>
            <a:schemeClr val="tx1"/>
          </a:solidFill>
        </p:spPr>
        <p:txBody>
          <a:bodyPr wrap="square" lIns="0" tIns="0" rIns="0" bIns="0" rtlCol="0" anchor="ctr"/>
          <a:lstStyle/>
          <a:p>
            <a:pPr marL="0" indent="0" algn="ctr">
              <a:buNone/>
            </a:pPr>
            <a:r>
              <a:rPr lang="en-US" sz="1800" b="1" dirty="0">
                <a:solidFill>
                  <a:schemeClr val="bg1"/>
                </a:solidFill>
              </a:rPr>
              <a:t>1</a:t>
            </a:r>
            <a:endParaRPr lang="en-US" sz="1800" dirty="0"/>
          </a:p>
        </p:txBody>
      </p:sp>
      <p:sp>
        <p:nvSpPr>
          <p:cNvPr id="6" name="Text 3"/>
          <p:cNvSpPr txBox="1"/>
          <p:nvPr/>
        </p:nvSpPr>
        <p:spPr>
          <a:xfrm>
            <a:off x="1417320" y="1600200"/>
            <a:ext cx="1554480" cy="502920"/>
          </a:xfrm>
          <a:prstGeom prst="rect">
            <a:avLst/>
          </a:prstGeom>
          <a:noFill/>
        </p:spPr>
        <p:txBody>
          <a:bodyPr wrap="square" lIns="0" tIns="0" rIns="0" bIns="0" rtlCol="0" anchor="ctr"/>
          <a:lstStyle/>
          <a:p>
            <a:pPr marL="0" indent="0">
              <a:buNone/>
            </a:pPr>
            <a:r>
              <a:rPr lang="en-US" sz="1800" b="1" dirty="0">
                <a:solidFill>
                  <a:schemeClr val="tx1"/>
                </a:solidFill>
              </a:rPr>
              <a:t>Collect</a:t>
            </a:r>
            <a:endParaRPr lang="en-US" sz="1800" dirty="0"/>
          </a:p>
        </p:txBody>
      </p:sp>
      <p:sp>
        <p:nvSpPr>
          <p:cNvPr id="7" name="Text 4"/>
          <p:cNvSpPr txBox="1"/>
          <p:nvPr/>
        </p:nvSpPr>
        <p:spPr>
          <a:xfrm>
            <a:off x="777240" y="2240280"/>
            <a:ext cx="2103120" cy="960120"/>
          </a:xfrm>
          <a:prstGeom prst="rect">
            <a:avLst/>
          </a:prstGeom>
          <a:noFill/>
        </p:spPr>
        <p:txBody>
          <a:bodyPr wrap="square" lIns="0" tIns="0" rIns="0" bIns="0" rtlCol="0" anchor="t"/>
          <a:lstStyle/>
          <a:p>
            <a:pPr marL="0" indent="0">
              <a:buNone/>
            </a:pPr>
            <a:r>
              <a:rPr lang="en-US" sz="1300" dirty="0">
                <a:solidFill>
                  <a:schemeClr val="tx2"/>
                </a:solidFill>
              </a:rPr>
              <a:t>etl/fetch_stock_data.py → Parquet in raw-zone</a:t>
            </a:r>
            <a:endParaRPr lang="en-US" sz="1300" dirty="0"/>
          </a:p>
        </p:txBody>
      </p:sp>
      <p:sp>
        <p:nvSpPr>
          <p:cNvPr id="8" name="Text 5"/>
          <p:cNvSpPr txBox="1"/>
          <p:nvPr/>
        </p:nvSpPr>
        <p:spPr>
          <a:xfrm>
            <a:off x="777240" y="3291840"/>
            <a:ext cx="1188720" cy="256032"/>
          </a:xfrm>
          <a:prstGeom prst="roundRect">
            <a:avLst>
              <a:gd name="adj" fmla="val 46429"/>
            </a:avLst>
          </a:prstGeom>
          <a:solidFill>
            <a:schemeClr val="accent1"/>
          </a:solidFill>
        </p:spPr>
        <p:txBody>
          <a:bodyPr wrap="square" lIns="0" tIns="0" rIns="0" bIns="0" rtlCol="0" anchor="ctr"/>
          <a:lstStyle/>
          <a:p>
            <a:pPr marL="0" indent="0" algn="ctr">
              <a:buNone/>
            </a:pPr>
            <a:r>
              <a:rPr lang="en-US" sz="1000" b="1" kern="0" spc="100" dirty="0">
                <a:solidFill>
                  <a:schemeClr val="bg1"/>
                </a:solidFill>
              </a:rPr>
              <a:t>DONE</a:t>
            </a:r>
            <a:endParaRPr lang="en-US" sz="1000" dirty="0"/>
          </a:p>
        </p:txBody>
      </p:sp>
      <p:sp>
        <p:nvSpPr>
          <p:cNvPr id="9" name="Shape 6"/>
          <p:cNvSpPr/>
          <p:nvPr/>
        </p:nvSpPr>
        <p:spPr>
          <a:xfrm>
            <a:off x="3136392" y="2537460"/>
            <a:ext cx="219456" cy="0"/>
          </a:xfrm>
          <a:prstGeom prst="line">
            <a:avLst/>
          </a:prstGeom>
          <a:noFill/>
          <a:ln w="19050">
            <a:solidFill>
              <a:schemeClr val="accent5"/>
            </a:solidFill>
            <a:prstDash val="solid"/>
            <a:tailEnd type="triangle"/>
          </a:ln>
        </p:spPr>
      </p:sp>
      <p:sp>
        <p:nvSpPr>
          <p:cNvPr id="10" name="Step 2"/>
          <p:cNvSpPr/>
          <p:nvPr/>
        </p:nvSpPr>
        <p:spPr>
          <a:xfrm>
            <a:off x="3383280" y="1371600"/>
            <a:ext cx="2560320" cy="2331720"/>
          </a:xfrm>
          <a:prstGeom prst="roundRect">
            <a:avLst>
              <a:gd name="adj" fmla="val 4706"/>
            </a:avLst>
          </a:prstGeom>
          <a:solidFill>
            <a:schemeClr val="bg2"/>
          </a:solidFill>
        </p:spPr>
      </p:sp>
      <p:sp>
        <p:nvSpPr>
          <p:cNvPr id="11" name="Text 8"/>
          <p:cNvSpPr txBox="1"/>
          <p:nvPr/>
        </p:nvSpPr>
        <p:spPr>
          <a:xfrm>
            <a:off x="3611880" y="1600200"/>
            <a:ext cx="502920" cy="502920"/>
          </a:xfrm>
          <a:prstGeom prst="ellipse">
            <a:avLst/>
          </a:prstGeom>
          <a:solidFill>
            <a:schemeClr val="tx1"/>
          </a:solidFill>
        </p:spPr>
        <p:txBody>
          <a:bodyPr wrap="square" lIns="0" tIns="0" rIns="0" bIns="0" rtlCol="0" anchor="ctr"/>
          <a:lstStyle/>
          <a:p>
            <a:pPr marL="0" indent="0" algn="ctr">
              <a:buNone/>
            </a:pPr>
            <a:r>
              <a:rPr lang="en-US" sz="1800" b="1" dirty="0">
                <a:solidFill>
                  <a:schemeClr val="bg1"/>
                </a:solidFill>
              </a:rPr>
              <a:t>2</a:t>
            </a:r>
            <a:endParaRPr lang="en-US" sz="1800" dirty="0"/>
          </a:p>
        </p:txBody>
      </p:sp>
      <p:sp>
        <p:nvSpPr>
          <p:cNvPr id="12" name="Text 9"/>
          <p:cNvSpPr txBox="1"/>
          <p:nvPr/>
        </p:nvSpPr>
        <p:spPr>
          <a:xfrm>
            <a:off x="4251960" y="1600200"/>
            <a:ext cx="1554480" cy="502920"/>
          </a:xfrm>
          <a:prstGeom prst="rect">
            <a:avLst/>
          </a:prstGeom>
          <a:noFill/>
        </p:spPr>
        <p:txBody>
          <a:bodyPr wrap="square" lIns="0" tIns="0" rIns="0" bIns="0" rtlCol="0" anchor="ctr"/>
          <a:lstStyle/>
          <a:p>
            <a:pPr marL="0" indent="0">
              <a:buNone/>
            </a:pPr>
            <a:r>
              <a:rPr lang="en-US" sz="1800" b="1" dirty="0">
                <a:solidFill>
                  <a:schemeClr val="tx1"/>
                </a:solidFill>
              </a:rPr>
              <a:t>Clean</a:t>
            </a:r>
            <a:endParaRPr lang="en-US" sz="1800" dirty="0"/>
          </a:p>
        </p:txBody>
      </p:sp>
      <p:sp>
        <p:nvSpPr>
          <p:cNvPr id="13" name="Text 10"/>
          <p:cNvSpPr txBox="1"/>
          <p:nvPr/>
        </p:nvSpPr>
        <p:spPr>
          <a:xfrm>
            <a:off x="3611880" y="2240280"/>
            <a:ext cx="2103120" cy="960120"/>
          </a:xfrm>
          <a:prstGeom prst="rect">
            <a:avLst/>
          </a:prstGeom>
          <a:noFill/>
        </p:spPr>
        <p:txBody>
          <a:bodyPr wrap="square" lIns="0" tIns="0" rIns="0" bIns="0" rtlCol="0" anchor="t"/>
          <a:lstStyle/>
          <a:p>
            <a:pPr marL="0" indent="0">
              <a:buNone/>
            </a:pPr>
            <a:r>
              <a:rPr lang="en-US" sz="1300" dirty="0">
                <a:solidFill>
                  <a:schemeClr val="tx2"/>
                </a:solidFill>
              </a:rPr>
              <a:t>Spark: drop volume = 0, cast dates, drop nulls, dedup (symbol, date)</a:t>
            </a:r>
            <a:endParaRPr lang="en-US" sz="1300" dirty="0"/>
          </a:p>
        </p:txBody>
      </p:sp>
      <p:sp>
        <p:nvSpPr>
          <p:cNvPr id="14" name="Text 11"/>
          <p:cNvSpPr txBox="1"/>
          <p:nvPr/>
        </p:nvSpPr>
        <p:spPr>
          <a:xfrm>
            <a:off x="3611880" y="3291840"/>
            <a:ext cx="1188720" cy="256032"/>
          </a:xfrm>
          <a:prstGeom prst="roundRect">
            <a:avLst>
              <a:gd name="adj" fmla="val 46429"/>
            </a:avLst>
          </a:prstGeom>
          <a:solidFill>
            <a:schemeClr val="accent1"/>
          </a:solidFill>
        </p:spPr>
        <p:txBody>
          <a:bodyPr wrap="square" lIns="0" tIns="0" rIns="0" bIns="0" rtlCol="0" anchor="ctr"/>
          <a:lstStyle/>
          <a:p>
            <a:pPr marL="0" indent="0" algn="ctr">
              <a:buNone/>
            </a:pPr>
            <a:r>
              <a:rPr lang="en-US" sz="1000" b="1" kern="0" spc="100" dirty="0">
                <a:solidFill>
                  <a:schemeClr val="bg1"/>
                </a:solidFill>
              </a:rPr>
              <a:t>DONE</a:t>
            </a:r>
            <a:endParaRPr lang="en-US" sz="1000" dirty="0"/>
          </a:p>
        </p:txBody>
      </p:sp>
      <p:sp>
        <p:nvSpPr>
          <p:cNvPr id="15" name="Shape 12"/>
          <p:cNvSpPr/>
          <p:nvPr/>
        </p:nvSpPr>
        <p:spPr>
          <a:xfrm>
            <a:off x="5971032" y="2537460"/>
            <a:ext cx="219456" cy="0"/>
          </a:xfrm>
          <a:prstGeom prst="line">
            <a:avLst/>
          </a:prstGeom>
          <a:noFill/>
          <a:ln w="19050">
            <a:solidFill>
              <a:schemeClr val="accent5"/>
            </a:solidFill>
            <a:prstDash val="solid"/>
            <a:tailEnd type="triangle"/>
          </a:ln>
        </p:spPr>
      </p:sp>
      <p:sp>
        <p:nvSpPr>
          <p:cNvPr id="16" name="Step 3"/>
          <p:cNvSpPr/>
          <p:nvPr/>
        </p:nvSpPr>
        <p:spPr>
          <a:xfrm>
            <a:off x="6217920" y="1371600"/>
            <a:ext cx="2560320" cy="2331720"/>
          </a:xfrm>
          <a:prstGeom prst="roundRect">
            <a:avLst>
              <a:gd name="adj" fmla="val 4706"/>
            </a:avLst>
          </a:prstGeom>
          <a:solidFill>
            <a:schemeClr val="bg2"/>
          </a:solidFill>
        </p:spPr>
      </p:sp>
      <p:sp>
        <p:nvSpPr>
          <p:cNvPr id="17" name="Text 14"/>
          <p:cNvSpPr txBox="1"/>
          <p:nvPr/>
        </p:nvSpPr>
        <p:spPr>
          <a:xfrm>
            <a:off x="6446520" y="1600200"/>
            <a:ext cx="502920" cy="502920"/>
          </a:xfrm>
          <a:prstGeom prst="ellipse">
            <a:avLst/>
          </a:prstGeom>
          <a:solidFill>
            <a:schemeClr val="tx1"/>
          </a:solidFill>
        </p:spPr>
        <p:txBody>
          <a:bodyPr wrap="square" lIns="0" tIns="0" rIns="0" bIns="0" rtlCol="0" anchor="ctr"/>
          <a:lstStyle/>
          <a:p>
            <a:pPr marL="0" indent="0" algn="ctr">
              <a:buNone/>
            </a:pPr>
            <a:r>
              <a:rPr lang="en-US" sz="1800" b="1" dirty="0">
                <a:solidFill>
                  <a:schemeClr val="bg1"/>
                </a:solidFill>
              </a:rPr>
              <a:t>3</a:t>
            </a:r>
            <a:endParaRPr lang="en-US" sz="1800" dirty="0"/>
          </a:p>
        </p:txBody>
      </p:sp>
      <p:sp>
        <p:nvSpPr>
          <p:cNvPr id="18" name="Text 15"/>
          <p:cNvSpPr txBox="1"/>
          <p:nvPr/>
        </p:nvSpPr>
        <p:spPr>
          <a:xfrm>
            <a:off x="7086600" y="1600200"/>
            <a:ext cx="1554480" cy="502920"/>
          </a:xfrm>
          <a:prstGeom prst="rect">
            <a:avLst/>
          </a:prstGeom>
          <a:noFill/>
        </p:spPr>
        <p:txBody>
          <a:bodyPr wrap="square" lIns="0" tIns="0" rIns="0" bIns="0" rtlCol="0" anchor="ctr"/>
          <a:lstStyle/>
          <a:p>
            <a:pPr marL="0" indent="0">
              <a:buNone/>
            </a:pPr>
            <a:r>
              <a:rPr lang="en-US" sz="1800" b="1" dirty="0">
                <a:solidFill>
                  <a:schemeClr val="tx1"/>
                </a:solidFill>
              </a:rPr>
              <a:t>Store</a:t>
            </a:r>
            <a:endParaRPr lang="en-US" sz="1800" dirty="0"/>
          </a:p>
        </p:txBody>
      </p:sp>
      <p:sp>
        <p:nvSpPr>
          <p:cNvPr id="19" name="Text 16"/>
          <p:cNvSpPr txBox="1"/>
          <p:nvPr/>
        </p:nvSpPr>
        <p:spPr>
          <a:xfrm>
            <a:off x="6446520" y="2240280"/>
            <a:ext cx="2103120" cy="960120"/>
          </a:xfrm>
          <a:prstGeom prst="rect">
            <a:avLst/>
          </a:prstGeom>
          <a:noFill/>
        </p:spPr>
        <p:txBody>
          <a:bodyPr wrap="square" lIns="0" tIns="0" rIns="0" bIns="0" rtlCol="0" anchor="t"/>
          <a:lstStyle/>
          <a:p>
            <a:pPr marL="0" indent="0">
              <a:buNone/>
            </a:pPr>
            <a:r>
              <a:rPr lang="en-US" sz="1300" dirty="0">
                <a:solidFill>
                  <a:schemeClr val="tx2"/>
                </a:solidFill>
              </a:rPr>
              <a:t>Iceberg table stock_prices_daily, partitioned by year</a:t>
            </a:r>
            <a:endParaRPr lang="en-US" sz="1300" dirty="0"/>
          </a:p>
        </p:txBody>
      </p:sp>
      <p:sp>
        <p:nvSpPr>
          <p:cNvPr id="20" name="Text 17"/>
          <p:cNvSpPr txBox="1"/>
          <p:nvPr/>
        </p:nvSpPr>
        <p:spPr>
          <a:xfrm>
            <a:off x="6446520" y="3291840"/>
            <a:ext cx="1463040" cy="256032"/>
          </a:xfrm>
          <a:prstGeom prst="roundRect">
            <a:avLst>
              <a:gd name="adj" fmla="val 46429"/>
            </a:avLst>
          </a:prstGeom>
          <a:solidFill>
            <a:schemeClr val="accent2"/>
          </a:solidFill>
        </p:spPr>
        <p:txBody>
          <a:bodyPr wrap="square" lIns="0" tIns="0" rIns="0" bIns="0" rtlCol="0" anchor="ctr"/>
          <a:lstStyle/>
          <a:p>
            <a:pPr marL="0" indent="0" algn="ctr">
              <a:buNone/>
            </a:pPr>
            <a:r>
              <a:rPr lang="en-US" sz="1000" b="1" kern="0" spc="100" dirty="0">
                <a:solidFill>
                  <a:schemeClr val="tx1"/>
                </a:solidFill>
              </a:rPr>
              <a:t>TESTED LOCALLY</a:t>
            </a:r>
            <a:endParaRPr lang="en-US" sz="1000" dirty="0"/>
          </a:p>
        </p:txBody>
      </p:sp>
      <p:sp>
        <p:nvSpPr>
          <p:cNvPr id="21" name="Shape 18"/>
          <p:cNvSpPr/>
          <p:nvPr/>
        </p:nvSpPr>
        <p:spPr>
          <a:xfrm>
            <a:off x="8805672" y="2537460"/>
            <a:ext cx="219456" cy="0"/>
          </a:xfrm>
          <a:prstGeom prst="line">
            <a:avLst/>
          </a:prstGeom>
          <a:noFill/>
          <a:ln w="19050">
            <a:solidFill>
              <a:schemeClr val="accent5"/>
            </a:solidFill>
            <a:prstDash val="solid"/>
            <a:tailEnd type="triangle"/>
          </a:ln>
        </p:spPr>
      </p:sp>
      <p:sp>
        <p:nvSpPr>
          <p:cNvPr id="22" name="Step 4"/>
          <p:cNvSpPr/>
          <p:nvPr/>
        </p:nvSpPr>
        <p:spPr>
          <a:xfrm>
            <a:off x="9052560" y="1371600"/>
            <a:ext cx="2560320" cy="2331720"/>
          </a:xfrm>
          <a:prstGeom prst="roundRect">
            <a:avLst>
              <a:gd name="adj" fmla="val 4706"/>
            </a:avLst>
          </a:prstGeom>
          <a:solidFill>
            <a:schemeClr val="bg2"/>
          </a:solidFill>
        </p:spPr>
      </p:sp>
      <p:sp>
        <p:nvSpPr>
          <p:cNvPr id="23" name="Text 20"/>
          <p:cNvSpPr txBox="1"/>
          <p:nvPr/>
        </p:nvSpPr>
        <p:spPr>
          <a:xfrm>
            <a:off x="9281160" y="1600200"/>
            <a:ext cx="502920" cy="502920"/>
          </a:xfrm>
          <a:prstGeom prst="ellipse">
            <a:avLst/>
          </a:prstGeom>
          <a:solidFill>
            <a:schemeClr val="tx1"/>
          </a:solidFill>
        </p:spPr>
        <p:txBody>
          <a:bodyPr wrap="square" lIns="0" tIns="0" rIns="0" bIns="0" rtlCol="0" anchor="ctr"/>
          <a:lstStyle/>
          <a:p>
            <a:pPr marL="0" indent="0" algn="ctr">
              <a:buNone/>
            </a:pPr>
            <a:r>
              <a:rPr lang="en-US" sz="1800" b="1" dirty="0">
                <a:solidFill>
                  <a:schemeClr val="bg1"/>
                </a:solidFill>
              </a:rPr>
              <a:t>4</a:t>
            </a:r>
            <a:endParaRPr lang="en-US" sz="1800" dirty="0"/>
          </a:p>
        </p:txBody>
      </p:sp>
      <p:sp>
        <p:nvSpPr>
          <p:cNvPr id="24" name="Text 21"/>
          <p:cNvSpPr txBox="1"/>
          <p:nvPr/>
        </p:nvSpPr>
        <p:spPr>
          <a:xfrm>
            <a:off x="9921240" y="1600200"/>
            <a:ext cx="1554480" cy="502920"/>
          </a:xfrm>
          <a:prstGeom prst="rect">
            <a:avLst/>
          </a:prstGeom>
          <a:noFill/>
        </p:spPr>
        <p:txBody>
          <a:bodyPr wrap="square" lIns="0" tIns="0" rIns="0" bIns="0" rtlCol="0" anchor="ctr"/>
          <a:lstStyle/>
          <a:p>
            <a:pPr marL="0" indent="0">
              <a:buNone/>
            </a:pPr>
            <a:r>
              <a:rPr lang="en-US" sz="1800" b="1" dirty="0">
                <a:solidFill>
                  <a:schemeClr val="tx1"/>
                </a:solidFill>
              </a:rPr>
              <a:t>Model</a:t>
            </a:r>
            <a:endParaRPr lang="en-US" sz="1800" dirty="0"/>
          </a:p>
        </p:txBody>
      </p:sp>
      <p:sp>
        <p:nvSpPr>
          <p:cNvPr id="25" name="Text 22"/>
          <p:cNvSpPr txBox="1"/>
          <p:nvPr/>
        </p:nvSpPr>
        <p:spPr>
          <a:xfrm>
            <a:off x="9281160" y="2240280"/>
            <a:ext cx="2103120" cy="960120"/>
          </a:xfrm>
          <a:prstGeom prst="rect">
            <a:avLst/>
          </a:prstGeom>
          <a:noFill/>
        </p:spPr>
        <p:txBody>
          <a:bodyPr wrap="square" lIns="0" tIns="0" rIns="0" bIns="0" rtlCol="0" anchor="t"/>
          <a:lstStyle/>
          <a:p>
            <a:pPr marL="0" indent="0">
              <a:buNone/>
            </a:pPr>
            <a:r>
              <a:rPr lang="en-US" sz="1300" dirty="0">
                <a:solidFill>
                  <a:schemeClr val="tx2"/>
                </a:solidFill>
              </a:rPr>
              <a:t>dbt: stg daily_return → monthly mart per symbol</a:t>
            </a:r>
            <a:endParaRPr lang="en-US" sz="1300" dirty="0"/>
          </a:p>
        </p:txBody>
      </p:sp>
      <p:sp>
        <p:nvSpPr>
          <p:cNvPr id="26" name="Text 23"/>
          <p:cNvSpPr txBox="1"/>
          <p:nvPr/>
        </p:nvSpPr>
        <p:spPr>
          <a:xfrm>
            <a:off x="9281160" y="3291840"/>
            <a:ext cx="1188720" cy="256032"/>
          </a:xfrm>
          <a:prstGeom prst="roundRect">
            <a:avLst>
              <a:gd name="adj" fmla="val 46429"/>
            </a:avLst>
          </a:prstGeom>
          <a:solidFill>
            <a:schemeClr val="accent2"/>
          </a:solidFill>
        </p:spPr>
        <p:txBody>
          <a:bodyPr wrap="square" lIns="0" tIns="0" rIns="0" bIns="0" rtlCol="0" anchor="ctr"/>
          <a:lstStyle/>
          <a:p>
            <a:pPr marL="0" indent="0" algn="ctr">
              <a:buNone/>
            </a:pPr>
            <a:r>
              <a:rPr lang="en-US" sz="1000" b="1" kern="0" spc="100" dirty="0">
                <a:solidFill>
                  <a:schemeClr val="tx1"/>
                </a:solidFill>
              </a:rPr>
              <a:t>CODE READY</a:t>
            </a:r>
            <a:endParaRPr lang="en-US" sz="1000" dirty="0"/>
          </a:p>
        </p:txBody>
      </p:sp>
      <p:sp>
        <p:nvSpPr>
          <p:cNvPr id="27" name="Code snippet"/>
          <p:cNvSpPr/>
          <p:nvPr/>
        </p:nvSpPr>
        <p:spPr>
          <a:xfrm>
            <a:off x="548640" y="3977640"/>
            <a:ext cx="6949440" cy="2057400"/>
          </a:xfrm>
          <a:prstGeom prst="roundRect">
            <a:avLst>
              <a:gd name="adj" fmla="val 5333"/>
            </a:avLst>
          </a:prstGeom>
          <a:solidFill>
            <a:schemeClr val="tx1"/>
          </a:solidFill>
        </p:spPr>
      </p:sp>
      <p:sp>
        <p:nvSpPr>
          <p:cNvPr id="28" name="Text 25"/>
          <p:cNvSpPr txBox="1"/>
          <p:nvPr/>
        </p:nvSpPr>
        <p:spPr>
          <a:xfrm>
            <a:off x="777240" y="4114800"/>
            <a:ext cx="6492240" cy="274320"/>
          </a:xfrm>
          <a:prstGeom prst="rect">
            <a:avLst/>
          </a:prstGeom>
          <a:noFill/>
        </p:spPr>
        <p:txBody>
          <a:bodyPr wrap="square" lIns="0" tIns="0" rIns="0" bIns="0" rtlCol="0" anchor="t"/>
          <a:lstStyle/>
          <a:p>
            <a:pPr marL="0" indent="0">
              <a:buNone/>
            </a:pPr>
            <a:r>
              <a:rPr lang="en-US" sz="1100" dirty="0">
                <a:solidFill>
                  <a:schemeClr val="accent5"/>
                </a:solidFill>
              </a:rPr>
              <a:t>spark-jobs/batch_ingest.py (simplified)</a:t>
            </a:r>
            <a:endParaRPr lang="en-US" sz="1100" dirty="0"/>
          </a:p>
        </p:txBody>
      </p:sp>
      <p:sp>
        <p:nvSpPr>
          <p:cNvPr id="29" name="Text 26"/>
          <p:cNvSpPr txBox="1"/>
          <p:nvPr/>
        </p:nvSpPr>
        <p:spPr>
          <a:xfrm>
            <a:off x="777240" y="4434840"/>
            <a:ext cx="6583680" cy="1463040"/>
          </a:xfrm>
          <a:prstGeom prst="rect">
            <a:avLst/>
          </a:prstGeom>
          <a:noFill/>
        </p:spPr>
        <p:txBody>
          <a:bodyPr wrap="square" lIns="0" tIns="0" rIns="0" bIns="0" rtlCol="0" anchor="t"/>
          <a:lstStyle/>
          <a:p>
            <a:pPr marL="0" indent="0">
              <a:buNone/>
            </a:pPr>
            <a:r>
              <a:rPr lang="en-US" sz="1200" dirty="0">
                <a:solidFill>
                  <a:schemeClr val="bg1"/>
                </a:solidFill>
                <a:latin typeface="Courier New" panose="02070609020205020404" pitchFamily="34" charset="0"/>
                <a:ea typeface="Courier New" panose="02070609020205020404" pitchFamily="34" charset="-122"/>
                <a:cs typeface="Courier New" panose="02070609020205020404" pitchFamily="34" charset="-120"/>
              </a:rPr>
              <a:t>raw.filter(F.col("volume") &gt; 0)</a:t>
            </a:r>
            <a:endParaRPr lang="en-US" sz="1200" dirty="0"/>
          </a:p>
          <a:p>
            <a:pPr marL="0" indent="0">
              <a:buNone/>
            </a:pPr>
            <a:r>
              <a:rPr lang="en-US" sz="1200" dirty="0">
                <a:solidFill>
                  <a:schemeClr val="bg1"/>
                </a:solidFill>
                <a:latin typeface="Courier New" panose="02070609020205020404" pitchFamily="34" charset="0"/>
                <a:ea typeface="Courier New" panose="02070609020205020404" pitchFamily="34" charset="-122"/>
                <a:cs typeface="Courier New" panose="02070609020205020404" pitchFamily="34" charset="-120"/>
              </a:rPr>
              <a:t>   .withColumn("trade_date", F.to_date("trade_date"))</a:t>
            </a:r>
            <a:endParaRPr lang="en-US" sz="1200" dirty="0"/>
          </a:p>
          <a:p>
            <a:pPr marL="0" indent="0">
              <a:buNone/>
            </a:pPr>
            <a:r>
              <a:rPr lang="en-US" sz="1200" dirty="0">
                <a:solidFill>
                  <a:schemeClr val="bg1"/>
                </a:solidFill>
                <a:latin typeface="Courier New" panose="02070609020205020404" pitchFamily="34" charset="0"/>
                <a:ea typeface="Courier New" panose="02070609020205020404" pitchFamily="34" charset="-122"/>
                <a:cs typeface="Courier New" panose="02070609020205020404" pitchFamily="34" charset="-120"/>
              </a:rPr>
              <a:t>   .dropna(subset=["symbol", "trade_date", "adj_close"])</a:t>
            </a:r>
            <a:endParaRPr lang="en-US" sz="1200" dirty="0"/>
          </a:p>
          <a:p>
            <a:pPr marL="0" indent="0">
              <a:buNone/>
            </a:pPr>
            <a:r>
              <a:rPr lang="en-US" sz="1200" dirty="0">
                <a:solidFill>
                  <a:schemeClr val="bg1"/>
                </a:solidFill>
                <a:latin typeface="Courier New" panose="02070609020205020404" pitchFamily="34" charset="0"/>
                <a:ea typeface="Courier New" panose="02070609020205020404" pitchFamily="34" charset="-122"/>
                <a:cs typeface="Courier New" panose="02070609020205020404" pitchFamily="34" charset="-120"/>
              </a:rPr>
              <a:t>   .dropDuplicates(["symbol", "trade_date"])</a:t>
            </a:r>
            <a:endParaRPr lang="en-US" sz="1200" dirty="0"/>
          </a:p>
          <a:p>
            <a:pPr marL="0" indent="0">
              <a:buNone/>
            </a:pPr>
            <a:r>
              <a:rPr lang="en-US" sz="1200" dirty="0">
                <a:solidFill>
                  <a:schemeClr val="bg1"/>
                </a:solidFill>
                <a:latin typeface="Courier New" panose="02070609020205020404" pitchFamily="34" charset="0"/>
                <a:ea typeface="Courier New" panose="02070609020205020404" pitchFamily="34" charset="-122"/>
                <a:cs typeface="Courier New" panose="02070609020205020404" pitchFamily="34" charset="-120"/>
              </a:rPr>
              <a:t>   .writeTo("iceberg.stock.stock_prices_daily")</a:t>
            </a:r>
            <a:endParaRPr lang="en-US" sz="1200" dirty="0"/>
          </a:p>
          <a:p>
            <a:pPr marL="0" indent="0">
              <a:buNone/>
            </a:pPr>
            <a:r>
              <a:rPr lang="en-US" sz="1200" dirty="0">
                <a:solidFill>
                  <a:schemeClr val="bg1"/>
                </a:solidFill>
                <a:latin typeface="Courier New" panose="02070609020205020404" pitchFamily="34" charset="0"/>
                <a:ea typeface="Courier New" panose="02070609020205020404" pitchFamily="34" charset="-122"/>
                <a:cs typeface="Courier New" panose="02070609020205020404" pitchFamily="34" charset="-120"/>
              </a:rPr>
              <a:t>   .partitionedBy(F.years("trade_date")).createOrReplace()</a:t>
            </a:r>
            <a:endParaRPr lang="en-US" sz="1200" dirty="0"/>
          </a:p>
        </p:txBody>
      </p:sp>
      <p:sp>
        <p:nvSpPr>
          <p:cNvPr id="30" name="Result"/>
          <p:cNvSpPr/>
          <p:nvPr/>
        </p:nvSpPr>
        <p:spPr>
          <a:xfrm>
            <a:off x="7772400" y="3977640"/>
            <a:ext cx="3840480" cy="2057400"/>
          </a:xfrm>
          <a:prstGeom prst="roundRect">
            <a:avLst>
              <a:gd name="adj" fmla="val 5333"/>
            </a:avLst>
          </a:prstGeom>
          <a:solidFill>
            <a:schemeClr val="accent1">
              <a:alpha val="12000"/>
            </a:schemeClr>
          </a:solidFill>
        </p:spPr>
      </p:sp>
      <p:sp>
        <p:nvSpPr>
          <p:cNvPr id="31" name="Text 28"/>
          <p:cNvSpPr txBox="1"/>
          <p:nvPr/>
        </p:nvSpPr>
        <p:spPr>
          <a:xfrm>
            <a:off x="8001000" y="4160520"/>
            <a:ext cx="3474720" cy="685800"/>
          </a:xfrm>
          <a:prstGeom prst="rect">
            <a:avLst/>
          </a:prstGeom>
          <a:noFill/>
        </p:spPr>
        <p:txBody>
          <a:bodyPr wrap="square" lIns="0" tIns="0" rIns="0" bIns="0" rtlCol="0" anchor="ctr"/>
          <a:lstStyle/>
          <a:p>
            <a:pPr marL="0" indent="0">
              <a:buNone/>
            </a:pPr>
            <a:r>
              <a:rPr lang="en-US" sz="3400" b="1" dirty="0">
                <a:solidFill>
                  <a:schemeClr val="accent1"/>
                </a:solidFill>
                <a:latin typeface="Arial" panose="020B0704020202020204" pitchFamily="34" charset="0"/>
                <a:ea typeface="Arial" panose="020B0704020202020204" pitchFamily="34" charset="-122"/>
                <a:cs typeface="Arial" panose="020B0704020202020204" pitchFamily="34" charset="-120"/>
              </a:rPr>
              <a:t>4.05M → 2.65M</a:t>
            </a:r>
            <a:endParaRPr lang="en-US" sz="3400" dirty="0"/>
          </a:p>
        </p:txBody>
      </p:sp>
      <p:sp>
        <p:nvSpPr>
          <p:cNvPr id="32" name="Text 29"/>
          <p:cNvSpPr txBox="1"/>
          <p:nvPr/>
        </p:nvSpPr>
        <p:spPr>
          <a:xfrm>
            <a:off x="8001000" y="4892040"/>
            <a:ext cx="3383280" cy="548640"/>
          </a:xfrm>
          <a:prstGeom prst="rect">
            <a:avLst/>
          </a:prstGeom>
          <a:noFill/>
        </p:spPr>
        <p:txBody>
          <a:bodyPr wrap="square" lIns="0" tIns="0" rIns="0" bIns="0" rtlCol="0" anchor="t"/>
          <a:lstStyle/>
          <a:p>
            <a:pPr marL="0" indent="0">
              <a:buNone/>
            </a:pPr>
            <a:r>
              <a:rPr lang="en-US" sz="1300" dirty="0">
                <a:solidFill>
                  <a:schemeClr val="tx1"/>
                </a:solidFill>
              </a:rPr>
              <a:t>raw rows → cleansed rows; 34.6% removed, mostly no-trade days</a:t>
            </a:r>
            <a:endParaRPr lang="en-US" sz="1300" dirty="0"/>
          </a:p>
        </p:txBody>
      </p:sp>
      <p:sp>
        <p:nvSpPr>
          <p:cNvPr id="33" name="Text 30"/>
          <p:cNvSpPr txBox="1"/>
          <p:nvPr/>
        </p:nvSpPr>
        <p:spPr>
          <a:xfrm>
            <a:off x="8001000" y="5532120"/>
            <a:ext cx="3383280" cy="320040"/>
          </a:xfrm>
          <a:prstGeom prst="rect">
            <a:avLst/>
          </a:prstGeom>
          <a:noFill/>
        </p:spPr>
        <p:txBody>
          <a:bodyPr wrap="square" lIns="0" tIns="0" rIns="0" bIns="0" rtlCol="0" anchor="t"/>
          <a:lstStyle/>
          <a:p>
            <a:pPr marL="0" indent="0">
              <a:buNone/>
            </a:pPr>
            <a:r>
              <a:rPr lang="en-US" sz="1200" dirty="0">
                <a:solidFill>
                  <a:schemeClr val="tx2"/>
                </a:solidFill>
                <a:latin typeface="Courier New" panose="02070609020205020404" pitchFamily="34" charset="0"/>
                <a:ea typeface="Courier New" panose="02070609020205020404" pitchFamily="34" charset="-122"/>
                <a:cs typeface="Courier New" panose="02070609020205020404" pitchFamily="34" charset="-120"/>
              </a:rPr>
              <a:t>make ingest-local</a:t>
            </a:r>
            <a:endParaRPr lang="en-US" sz="1200" dirty="0"/>
          </a:p>
        </p:txBody>
      </p:sp>
      <p:sp>
        <p:nvSpPr>
          <p:cNvPr id="3" name="Slide Number Placeholder 0"/>
          <p:cNvSpPr>
            <a:spLocks noGrp="1"/>
          </p:cNvSpPr>
          <p:nvPr>
            <p:ph type="sldNum" sz="quarter" idx="4294967295"/>
          </p:nvPr>
        </p:nvSpPr>
        <p:spPr>
          <a:xfrm>
            <a:off x="11155680" y="6355080"/>
            <a:ext cx="457200" cy="274320"/>
          </a:xfrm>
          <a:prstGeom prst="rect">
            <a:avLst/>
          </a:prstGeom>
        </p:spPr>
        <p:txBody>
          <a:bodyPr/>
          <a:lstStyle>
            <a:lvl1pPr>
              <a:defRPr sz="1000">
                <a:solidFill>
                  <a:schemeClr val="accent5"/>
                </a:solidFill>
              </a:defRPr>
            </a:lvl1pPr>
          </a:lstStyle>
          <a:p>
            <a:pPr algn="r"/>
            <a:fld id="{F7021451-1387-4CA6-816F-3879F97B5CBC}" type="slidenum">
              <a:rPr lang="en-US" b="0"/>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0" hasCustomPrompt="1"/>
          </p:nvPr>
        </p:nvSpPr>
        <p:spPr>
          <a:xfrm>
            <a:off x="548640" y="320040"/>
            <a:ext cx="11064240" cy="777240"/>
          </a:xfrm>
          <a:prstGeom prst="rect">
            <a:avLst/>
          </a:prstGeom>
          <a:noFill/>
        </p:spPr>
        <p:txBody>
          <a:bodyPr wrap="square" lIns="0" tIns="0" rIns="0" bIns="0" rtlCol="0" anchor="ctr"/>
          <a:lstStyle/>
          <a:p>
            <a:pPr marL="0" indent="0" algn="l">
              <a:buNone/>
            </a:pPr>
            <a:r>
              <a:rPr lang="en-US" sz="3200" b="1" dirty="0">
                <a:solidFill>
                  <a:schemeClr val="tx1"/>
                </a:solidFill>
              </a:rPr>
              <a:t>Streaming pipeline: designed, code skeleton in place</a:t>
            </a:r>
            <a:endParaRPr lang="en-US" sz="3200" dirty="0"/>
          </a:p>
        </p:txBody>
      </p:sp>
      <p:sp>
        <p:nvSpPr>
          <p:cNvPr id="4" name="Minute bars"/>
          <p:cNvSpPr/>
          <p:nvPr/>
        </p:nvSpPr>
        <p:spPr>
          <a:xfrm>
            <a:off x="548640" y="1463040"/>
            <a:ext cx="1920240" cy="1828800"/>
          </a:xfrm>
          <a:prstGeom prst="roundRect">
            <a:avLst>
              <a:gd name="adj" fmla="val 5000"/>
            </a:avLst>
          </a:prstGeom>
          <a:solidFill>
            <a:schemeClr val="accent1">
              <a:alpha val="12000"/>
            </a:schemeClr>
          </a:solidFill>
          <a:ln w="15875">
            <a:solidFill>
              <a:schemeClr val="accent1"/>
            </a:solidFill>
            <a:prstDash val="solid"/>
          </a:ln>
        </p:spPr>
      </p:sp>
      <p:pic>
        <p:nvPicPr>
          <p:cNvPr id="5" name="Image 0" descr="Minute bars"/>
          <p:cNvPicPr>
            <a:picLocks noChangeAspect="1"/>
          </p:cNvPicPr>
          <p:nvPr/>
        </p:nvPicPr>
        <p:blipFill>
          <a:blip r:embed="rId1"/>
          <a:stretch>
            <a:fillRect/>
          </a:stretch>
        </p:blipFill>
        <p:spPr>
          <a:xfrm>
            <a:off x="685800" y="1600200"/>
            <a:ext cx="329184" cy="329184"/>
          </a:xfrm>
          <a:prstGeom prst="rect">
            <a:avLst/>
          </a:prstGeom>
        </p:spPr>
      </p:pic>
      <p:sp>
        <p:nvSpPr>
          <p:cNvPr id="6" name="Text 2"/>
          <p:cNvSpPr txBox="1"/>
          <p:nvPr/>
        </p:nvSpPr>
        <p:spPr>
          <a:xfrm>
            <a:off x="685800" y="2011680"/>
            <a:ext cx="1645920" cy="274320"/>
          </a:xfrm>
          <a:prstGeom prst="rect">
            <a:avLst/>
          </a:prstGeom>
          <a:noFill/>
        </p:spPr>
        <p:txBody>
          <a:bodyPr wrap="square" lIns="0" tIns="0" rIns="0" bIns="0" rtlCol="0" anchor="t"/>
          <a:lstStyle/>
          <a:p>
            <a:pPr marL="0" indent="0">
              <a:buNone/>
            </a:pPr>
            <a:r>
              <a:rPr lang="en-US" sz="1400" b="1" dirty="0">
                <a:solidFill>
                  <a:schemeClr val="tx1"/>
                </a:solidFill>
              </a:rPr>
              <a:t>Minute bars</a:t>
            </a:r>
            <a:endParaRPr lang="en-US" sz="1400" dirty="0"/>
          </a:p>
        </p:txBody>
      </p:sp>
      <p:sp>
        <p:nvSpPr>
          <p:cNvPr id="7" name="Text 3"/>
          <p:cNvSpPr txBox="1"/>
          <p:nvPr/>
        </p:nvSpPr>
        <p:spPr>
          <a:xfrm>
            <a:off x="685800" y="2304288"/>
            <a:ext cx="1645920" cy="914400"/>
          </a:xfrm>
          <a:prstGeom prst="rect">
            <a:avLst/>
          </a:prstGeom>
          <a:noFill/>
        </p:spPr>
        <p:txBody>
          <a:bodyPr wrap="square" lIns="0" tIns="0" rIns="0" bIns="0" rtlCol="0" anchor="t"/>
          <a:lstStyle/>
          <a:p>
            <a:pPr marL="0" indent="0">
              <a:buNone/>
            </a:pPr>
            <a:r>
              <a:rPr lang="en-US" sz="1100" dirty="0">
                <a:solidFill>
                  <a:schemeClr val="tx2"/>
                </a:solidFill>
              </a:rPr>
              <a:t>30M synthetic rows from etl/generate_synthetic.py</a:t>
            </a:r>
            <a:endParaRPr lang="en-US" sz="1100" dirty="0"/>
          </a:p>
        </p:txBody>
      </p:sp>
      <p:sp>
        <p:nvSpPr>
          <p:cNvPr id="8" name="Shape 4"/>
          <p:cNvSpPr/>
          <p:nvPr/>
        </p:nvSpPr>
        <p:spPr>
          <a:xfrm>
            <a:off x="2496312" y="2377440"/>
            <a:ext cx="310896" cy="0"/>
          </a:xfrm>
          <a:prstGeom prst="line">
            <a:avLst/>
          </a:prstGeom>
          <a:noFill/>
          <a:ln w="19050">
            <a:solidFill>
              <a:schemeClr val="accent5"/>
            </a:solidFill>
            <a:prstDash val="solid"/>
            <a:tailEnd type="triangle"/>
          </a:ln>
        </p:spPr>
      </p:sp>
      <p:sp>
        <p:nvSpPr>
          <p:cNvPr id="9" name="Replay producer"/>
          <p:cNvSpPr/>
          <p:nvPr/>
        </p:nvSpPr>
        <p:spPr>
          <a:xfrm>
            <a:off x="2834640" y="1463040"/>
            <a:ext cx="1920240" cy="1828800"/>
          </a:xfrm>
          <a:prstGeom prst="roundRect">
            <a:avLst>
              <a:gd name="adj" fmla="val 5000"/>
            </a:avLst>
          </a:prstGeom>
          <a:solidFill>
            <a:schemeClr val="bg1"/>
          </a:solidFill>
          <a:ln w="15875">
            <a:solidFill>
              <a:schemeClr val="accent5"/>
            </a:solidFill>
            <a:prstDash val="dash"/>
          </a:ln>
        </p:spPr>
      </p:sp>
      <p:pic>
        <p:nvPicPr>
          <p:cNvPr id="10" name="Image 1" descr="Replay producer"/>
          <p:cNvPicPr>
            <a:picLocks noChangeAspect="1"/>
          </p:cNvPicPr>
          <p:nvPr/>
        </p:nvPicPr>
        <p:blipFill>
          <a:blip r:embed="rId2"/>
          <a:stretch>
            <a:fillRect/>
          </a:stretch>
        </p:blipFill>
        <p:spPr>
          <a:xfrm>
            <a:off x="2971800" y="1600200"/>
            <a:ext cx="329184" cy="329184"/>
          </a:xfrm>
          <a:prstGeom prst="rect">
            <a:avLst/>
          </a:prstGeom>
        </p:spPr>
      </p:pic>
      <p:sp>
        <p:nvSpPr>
          <p:cNvPr id="11" name="Text 6"/>
          <p:cNvSpPr txBox="1"/>
          <p:nvPr/>
        </p:nvSpPr>
        <p:spPr>
          <a:xfrm>
            <a:off x="2971800" y="2011680"/>
            <a:ext cx="1645920" cy="274320"/>
          </a:xfrm>
          <a:prstGeom prst="rect">
            <a:avLst/>
          </a:prstGeom>
          <a:noFill/>
        </p:spPr>
        <p:txBody>
          <a:bodyPr wrap="square" lIns="0" tIns="0" rIns="0" bIns="0" rtlCol="0" anchor="t"/>
          <a:lstStyle/>
          <a:p>
            <a:pPr marL="0" indent="0">
              <a:buNone/>
            </a:pPr>
            <a:r>
              <a:rPr lang="en-US" sz="1400" b="1" dirty="0">
                <a:solidFill>
                  <a:schemeClr val="tx1"/>
                </a:solidFill>
              </a:rPr>
              <a:t>Replay producer</a:t>
            </a:r>
            <a:endParaRPr lang="en-US" sz="1400" dirty="0"/>
          </a:p>
        </p:txBody>
      </p:sp>
      <p:sp>
        <p:nvSpPr>
          <p:cNvPr id="12" name="Text 7"/>
          <p:cNvSpPr txBox="1"/>
          <p:nvPr/>
        </p:nvSpPr>
        <p:spPr>
          <a:xfrm>
            <a:off x="2971800" y="2304288"/>
            <a:ext cx="1645920" cy="914400"/>
          </a:xfrm>
          <a:prstGeom prst="rect">
            <a:avLst/>
          </a:prstGeom>
          <a:noFill/>
        </p:spPr>
        <p:txBody>
          <a:bodyPr wrap="square" lIns="0" tIns="0" rIns="0" bIns="0" rtlCol="0" anchor="t"/>
          <a:lstStyle/>
          <a:p>
            <a:pPr marL="0" indent="0">
              <a:buNone/>
            </a:pPr>
            <a:r>
              <a:rPr lang="en-US" sz="1100" dirty="0">
                <a:solidFill>
                  <a:schemeClr val="tx2"/>
                </a:solidFill>
              </a:rPr>
              <a:t>Publish bars at a controlled rate</a:t>
            </a:r>
            <a:endParaRPr lang="en-US" sz="1100" dirty="0"/>
          </a:p>
        </p:txBody>
      </p:sp>
      <p:sp>
        <p:nvSpPr>
          <p:cNvPr id="13" name="Shape 8"/>
          <p:cNvSpPr/>
          <p:nvPr/>
        </p:nvSpPr>
        <p:spPr>
          <a:xfrm>
            <a:off x="4782312" y="2377440"/>
            <a:ext cx="310896" cy="0"/>
          </a:xfrm>
          <a:prstGeom prst="line">
            <a:avLst/>
          </a:prstGeom>
          <a:noFill/>
          <a:ln w="19050">
            <a:solidFill>
              <a:schemeClr val="accent5"/>
            </a:solidFill>
            <a:prstDash val="solid"/>
            <a:tailEnd type="triangle"/>
          </a:ln>
        </p:spPr>
      </p:sp>
      <p:sp>
        <p:nvSpPr>
          <p:cNvPr id="14" name="Kafka"/>
          <p:cNvSpPr/>
          <p:nvPr/>
        </p:nvSpPr>
        <p:spPr>
          <a:xfrm>
            <a:off x="5120640" y="1463040"/>
            <a:ext cx="1920240" cy="1828800"/>
          </a:xfrm>
          <a:prstGeom prst="roundRect">
            <a:avLst>
              <a:gd name="adj" fmla="val 5000"/>
            </a:avLst>
          </a:prstGeom>
          <a:solidFill>
            <a:schemeClr val="bg1"/>
          </a:solidFill>
          <a:ln w="15875">
            <a:solidFill>
              <a:schemeClr val="accent5"/>
            </a:solidFill>
            <a:prstDash val="dash"/>
          </a:ln>
        </p:spPr>
      </p:sp>
      <p:pic>
        <p:nvPicPr>
          <p:cNvPr id="15" name="Image 2" descr="Kafka"/>
          <p:cNvPicPr>
            <a:picLocks noChangeAspect="1"/>
          </p:cNvPicPr>
          <p:nvPr/>
        </p:nvPicPr>
        <p:blipFill>
          <a:blip r:embed="rId3"/>
          <a:stretch>
            <a:fillRect/>
          </a:stretch>
        </p:blipFill>
        <p:spPr>
          <a:xfrm>
            <a:off x="5257800" y="1600200"/>
            <a:ext cx="329184" cy="329184"/>
          </a:xfrm>
          <a:prstGeom prst="rect">
            <a:avLst/>
          </a:prstGeom>
        </p:spPr>
      </p:pic>
      <p:sp>
        <p:nvSpPr>
          <p:cNvPr id="16" name="Text 10"/>
          <p:cNvSpPr txBox="1"/>
          <p:nvPr/>
        </p:nvSpPr>
        <p:spPr>
          <a:xfrm>
            <a:off x="5257800" y="2011680"/>
            <a:ext cx="1645920" cy="274320"/>
          </a:xfrm>
          <a:prstGeom prst="rect">
            <a:avLst/>
          </a:prstGeom>
          <a:noFill/>
        </p:spPr>
        <p:txBody>
          <a:bodyPr wrap="square" lIns="0" tIns="0" rIns="0" bIns="0" rtlCol="0" anchor="t"/>
          <a:lstStyle/>
          <a:p>
            <a:pPr marL="0" indent="0">
              <a:buNone/>
            </a:pPr>
            <a:r>
              <a:rPr lang="en-US" sz="1400" b="1" dirty="0">
                <a:solidFill>
                  <a:schemeClr val="tx1"/>
                </a:solidFill>
              </a:rPr>
              <a:t>Kafka</a:t>
            </a:r>
            <a:endParaRPr lang="en-US" sz="1400" dirty="0"/>
          </a:p>
        </p:txBody>
      </p:sp>
      <p:sp>
        <p:nvSpPr>
          <p:cNvPr id="17" name="Text 11"/>
          <p:cNvSpPr txBox="1"/>
          <p:nvPr/>
        </p:nvSpPr>
        <p:spPr>
          <a:xfrm>
            <a:off x="5257800" y="2304288"/>
            <a:ext cx="1645920" cy="914400"/>
          </a:xfrm>
          <a:prstGeom prst="rect">
            <a:avLst/>
          </a:prstGeom>
          <a:noFill/>
        </p:spPr>
        <p:txBody>
          <a:bodyPr wrap="square" lIns="0" tIns="0" rIns="0" bIns="0" rtlCol="0" anchor="t"/>
          <a:lstStyle/>
          <a:p>
            <a:pPr marL="0" indent="0">
              <a:buNone/>
            </a:pPr>
            <a:r>
              <a:rPr lang="en-US" sz="1100" dirty="0">
                <a:solidFill>
                  <a:schemeClr val="tx2"/>
                </a:solidFill>
              </a:rPr>
              <a:t>topic stock-quotes, KRaft mode</a:t>
            </a:r>
            <a:endParaRPr lang="en-US" sz="1100" dirty="0"/>
          </a:p>
        </p:txBody>
      </p:sp>
      <p:sp>
        <p:nvSpPr>
          <p:cNvPr id="18" name="Shape 12"/>
          <p:cNvSpPr/>
          <p:nvPr/>
        </p:nvSpPr>
        <p:spPr>
          <a:xfrm>
            <a:off x="7068312" y="2377440"/>
            <a:ext cx="310896" cy="0"/>
          </a:xfrm>
          <a:prstGeom prst="line">
            <a:avLst/>
          </a:prstGeom>
          <a:noFill/>
          <a:ln w="19050">
            <a:solidFill>
              <a:schemeClr val="accent5"/>
            </a:solidFill>
            <a:prstDash val="solid"/>
            <a:tailEnd type="triangle"/>
          </a:ln>
        </p:spPr>
      </p:sp>
      <p:sp>
        <p:nvSpPr>
          <p:cNvPr id="19" name="Structured Streaming"/>
          <p:cNvSpPr/>
          <p:nvPr/>
        </p:nvSpPr>
        <p:spPr>
          <a:xfrm>
            <a:off x="7406640" y="1463040"/>
            <a:ext cx="1920240" cy="1828800"/>
          </a:xfrm>
          <a:prstGeom prst="roundRect">
            <a:avLst>
              <a:gd name="adj" fmla="val 5000"/>
            </a:avLst>
          </a:prstGeom>
          <a:solidFill>
            <a:schemeClr val="accent2">
              <a:alpha val="18000"/>
            </a:schemeClr>
          </a:solidFill>
          <a:ln w="15875">
            <a:solidFill>
              <a:schemeClr val="accent2"/>
            </a:solidFill>
            <a:prstDash val="solid"/>
          </a:ln>
        </p:spPr>
      </p:sp>
      <p:pic>
        <p:nvPicPr>
          <p:cNvPr id="20" name="Image 3" descr="Structured Streaming"/>
          <p:cNvPicPr>
            <a:picLocks noChangeAspect="1"/>
          </p:cNvPicPr>
          <p:nvPr/>
        </p:nvPicPr>
        <p:blipFill>
          <a:blip r:embed="rId4"/>
          <a:stretch>
            <a:fillRect/>
          </a:stretch>
        </p:blipFill>
        <p:spPr>
          <a:xfrm>
            <a:off x="7543800" y="1600200"/>
            <a:ext cx="329184" cy="329184"/>
          </a:xfrm>
          <a:prstGeom prst="rect">
            <a:avLst/>
          </a:prstGeom>
        </p:spPr>
      </p:pic>
      <p:sp>
        <p:nvSpPr>
          <p:cNvPr id="21" name="Text 14"/>
          <p:cNvSpPr txBox="1"/>
          <p:nvPr/>
        </p:nvSpPr>
        <p:spPr>
          <a:xfrm>
            <a:off x="7543800" y="2011680"/>
            <a:ext cx="1645920" cy="274320"/>
          </a:xfrm>
          <a:prstGeom prst="rect">
            <a:avLst/>
          </a:prstGeom>
          <a:noFill/>
        </p:spPr>
        <p:txBody>
          <a:bodyPr wrap="square" lIns="0" tIns="0" rIns="0" bIns="0" rtlCol="0" anchor="t"/>
          <a:lstStyle/>
          <a:p>
            <a:pPr marL="0" indent="0">
              <a:buNone/>
            </a:pPr>
            <a:r>
              <a:rPr lang="en-US" sz="1400" b="1" dirty="0">
                <a:solidFill>
                  <a:schemeClr val="tx1"/>
                </a:solidFill>
              </a:rPr>
              <a:t>Structured Streaming</a:t>
            </a:r>
            <a:endParaRPr lang="en-US" sz="1400" dirty="0"/>
          </a:p>
        </p:txBody>
      </p:sp>
      <p:sp>
        <p:nvSpPr>
          <p:cNvPr id="22" name="Text 15"/>
          <p:cNvSpPr txBox="1"/>
          <p:nvPr/>
        </p:nvSpPr>
        <p:spPr>
          <a:xfrm>
            <a:off x="7543800" y="2304288"/>
            <a:ext cx="1645920" cy="914400"/>
          </a:xfrm>
          <a:prstGeom prst="rect">
            <a:avLst/>
          </a:prstGeom>
          <a:noFill/>
        </p:spPr>
        <p:txBody>
          <a:bodyPr wrap="square" lIns="0" tIns="0" rIns="0" bIns="0" rtlCol="0" anchor="t"/>
          <a:lstStyle/>
          <a:p>
            <a:pPr marL="0" indent="0">
              <a:buNone/>
            </a:pPr>
            <a:r>
              <a:rPr lang="en-US" sz="1100" dirty="0">
                <a:solidFill>
                  <a:schemeClr val="tx2"/>
                </a:solidFill>
              </a:rPr>
              <a:t>streaming_ingest.py, checkpoints on MinIO</a:t>
            </a:r>
            <a:endParaRPr lang="en-US" sz="1100" dirty="0"/>
          </a:p>
        </p:txBody>
      </p:sp>
      <p:sp>
        <p:nvSpPr>
          <p:cNvPr id="23" name="Shape 16"/>
          <p:cNvSpPr/>
          <p:nvPr/>
        </p:nvSpPr>
        <p:spPr>
          <a:xfrm>
            <a:off x="9354312" y="2377440"/>
            <a:ext cx="310896" cy="0"/>
          </a:xfrm>
          <a:prstGeom prst="line">
            <a:avLst/>
          </a:prstGeom>
          <a:noFill/>
          <a:ln w="19050">
            <a:solidFill>
              <a:schemeClr val="accent5"/>
            </a:solidFill>
            <a:prstDash val="solid"/>
            <a:tailEnd type="triangle"/>
          </a:ln>
        </p:spPr>
      </p:sp>
      <p:sp>
        <p:nvSpPr>
          <p:cNvPr id="24" name="Iceberg"/>
          <p:cNvSpPr/>
          <p:nvPr/>
        </p:nvSpPr>
        <p:spPr>
          <a:xfrm>
            <a:off x="9692640" y="1463040"/>
            <a:ext cx="1920240" cy="1828800"/>
          </a:xfrm>
          <a:prstGeom prst="roundRect">
            <a:avLst>
              <a:gd name="adj" fmla="val 5000"/>
            </a:avLst>
          </a:prstGeom>
          <a:solidFill>
            <a:schemeClr val="accent2">
              <a:alpha val="18000"/>
            </a:schemeClr>
          </a:solidFill>
          <a:ln w="15875">
            <a:solidFill>
              <a:schemeClr val="accent2"/>
            </a:solidFill>
            <a:prstDash val="solid"/>
          </a:ln>
        </p:spPr>
      </p:sp>
      <p:pic>
        <p:nvPicPr>
          <p:cNvPr id="25" name="Image 4" descr="Iceberg"/>
          <p:cNvPicPr>
            <a:picLocks noChangeAspect="1"/>
          </p:cNvPicPr>
          <p:nvPr/>
        </p:nvPicPr>
        <p:blipFill>
          <a:blip r:embed="rId5"/>
          <a:stretch>
            <a:fillRect/>
          </a:stretch>
        </p:blipFill>
        <p:spPr>
          <a:xfrm>
            <a:off x="9829800" y="1600200"/>
            <a:ext cx="329184" cy="329184"/>
          </a:xfrm>
          <a:prstGeom prst="rect">
            <a:avLst/>
          </a:prstGeom>
        </p:spPr>
      </p:pic>
      <p:sp>
        <p:nvSpPr>
          <p:cNvPr id="26" name="Text 18"/>
          <p:cNvSpPr txBox="1"/>
          <p:nvPr/>
        </p:nvSpPr>
        <p:spPr>
          <a:xfrm>
            <a:off x="9829800" y="2011680"/>
            <a:ext cx="1645920" cy="274320"/>
          </a:xfrm>
          <a:prstGeom prst="rect">
            <a:avLst/>
          </a:prstGeom>
          <a:noFill/>
        </p:spPr>
        <p:txBody>
          <a:bodyPr wrap="square" lIns="0" tIns="0" rIns="0" bIns="0" rtlCol="0" anchor="t"/>
          <a:lstStyle/>
          <a:p>
            <a:pPr marL="0" indent="0">
              <a:buNone/>
            </a:pPr>
            <a:r>
              <a:rPr lang="en-US" sz="1400" b="1" dirty="0">
                <a:solidFill>
                  <a:schemeClr val="tx1"/>
                </a:solidFill>
              </a:rPr>
              <a:t>Iceberg</a:t>
            </a:r>
            <a:endParaRPr lang="en-US" sz="1400" dirty="0"/>
          </a:p>
        </p:txBody>
      </p:sp>
      <p:sp>
        <p:nvSpPr>
          <p:cNvPr id="27" name="Text 19"/>
          <p:cNvSpPr txBox="1"/>
          <p:nvPr/>
        </p:nvSpPr>
        <p:spPr>
          <a:xfrm>
            <a:off x="9829800" y="2304288"/>
            <a:ext cx="1645920" cy="914400"/>
          </a:xfrm>
          <a:prstGeom prst="rect">
            <a:avLst/>
          </a:prstGeom>
          <a:noFill/>
        </p:spPr>
        <p:txBody>
          <a:bodyPr wrap="square" lIns="0" tIns="0" rIns="0" bIns="0" rtlCol="0" anchor="t"/>
          <a:lstStyle/>
          <a:p>
            <a:pPr marL="0" indent="0">
              <a:buNone/>
            </a:pPr>
            <a:r>
              <a:rPr lang="en-US" sz="1100" dirty="0">
                <a:solidFill>
                  <a:schemeClr val="tx2"/>
                </a:solidFill>
              </a:rPr>
              <a:t>append to iceberg.stock.quotes_raw</a:t>
            </a:r>
            <a:endParaRPr lang="en-US" sz="1100" dirty="0"/>
          </a:p>
        </p:txBody>
      </p:sp>
      <p:sp>
        <p:nvSpPr>
          <p:cNvPr id="28" name="Shape 20"/>
          <p:cNvSpPr/>
          <p:nvPr/>
        </p:nvSpPr>
        <p:spPr>
          <a:xfrm>
            <a:off x="548640" y="3511296"/>
            <a:ext cx="329184" cy="201168"/>
          </a:xfrm>
          <a:prstGeom prst="roundRect">
            <a:avLst>
              <a:gd name="adj" fmla="val 22727"/>
            </a:avLst>
          </a:prstGeom>
          <a:solidFill>
            <a:schemeClr val="accent1">
              <a:alpha val="12000"/>
            </a:schemeClr>
          </a:solidFill>
          <a:ln w="15875">
            <a:solidFill>
              <a:schemeClr val="accent1"/>
            </a:solidFill>
            <a:prstDash val="solid"/>
          </a:ln>
        </p:spPr>
      </p:sp>
      <p:sp>
        <p:nvSpPr>
          <p:cNvPr id="29" name="Text 21"/>
          <p:cNvSpPr txBox="1"/>
          <p:nvPr/>
        </p:nvSpPr>
        <p:spPr>
          <a:xfrm>
            <a:off x="969264" y="3474720"/>
            <a:ext cx="2560320" cy="274320"/>
          </a:xfrm>
          <a:prstGeom prst="rect">
            <a:avLst/>
          </a:prstGeom>
          <a:noFill/>
        </p:spPr>
        <p:txBody>
          <a:bodyPr wrap="square" lIns="0" tIns="0" rIns="0" bIns="0" rtlCol="0" anchor="ctr"/>
          <a:lstStyle/>
          <a:p>
            <a:pPr marL="0" indent="0">
              <a:buNone/>
            </a:pPr>
            <a:r>
              <a:rPr lang="en-US" sz="1100" dirty="0">
                <a:solidFill>
                  <a:schemeClr val="tx2"/>
                </a:solidFill>
              </a:rPr>
              <a:t>Running / done</a:t>
            </a:r>
            <a:endParaRPr lang="en-US" sz="1100" dirty="0"/>
          </a:p>
        </p:txBody>
      </p:sp>
      <p:sp>
        <p:nvSpPr>
          <p:cNvPr id="30" name="Shape 22"/>
          <p:cNvSpPr/>
          <p:nvPr/>
        </p:nvSpPr>
        <p:spPr>
          <a:xfrm>
            <a:off x="2386584" y="3511296"/>
            <a:ext cx="329184" cy="201168"/>
          </a:xfrm>
          <a:prstGeom prst="roundRect">
            <a:avLst>
              <a:gd name="adj" fmla="val 22727"/>
            </a:avLst>
          </a:prstGeom>
          <a:solidFill>
            <a:schemeClr val="accent2">
              <a:alpha val="18000"/>
            </a:schemeClr>
          </a:solidFill>
          <a:ln w="15875">
            <a:solidFill>
              <a:schemeClr val="accent2"/>
            </a:solidFill>
            <a:prstDash val="solid"/>
          </a:ln>
        </p:spPr>
      </p:sp>
      <p:sp>
        <p:nvSpPr>
          <p:cNvPr id="31" name="Text 23"/>
          <p:cNvSpPr txBox="1"/>
          <p:nvPr/>
        </p:nvSpPr>
        <p:spPr>
          <a:xfrm>
            <a:off x="2807208" y="3474720"/>
            <a:ext cx="2560320" cy="274320"/>
          </a:xfrm>
          <a:prstGeom prst="rect">
            <a:avLst/>
          </a:prstGeom>
          <a:noFill/>
        </p:spPr>
        <p:txBody>
          <a:bodyPr wrap="square" lIns="0" tIns="0" rIns="0" bIns="0" rtlCol="0" anchor="ctr"/>
          <a:lstStyle/>
          <a:p>
            <a:pPr marL="0" indent="0">
              <a:buNone/>
            </a:pPr>
            <a:r>
              <a:rPr lang="en-US" sz="1100" dirty="0">
                <a:solidFill>
                  <a:schemeClr val="tx2"/>
                </a:solidFill>
              </a:rPr>
              <a:t>Code written or tested locally</a:t>
            </a:r>
            <a:endParaRPr lang="en-US" sz="1100" dirty="0"/>
          </a:p>
        </p:txBody>
      </p:sp>
      <p:sp>
        <p:nvSpPr>
          <p:cNvPr id="32" name="Shape 24"/>
          <p:cNvSpPr/>
          <p:nvPr/>
        </p:nvSpPr>
        <p:spPr>
          <a:xfrm>
            <a:off x="5321808" y="3511296"/>
            <a:ext cx="329184" cy="201168"/>
          </a:xfrm>
          <a:prstGeom prst="roundRect">
            <a:avLst>
              <a:gd name="adj" fmla="val 22727"/>
            </a:avLst>
          </a:prstGeom>
          <a:solidFill>
            <a:schemeClr val="bg1"/>
          </a:solidFill>
          <a:ln w="15875">
            <a:solidFill>
              <a:schemeClr val="accent5"/>
            </a:solidFill>
            <a:prstDash val="dash"/>
          </a:ln>
        </p:spPr>
      </p:sp>
      <p:sp>
        <p:nvSpPr>
          <p:cNvPr id="33" name="Text 25"/>
          <p:cNvSpPr txBox="1"/>
          <p:nvPr/>
        </p:nvSpPr>
        <p:spPr>
          <a:xfrm>
            <a:off x="5742432" y="3474720"/>
            <a:ext cx="2560320" cy="274320"/>
          </a:xfrm>
          <a:prstGeom prst="rect">
            <a:avLst/>
          </a:prstGeom>
          <a:noFill/>
        </p:spPr>
        <p:txBody>
          <a:bodyPr wrap="square" lIns="0" tIns="0" rIns="0" bIns="0" rtlCol="0" anchor="ctr"/>
          <a:lstStyle/>
          <a:p>
            <a:pPr marL="0" indent="0">
              <a:buNone/>
            </a:pPr>
            <a:r>
              <a:rPr lang="en-US" sz="1100" dirty="0">
                <a:solidFill>
                  <a:schemeClr val="tx2"/>
                </a:solidFill>
              </a:rPr>
              <a:t>Planned</a:t>
            </a:r>
            <a:endParaRPr lang="en-US" sz="1100" dirty="0"/>
          </a:p>
        </p:txBody>
      </p:sp>
      <p:sp>
        <p:nvSpPr>
          <p:cNvPr id="34" name="Why a streaming path"/>
          <p:cNvSpPr/>
          <p:nvPr/>
        </p:nvSpPr>
        <p:spPr>
          <a:xfrm>
            <a:off x="548640" y="3977640"/>
            <a:ext cx="5394960" cy="2057400"/>
          </a:xfrm>
          <a:prstGeom prst="roundRect">
            <a:avLst>
              <a:gd name="adj" fmla="val 5333"/>
            </a:avLst>
          </a:prstGeom>
          <a:solidFill>
            <a:schemeClr val="bg2"/>
          </a:solidFill>
        </p:spPr>
      </p:sp>
      <p:sp>
        <p:nvSpPr>
          <p:cNvPr id="35" name="Text 27"/>
          <p:cNvSpPr txBox="1"/>
          <p:nvPr/>
        </p:nvSpPr>
        <p:spPr>
          <a:xfrm>
            <a:off x="822960" y="4160520"/>
            <a:ext cx="4846320" cy="365760"/>
          </a:xfrm>
          <a:prstGeom prst="rect">
            <a:avLst/>
          </a:prstGeom>
          <a:noFill/>
        </p:spPr>
        <p:txBody>
          <a:bodyPr wrap="square" lIns="0" tIns="0" rIns="0" bIns="0" rtlCol="0" anchor="t"/>
          <a:lstStyle/>
          <a:p>
            <a:pPr marL="0" indent="0">
              <a:buNone/>
            </a:pPr>
            <a:r>
              <a:rPr lang="en-US" sz="1700" b="1" dirty="0">
                <a:solidFill>
                  <a:schemeClr val="tx1"/>
                </a:solidFill>
              </a:rPr>
              <a:t>Why a streaming path</a:t>
            </a:r>
            <a:endParaRPr lang="en-US" sz="1700" dirty="0"/>
          </a:p>
        </p:txBody>
      </p:sp>
      <p:sp>
        <p:nvSpPr>
          <p:cNvPr id="36" name="Text 28"/>
          <p:cNvSpPr txBox="1"/>
          <p:nvPr/>
        </p:nvSpPr>
        <p:spPr>
          <a:xfrm>
            <a:off x="822960" y="4617720"/>
            <a:ext cx="4892040" cy="1325880"/>
          </a:xfrm>
          <a:prstGeom prst="rect">
            <a:avLst/>
          </a:prstGeom>
          <a:noFill/>
        </p:spPr>
        <p:txBody>
          <a:bodyPr wrap="square" lIns="0" tIns="0" rIns="0" bIns="0" rtlCol="0" anchor="t"/>
          <a:lstStyle/>
          <a:p>
            <a:pPr marL="177800" indent="-177800">
              <a:spcAft>
                <a:spcPts val="600"/>
              </a:spcAft>
              <a:buSzPct val="100000"/>
              <a:buChar char="•"/>
            </a:pPr>
            <a:r>
              <a:rPr lang="en-US" sz="1400" dirty="0">
                <a:solidFill>
                  <a:schemeClr val="tx2"/>
                </a:solidFill>
              </a:rPr>
              <a:t>Lambda architecture (L09): batch layer for history, speed layer for intraday data</a:t>
            </a:r>
            <a:endParaRPr lang="en-US" sz="1400" dirty="0"/>
          </a:p>
          <a:p>
            <a:pPr marL="177800" indent="-177800">
              <a:spcAft>
                <a:spcPts val="600"/>
              </a:spcAft>
              <a:buSzPct val="100000"/>
              <a:buChar char="•"/>
            </a:pPr>
            <a:r>
              <a:rPr lang="en-US" sz="1400" dirty="0">
                <a:solidFill>
                  <a:schemeClr val="tx2"/>
                </a:solidFill>
              </a:rPr>
              <a:t>Both layers land in the same Iceberg catalog, queried by Trino</a:t>
            </a:r>
            <a:endParaRPr lang="en-US" sz="1400" dirty="0"/>
          </a:p>
        </p:txBody>
      </p:sp>
      <p:sp>
        <p:nvSpPr>
          <p:cNvPr id="37" name="What we will measure"/>
          <p:cNvSpPr/>
          <p:nvPr/>
        </p:nvSpPr>
        <p:spPr>
          <a:xfrm>
            <a:off x="6217920" y="3977640"/>
            <a:ext cx="5394960" cy="2057400"/>
          </a:xfrm>
          <a:prstGeom prst="roundRect">
            <a:avLst>
              <a:gd name="adj" fmla="val 5333"/>
            </a:avLst>
          </a:prstGeom>
          <a:solidFill>
            <a:schemeClr val="bg2"/>
          </a:solidFill>
        </p:spPr>
      </p:sp>
      <p:sp>
        <p:nvSpPr>
          <p:cNvPr id="38" name="Text 30"/>
          <p:cNvSpPr txBox="1"/>
          <p:nvPr/>
        </p:nvSpPr>
        <p:spPr>
          <a:xfrm>
            <a:off x="6492240" y="4160520"/>
            <a:ext cx="4846320" cy="365760"/>
          </a:xfrm>
          <a:prstGeom prst="rect">
            <a:avLst/>
          </a:prstGeom>
          <a:noFill/>
        </p:spPr>
        <p:txBody>
          <a:bodyPr wrap="square" lIns="0" tIns="0" rIns="0" bIns="0" rtlCol="0" anchor="t"/>
          <a:lstStyle/>
          <a:p>
            <a:pPr marL="0" indent="0">
              <a:buNone/>
            </a:pPr>
            <a:r>
              <a:rPr lang="en-US" sz="1700" b="1" dirty="0">
                <a:solidFill>
                  <a:schemeClr val="tx1"/>
                </a:solidFill>
              </a:rPr>
              <a:t>What we will measure</a:t>
            </a:r>
            <a:endParaRPr lang="en-US" sz="1700" dirty="0"/>
          </a:p>
        </p:txBody>
      </p:sp>
      <p:sp>
        <p:nvSpPr>
          <p:cNvPr id="39" name="Text 31"/>
          <p:cNvSpPr txBox="1"/>
          <p:nvPr/>
        </p:nvSpPr>
        <p:spPr>
          <a:xfrm>
            <a:off x="6492240" y="4617720"/>
            <a:ext cx="4892040" cy="1325880"/>
          </a:xfrm>
          <a:prstGeom prst="rect">
            <a:avLst/>
          </a:prstGeom>
          <a:noFill/>
        </p:spPr>
        <p:txBody>
          <a:bodyPr wrap="square" lIns="0" tIns="0" rIns="0" bIns="0" rtlCol="0" anchor="t"/>
          <a:lstStyle/>
          <a:p>
            <a:pPr marL="177800" indent="-177800">
              <a:spcAft>
                <a:spcPts val="600"/>
              </a:spcAft>
              <a:buSzPct val="100000"/>
              <a:buChar char="•"/>
            </a:pPr>
            <a:r>
              <a:rPr lang="en-US" sz="1400" dirty="0">
                <a:solidFill>
                  <a:schemeClr val="tx2"/>
                </a:solidFill>
              </a:rPr>
              <a:t>Throughput: messages/s through Kafka → Spark → Iceberg on 30M rows</a:t>
            </a:r>
            <a:endParaRPr lang="en-US" sz="1400" dirty="0"/>
          </a:p>
          <a:p>
            <a:pPr marL="177800" indent="-177800">
              <a:spcAft>
                <a:spcPts val="600"/>
              </a:spcAft>
              <a:buSzPct val="100000"/>
              <a:buChar char="•"/>
            </a:pPr>
            <a:r>
              <a:rPr lang="en-US" sz="1400" dirty="0">
                <a:solidFill>
                  <a:schemeClr val="tx2"/>
                </a:solidFill>
              </a:rPr>
              <a:t>End-to-end latency and checkpoint recovery after a pod restart</a:t>
            </a:r>
            <a:endParaRPr lang="en-US" sz="1400" dirty="0"/>
          </a:p>
        </p:txBody>
      </p:sp>
      <p:sp>
        <p:nvSpPr>
          <p:cNvPr id="3" name="Slide Number Placeholder 0"/>
          <p:cNvSpPr>
            <a:spLocks noGrp="1"/>
          </p:cNvSpPr>
          <p:nvPr>
            <p:ph type="sldNum" sz="quarter" idx="4294967295"/>
          </p:nvPr>
        </p:nvSpPr>
        <p:spPr>
          <a:xfrm>
            <a:off x="11155680" y="6355080"/>
            <a:ext cx="457200" cy="274320"/>
          </a:xfrm>
          <a:prstGeom prst="rect">
            <a:avLst/>
          </a:prstGeom>
        </p:spPr>
        <p:txBody>
          <a:bodyPr/>
          <a:lstStyle>
            <a:lvl1pPr>
              <a:defRPr sz="1000">
                <a:solidFill>
                  <a:schemeClr val="accent5"/>
                </a:solidFill>
              </a:defRPr>
            </a:lvl1pPr>
          </a:lstStyle>
          <a:p>
            <a:pPr algn="r"/>
            <a:fld id="{F7021451-1387-4CA6-816F-3879F97B5CBC}" type="slidenum">
              <a:rPr lang="en-US" b="0"/>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0" hasCustomPrompt="1"/>
          </p:nvPr>
        </p:nvSpPr>
        <p:spPr>
          <a:xfrm>
            <a:off x="548640" y="320040"/>
            <a:ext cx="11064240" cy="777240"/>
          </a:xfrm>
          <a:prstGeom prst="rect">
            <a:avLst/>
          </a:prstGeom>
          <a:noFill/>
        </p:spPr>
        <p:txBody>
          <a:bodyPr wrap="square" lIns="0" tIns="0" rIns="0" bIns="0" rtlCol="0" anchor="ctr"/>
          <a:lstStyle/>
          <a:p>
            <a:pPr marL="0" indent="0" algn="l">
              <a:buNone/>
            </a:pPr>
            <a:r>
              <a:rPr lang="en-US" sz="3200" b="1" dirty="0">
                <a:solidFill>
                  <a:schemeClr val="tx1"/>
                </a:solidFill>
              </a:rPr>
              <a:t>Repository: clone, download data, run</a:t>
            </a:r>
            <a:endParaRPr lang="en-US" sz="3200" dirty="0"/>
          </a:p>
        </p:txBody>
      </p:sp>
      <p:sp>
        <p:nvSpPr>
          <p:cNvPr id="4" name="Repo tree"/>
          <p:cNvSpPr/>
          <p:nvPr/>
        </p:nvSpPr>
        <p:spPr>
          <a:xfrm>
            <a:off x="548640" y="1371600"/>
            <a:ext cx="5486400" cy="4663440"/>
          </a:xfrm>
          <a:prstGeom prst="roundRect">
            <a:avLst>
              <a:gd name="adj" fmla="val 2353"/>
            </a:avLst>
          </a:prstGeom>
          <a:solidFill>
            <a:schemeClr val="tx1"/>
          </a:solidFill>
        </p:spPr>
      </p:sp>
      <p:sp>
        <p:nvSpPr>
          <p:cNvPr id="5" name="Text 2"/>
          <p:cNvSpPr txBox="1"/>
          <p:nvPr/>
        </p:nvSpPr>
        <p:spPr>
          <a:xfrm>
            <a:off x="777240" y="1554480"/>
            <a:ext cx="5120640" cy="320040"/>
          </a:xfrm>
          <a:prstGeom prst="rect">
            <a:avLst/>
          </a:prstGeom>
          <a:noFill/>
        </p:spPr>
        <p:txBody>
          <a:bodyPr wrap="square" lIns="0" tIns="0" rIns="0" bIns="0" rtlCol="0" anchor="t"/>
          <a:lstStyle/>
          <a:p>
            <a:pPr marL="0" indent="0">
              <a:buNone/>
            </a:pPr>
            <a:r>
              <a:rPr lang="en-US" sz="1200" dirty="0">
                <a:solidFill>
                  <a:schemeClr val="accent1"/>
                </a:solidFill>
                <a:latin typeface="Courier New" panose="02070609020205020404" pitchFamily="34" charset="0"/>
                <a:ea typeface="Courier New" panose="02070609020205020404" pitchFamily="34" charset="-122"/>
                <a:cs typeface="Courier New" panose="02070609020205020404" pitchFamily="34" charset="-120"/>
              </a:rPr>
              <a:t>github.com/ngocanhpham-hust/BigData_Project</a:t>
            </a:r>
            <a:endParaRPr lang="en-US" sz="1200" dirty="0"/>
          </a:p>
        </p:txBody>
      </p:sp>
      <p:sp>
        <p:nvSpPr>
          <p:cNvPr id="6" name="Text 3"/>
          <p:cNvSpPr txBox="1"/>
          <p:nvPr/>
        </p:nvSpPr>
        <p:spPr>
          <a:xfrm>
            <a:off x="777240" y="2057400"/>
            <a:ext cx="5120640" cy="3749040"/>
          </a:xfrm>
          <a:prstGeom prst="rect">
            <a:avLst/>
          </a:prstGeom>
          <a:noFill/>
        </p:spPr>
        <p:txBody>
          <a:bodyPr wrap="square" lIns="0" tIns="0" rIns="0" bIns="0" rtlCol="0" anchor="t"/>
          <a:lstStyle/>
          <a:p>
            <a:pPr marL="0" indent="0">
              <a:spcAft>
                <a:spcPts val="800"/>
              </a:spcAft>
              <a:buNone/>
            </a:pPr>
            <a:r>
              <a:rPr lang="en-US" sz="1300" dirty="0">
                <a:solidFill>
                  <a:schemeClr val="bg1"/>
                </a:solidFill>
                <a:latin typeface="Courier New" panose="02070609020205020404" pitchFamily="34" charset="0"/>
                <a:ea typeface="Courier New" panose="02070609020205020404" pitchFamily="34" charset="-122"/>
                <a:cs typeface="Courier New" panose="02070609020205020404" pitchFamily="34" charset="-120"/>
              </a:rPr>
              <a:t>├── k8s/          </a:t>
            </a:r>
            <a:r>
              <a:rPr lang="en-US" sz="1300" dirty="0">
                <a:solidFill>
                  <a:schemeClr val="accent5"/>
                </a:solidFill>
                <a:latin typeface="Courier New" panose="02070609020205020404" pitchFamily="34" charset="0"/>
                <a:ea typeface="Courier New" panose="02070609020205020404" pitchFamily="34" charset="-122"/>
                <a:cs typeface="Courier New" panose="02070609020205020404" pitchFamily="34" charset="-120"/>
              </a:rPr>
              <a:t>namespace, secrets, MinIO, PG</a:t>
            </a:r>
            <a:endParaRPr lang="en-US" sz="1300" dirty="0"/>
          </a:p>
          <a:p>
            <a:pPr marL="0" indent="0">
              <a:spcAft>
                <a:spcPts val="800"/>
              </a:spcAft>
              <a:buNone/>
            </a:pPr>
            <a:r>
              <a:rPr lang="en-US" sz="1300" dirty="0">
                <a:solidFill>
                  <a:schemeClr val="bg1"/>
                </a:solidFill>
                <a:latin typeface="Courier New" panose="02070609020205020404" pitchFamily="34" charset="0"/>
                <a:ea typeface="Courier New" panose="02070609020205020404" pitchFamily="34" charset="-122"/>
                <a:cs typeface="Courier New" panose="02070609020205020404" pitchFamily="34" charset="-120"/>
              </a:rPr>
              <a:t>├── scripts/      </a:t>
            </a:r>
            <a:r>
              <a:rPr lang="en-US" sz="1300" dirty="0">
                <a:solidFill>
                  <a:schemeClr val="accent5"/>
                </a:solidFill>
                <a:latin typeface="Courier New" panose="02070609020205020404" pitchFamily="34" charset="0"/>
                <a:ea typeface="Courier New" panose="02070609020205020404" pitchFamily="34" charset="-122"/>
                <a:cs typeface="Courier New" panose="02070609020205020404" pitchFamily="34" charset="-120"/>
              </a:rPr>
              <a:t>create-cluster.sh</a:t>
            </a:r>
            <a:endParaRPr lang="en-US" sz="1300" dirty="0"/>
          </a:p>
          <a:p>
            <a:pPr marL="0" indent="0">
              <a:spcAft>
                <a:spcPts val="800"/>
              </a:spcAft>
              <a:buNone/>
            </a:pPr>
            <a:r>
              <a:rPr lang="en-US" sz="1300" dirty="0">
                <a:solidFill>
                  <a:schemeClr val="bg1"/>
                </a:solidFill>
                <a:latin typeface="Courier New" panose="02070609020205020404" pitchFamily="34" charset="0"/>
                <a:ea typeface="Courier New" panose="02070609020205020404" pitchFamily="34" charset="-122"/>
                <a:cs typeface="Courier New" panose="02070609020205020404" pitchFamily="34" charset="-120"/>
              </a:rPr>
              <a:t>├── etl/          </a:t>
            </a:r>
            <a:r>
              <a:rPr lang="en-US" sz="1300" dirty="0">
                <a:solidFill>
                  <a:schemeClr val="accent5"/>
                </a:solidFill>
                <a:latin typeface="Courier New" panose="02070609020205020404" pitchFamily="34" charset="0"/>
                <a:ea typeface="Courier New" panose="02070609020205020404" pitchFamily="34" charset="-122"/>
                <a:cs typeface="Courier New" panose="02070609020205020404" pitchFamily="34" charset="-120"/>
              </a:rPr>
              <a:t>crawlers, ICB, synthetic</a:t>
            </a:r>
            <a:endParaRPr lang="en-US" sz="1300" dirty="0"/>
          </a:p>
          <a:p>
            <a:pPr marL="0" indent="0">
              <a:spcAft>
                <a:spcPts val="800"/>
              </a:spcAft>
              <a:buNone/>
            </a:pPr>
            <a:r>
              <a:rPr lang="en-US" sz="1300" dirty="0">
                <a:solidFill>
                  <a:schemeClr val="bg1"/>
                </a:solidFill>
                <a:latin typeface="Courier New" panose="02070609020205020404" pitchFamily="34" charset="0"/>
                <a:ea typeface="Courier New" panose="02070609020205020404" pitchFamily="34" charset="-122"/>
                <a:cs typeface="Courier New" panose="02070609020205020404" pitchFamily="34" charset="-120"/>
              </a:rPr>
              <a:t>├── spark-jobs/   </a:t>
            </a:r>
            <a:r>
              <a:rPr lang="en-US" sz="1300" dirty="0">
                <a:solidFill>
                  <a:schemeClr val="accent5"/>
                </a:solidFill>
                <a:latin typeface="Courier New" panose="02070609020205020404" pitchFamily="34" charset="0"/>
                <a:ea typeface="Courier New" panose="02070609020205020404" pitchFamily="34" charset="-122"/>
                <a:cs typeface="Courier New" panose="02070609020205020404" pitchFamily="34" charset="-120"/>
              </a:rPr>
              <a:t>batch &amp; streaming</a:t>
            </a:r>
            <a:endParaRPr lang="en-US" sz="1300" dirty="0"/>
          </a:p>
          <a:p>
            <a:pPr marL="0" indent="0">
              <a:spcAft>
                <a:spcPts val="800"/>
              </a:spcAft>
              <a:buNone/>
            </a:pPr>
            <a:r>
              <a:rPr lang="en-US" sz="1300" dirty="0">
                <a:solidFill>
                  <a:schemeClr val="bg1"/>
                </a:solidFill>
                <a:latin typeface="Courier New" panose="02070609020205020404" pitchFamily="34" charset="0"/>
                <a:ea typeface="Courier New" panose="02070609020205020404" pitchFamily="34" charset="-122"/>
                <a:cs typeface="Courier New" panose="02070609020205020404" pitchFamily="34" charset="-120"/>
              </a:rPr>
              <a:t>├── dbt/          </a:t>
            </a:r>
            <a:r>
              <a:rPr lang="en-US" sz="1300" dirty="0">
                <a:solidFill>
                  <a:schemeClr val="accent5"/>
                </a:solidFill>
                <a:latin typeface="Courier New" panose="02070609020205020404" pitchFamily="34" charset="0"/>
                <a:ea typeface="Courier New" panose="02070609020205020404" pitchFamily="34" charset="-122"/>
                <a:cs typeface="Courier New" panose="02070609020205020404" pitchFamily="34" charset="-120"/>
              </a:rPr>
              <a:t>staging → marts</a:t>
            </a:r>
            <a:endParaRPr lang="en-US" sz="1300" dirty="0"/>
          </a:p>
          <a:p>
            <a:pPr marL="0" indent="0">
              <a:spcAft>
                <a:spcPts val="800"/>
              </a:spcAft>
              <a:buNone/>
            </a:pPr>
            <a:r>
              <a:rPr lang="en-US" sz="1300" dirty="0">
                <a:solidFill>
                  <a:schemeClr val="bg1"/>
                </a:solidFill>
                <a:latin typeface="Courier New" panose="02070609020205020404" pitchFamily="34" charset="0"/>
                <a:ea typeface="Courier New" panose="02070609020205020404" pitchFamily="34" charset="-122"/>
                <a:cs typeface="Courier New" panose="02070609020205020404" pitchFamily="34" charset="-120"/>
              </a:rPr>
              <a:t>├── data/sample/  </a:t>
            </a:r>
            <a:r>
              <a:rPr lang="en-US" sz="1300" dirty="0">
                <a:solidFill>
                  <a:schemeClr val="accent5"/>
                </a:solidFill>
                <a:latin typeface="Courier New" panose="02070609020205020404" pitchFamily="34" charset="0"/>
                <a:ea typeface="Courier New" panose="02070609020205020404" pitchFamily="34" charset="-122"/>
                <a:cs typeface="Courier New" panose="02070609020205020404" pitchFamily="34" charset="-120"/>
              </a:rPr>
              <a:t>small CSV fixtures</a:t>
            </a:r>
            <a:endParaRPr lang="en-US" sz="1300" dirty="0"/>
          </a:p>
          <a:p>
            <a:pPr marL="0" indent="0">
              <a:spcAft>
                <a:spcPts val="800"/>
              </a:spcAft>
              <a:buNone/>
            </a:pPr>
            <a:r>
              <a:rPr lang="en-US" sz="1300" dirty="0">
                <a:solidFill>
                  <a:schemeClr val="bg1"/>
                </a:solidFill>
                <a:latin typeface="Courier New" panose="02070609020205020404" pitchFamily="34" charset="0"/>
                <a:ea typeface="Courier New" panose="02070609020205020404" pitchFamily="34" charset="-122"/>
                <a:cs typeface="Courier New" panose="02070609020205020404" pitchFamily="34" charset="-120"/>
              </a:rPr>
              <a:t>├── docs/         </a:t>
            </a:r>
            <a:r>
              <a:rPr lang="en-US" sz="1300" dirty="0">
                <a:solidFill>
                  <a:schemeClr val="accent5"/>
                </a:solidFill>
                <a:latin typeface="Courier New" panose="02070609020205020404" pitchFamily="34" charset="0"/>
                <a:ea typeface="Courier New" panose="02070609020205020404" pitchFamily="34" charset="-122"/>
                <a:cs typeface="Courier New" panose="02070609020205020404" pitchFamily="34" charset="-120"/>
              </a:rPr>
              <a:t>architecture, plans</a:t>
            </a:r>
            <a:endParaRPr lang="en-US" sz="1300" dirty="0"/>
          </a:p>
          <a:p>
            <a:pPr marL="0" indent="0">
              <a:spcAft>
                <a:spcPts val="800"/>
              </a:spcAft>
              <a:buNone/>
            </a:pPr>
            <a:r>
              <a:rPr lang="en-US" sz="1300" dirty="0">
                <a:solidFill>
                  <a:schemeClr val="bg1"/>
                </a:solidFill>
                <a:latin typeface="Courier New" panose="02070609020205020404" pitchFamily="34" charset="0"/>
                <a:ea typeface="Courier New" panose="02070609020205020404" pitchFamily="34" charset="-122"/>
                <a:cs typeface="Courier New" panose="02070609020205020404" pitchFamily="34" charset="-120"/>
              </a:rPr>
              <a:t>└── Makefile      </a:t>
            </a:r>
            <a:r>
              <a:rPr lang="en-US" sz="1300" dirty="0">
                <a:solidFill>
                  <a:schemeClr val="accent5"/>
                </a:solidFill>
                <a:latin typeface="Courier New" panose="02070609020205020404" pitchFamily="34" charset="0"/>
                <a:ea typeface="Courier New" panose="02070609020205020404" pitchFamily="34" charset="-122"/>
                <a:cs typeface="Courier New" panose="02070609020205020404" pitchFamily="34" charset="-120"/>
              </a:rPr>
              <a:t>one-command tasks</a:t>
            </a:r>
            <a:endParaRPr lang="en-US" sz="1300" dirty="0"/>
          </a:p>
        </p:txBody>
      </p:sp>
      <p:sp>
        <p:nvSpPr>
          <p:cNvPr id="7" name="Text 4"/>
          <p:cNvSpPr txBox="1"/>
          <p:nvPr/>
        </p:nvSpPr>
        <p:spPr>
          <a:xfrm>
            <a:off x="6309360" y="1371600"/>
            <a:ext cx="5303520" cy="365760"/>
          </a:xfrm>
          <a:prstGeom prst="rect">
            <a:avLst/>
          </a:prstGeom>
          <a:noFill/>
        </p:spPr>
        <p:txBody>
          <a:bodyPr wrap="square" lIns="0" tIns="0" rIns="0" bIns="0" rtlCol="0" anchor="t"/>
          <a:lstStyle/>
          <a:p>
            <a:pPr marL="0" indent="0">
              <a:buNone/>
            </a:pPr>
            <a:r>
              <a:rPr lang="en-US" sz="1800" b="1" dirty="0">
                <a:solidFill>
                  <a:schemeClr val="tx1"/>
                </a:solidFill>
                <a:latin typeface="Arial" panose="020B0704020202020204" pitchFamily="34" charset="0"/>
                <a:ea typeface="Arial" panose="020B0704020202020204" pitchFamily="34" charset="-122"/>
                <a:cs typeface="Arial" panose="020B0704020202020204" pitchFamily="34" charset="-120"/>
              </a:rPr>
              <a:t>Run it</a:t>
            </a:r>
            <a:endParaRPr lang="en-US" sz="1800" dirty="0"/>
          </a:p>
        </p:txBody>
      </p:sp>
      <p:sp>
        <p:nvSpPr>
          <p:cNvPr id="8" name="Commands"/>
          <p:cNvSpPr/>
          <p:nvPr/>
        </p:nvSpPr>
        <p:spPr>
          <a:xfrm>
            <a:off x="6309360" y="1828800"/>
            <a:ext cx="5303520" cy="1600200"/>
          </a:xfrm>
          <a:prstGeom prst="roundRect">
            <a:avLst>
              <a:gd name="adj" fmla="val 6857"/>
            </a:avLst>
          </a:prstGeom>
          <a:solidFill>
            <a:schemeClr val="bg2"/>
          </a:solidFill>
        </p:spPr>
      </p:sp>
      <p:sp>
        <p:nvSpPr>
          <p:cNvPr id="9" name="Text 6"/>
          <p:cNvSpPr txBox="1"/>
          <p:nvPr/>
        </p:nvSpPr>
        <p:spPr>
          <a:xfrm>
            <a:off x="6537960" y="1965960"/>
            <a:ext cx="4937760" cy="1371600"/>
          </a:xfrm>
          <a:prstGeom prst="rect">
            <a:avLst/>
          </a:prstGeom>
          <a:noFill/>
        </p:spPr>
        <p:txBody>
          <a:bodyPr wrap="square" lIns="0" tIns="0" rIns="0" bIns="0" rtlCol="0" anchor="t"/>
          <a:lstStyle/>
          <a:p>
            <a:pPr marL="0" indent="0">
              <a:buNone/>
            </a:pPr>
            <a:r>
              <a:rPr lang="en-US" sz="1200" b="1" dirty="0">
                <a:solidFill>
                  <a:schemeClr val="tx1"/>
                </a:solidFill>
                <a:latin typeface="Courier New" panose="02070609020205020404" pitchFamily="34" charset="0"/>
                <a:ea typeface="Courier New" panose="02070609020205020404" pitchFamily="34" charset="-122"/>
                <a:cs typeface="Courier New" panose="02070609020205020404" pitchFamily="34" charset="-120"/>
              </a:rPr>
              <a:t>make cluster-up</a:t>
            </a:r>
            <a:endParaRPr lang="en-US" sz="1200" dirty="0"/>
          </a:p>
          <a:p>
            <a:pPr marL="0" indent="0">
              <a:buNone/>
            </a:pPr>
            <a:r>
              <a:rPr lang="en-US" sz="1200" dirty="0">
                <a:solidFill>
                  <a:schemeClr val="tx2"/>
                </a:solidFill>
                <a:latin typeface="Courier New" panose="02070609020205020404" pitchFamily="34" charset="0"/>
                <a:ea typeface="Courier New" panose="02070609020205020404" pitchFamily="34" charset="-122"/>
                <a:cs typeface="Courier New" panose="02070609020205020404" pitchFamily="34" charset="-120"/>
              </a:rPr>
              <a:t>  # k3d + MinIO + PostgreSQL</a:t>
            </a:r>
            <a:endParaRPr lang="en-US" sz="1200" dirty="0"/>
          </a:p>
          <a:p>
            <a:pPr marL="0" indent="0">
              <a:buNone/>
            </a:pPr>
            <a:r>
              <a:rPr lang="en-US" sz="1200" b="1" dirty="0">
                <a:solidFill>
                  <a:schemeClr val="tx1"/>
                </a:solidFill>
                <a:latin typeface="Courier New" panose="02070609020205020404" pitchFamily="34" charset="0"/>
                <a:ea typeface="Courier New" panose="02070609020205020404" pitchFamily="34" charset="-122"/>
                <a:cs typeface="Courier New" panose="02070609020205020404" pitchFamily="34" charset="-120"/>
              </a:rPr>
              <a:t>gh release download data-v1</a:t>
            </a:r>
            <a:endParaRPr lang="en-US" sz="1200" dirty="0"/>
          </a:p>
          <a:p>
            <a:pPr marL="0" indent="0">
              <a:buNone/>
            </a:pPr>
            <a:r>
              <a:rPr lang="en-US" sz="1200" dirty="0">
                <a:solidFill>
                  <a:schemeClr val="tx2"/>
                </a:solidFill>
                <a:latin typeface="Courier New" panose="02070609020205020404" pitchFamily="34" charset="0"/>
                <a:ea typeface="Courier New" panose="02070609020205020404" pitchFamily="34" charset="-122"/>
                <a:cs typeface="Courier New" panose="02070609020205020404" pitchFamily="34" charset="-120"/>
              </a:rPr>
              <a:t>  # into data/raw</a:t>
            </a:r>
            <a:endParaRPr lang="en-US" sz="1200" dirty="0"/>
          </a:p>
          <a:p>
            <a:pPr marL="0" indent="0">
              <a:buNone/>
            </a:pPr>
            <a:r>
              <a:rPr lang="en-US" sz="1200" b="1" dirty="0">
                <a:solidFill>
                  <a:schemeClr val="tx1"/>
                </a:solidFill>
                <a:latin typeface="Courier New" panose="02070609020205020404" pitchFamily="34" charset="0"/>
                <a:ea typeface="Courier New" panose="02070609020205020404" pitchFamily="34" charset="-122"/>
                <a:cs typeface="Courier New" panose="02070609020205020404" pitchFamily="34" charset="-120"/>
              </a:rPr>
              <a:t>make ingest-local</a:t>
            </a:r>
            <a:endParaRPr lang="en-US" sz="1200" dirty="0"/>
          </a:p>
          <a:p>
            <a:pPr marL="0" indent="0">
              <a:buNone/>
            </a:pPr>
            <a:r>
              <a:rPr lang="en-US" sz="1200" dirty="0">
                <a:solidFill>
                  <a:schemeClr val="tx2"/>
                </a:solidFill>
                <a:latin typeface="Courier New" panose="02070609020205020404" pitchFamily="34" charset="0"/>
                <a:ea typeface="Courier New" panose="02070609020205020404" pitchFamily="34" charset="-122"/>
                <a:cs typeface="Courier New" panose="02070609020205020404" pitchFamily="34" charset="-120"/>
              </a:rPr>
              <a:t>  # Spark → Iceberg</a:t>
            </a:r>
            <a:endParaRPr lang="en-US" sz="1200" dirty="0"/>
          </a:p>
        </p:txBody>
      </p:sp>
      <p:sp>
        <p:nvSpPr>
          <p:cNvPr id="10" name="Text 7"/>
          <p:cNvSpPr txBox="1"/>
          <p:nvPr/>
        </p:nvSpPr>
        <p:spPr>
          <a:xfrm>
            <a:off x="6309360" y="3657600"/>
            <a:ext cx="5303520" cy="365760"/>
          </a:xfrm>
          <a:prstGeom prst="rect">
            <a:avLst/>
          </a:prstGeom>
          <a:noFill/>
        </p:spPr>
        <p:txBody>
          <a:bodyPr wrap="square" lIns="0" tIns="0" rIns="0" bIns="0" rtlCol="0" anchor="t"/>
          <a:lstStyle/>
          <a:p>
            <a:pPr marL="0" indent="0">
              <a:buNone/>
            </a:pPr>
            <a:r>
              <a:rPr lang="en-US" sz="1800" b="1" dirty="0">
                <a:solidFill>
                  <a:schemeClr val="tx1"/>
                </a:solidFill>
                <a:latin typeface="Arial" panose="020B0704020202020204" pitchFamily="34" charset="0"/>
                <a:ea typeface="Arial" panose="020B0704020202020204" pitchFamily="34" charset="-122"/>
                <a:cs typeface="Arial" panose="020B0704020202020204" pitchFamily="34" charset="-120"/>
              </a:rPr>
              <a:t>Engineering practice</a:t>
            </a:r>
            <a:endParaRPr lang="en-US" sz="1800" dirty="0"/>
          </a:p>
        </p:txBody>
      </p:sp>
      <p:sp>
        <p:nvSpPr>
          <p:cNvPr id="11" name="Practice icon 1"/>
          <p:cNvSpPr/>
          <p:nvPr/>
        </p:nvSpPr>
        <p:spPr>
          <a:xfrm>
            <a:off x="6309360" y="4160520"/>
            <a:ext cx="411480" cy="411480"/>
          </a:xfrm>
          <a:prstGeom prst="ellipse">
            <a:avLst/>
          </a:prstGeom>
          <a:solidFill>
            <a:schemeClr val="accent1"/>
          </a:solidFill>
        </p:spPr>
      </p:sp>
      <p:pic>
        <p:nvPicPr>
          <p:cNvPr id="12" name="Image 0" descr="Practice icon 1"/>
          <p:cNvPicPr>
            <a:picLocks noChangeAspect="1"/>
          </p:cNvPicPr>
          <p:nvPr/>
        </p:nvPicPr>
        <p:blipFill>
          <a:blip r:embed="rId1"/>
          <a:stretch>
            <a:fillRect/>
          </a:stretch>
        </p:blipFill>
        <p:spPr>
          <a:xfrm>
            <a:off x="6412230" y="4263390"/>
            <a:ext cx="205740" cy="205740"/>
          </a:xfrm>
          <a:prstGeom prst="rect">
            <a:avLst/>
          </a:prstGeom>
        </p:spPr>
      </p:pic>
      <p:sp>
        <p:nvSpPr>
          <p:cNvPr id="13" name="Text 9"/>
          <p:cNvSpPr txBox="1"/>
          <p:nvPr/>
        </p:nvSpPr>
        <p:spPr>
          <a:xfrm>
            <a:off x="6858000" y="4114800"/>
            <a:ext cx="4754880" cy="548640"/>
          </a:xfrm>
          <a:prstGeom prst="rect">
            <a:avLst/>
          </a:prstGeom>
          <a:noFill/>
        </p:spPr>
        <p:txBody>
          <a:bodyPr wrap="square" lIns="0" tIns="0" rIns="0" bIns="0" rtlCol="0" anchor="ctr"/>
          <a:lstStyle/>
          <a:p>
            <a:pPr marL="0" indent="0">
              <a:buNone/>
            </a:pPr>
            <a:r>
              <a:rPr lang="en-US" sz="1300" dirty="0">
                <a:solidFill>
                  <a:schemeClr val="tx1"/>
                </a:solidFill>
              </a:rPr>
              <a:t>Feature branches + PRs (feat/data-collection, fix/spark-catalog-config)</a:t>
            </a:r>
            <a:endParaRPr lang="en-US" sz="1300" dirty="0"/>
          </a:p>
        </p:txBody>
      </p:sp>
      <p:sp>
        <p:nvSpPr>
          <p:cNvPr id="14" name="Practice icon 2"/>
          <p:cNvSpPr/>
          <p:nvPr/>
        </p:nvSpPr>
        <p:spPr>
          <a:xfrm>
            <a:off x="6309360" y="4800600"/>
            <a:ext cx="411480" cy="411480"/>
          </a:xfrm>
          <a:prstGeom prst="ellipse">
            <a:avLst/>
          </a:prstGeom>
          <a:solidFill>
            <a:schemeClr val="accent1"/>
          </a:solidFill>
        </p:spPr>
      </p:sp>
      <p:pic>
        <p:nvPicPr>
          <p:cNvPr id="15" name="Image 1" descr="Practice icon 2"/>
          <p:cNvPicPr>
            <a:picLocks noChangeAspect="1"/>
          </p:cNvPicPr>
          <p:nvPr/>
        </p:nvPicPr>
        <p:blipFill>
          <a:blip r:embed="rId2"/>
          <a:stretch>
            <a:fillRect/>
          </a:stretch>
        </p:blipFill>
        <p:spPr>
          <a:xfrm>
            <a:off x="6412230" y="4903470"/>
            <a:ext cx="205740" cy="205740"/>
          </a:xfrm>
          <a:prstGeom prst="rect">
            <a:avLst/>
          </a:prstGeom>
        </p:spPr>
      </p:pic>
      <p:sp>
        <p:nvSpPr>
          <p:cNvPr id="16" name="Text 11"/>
          <p:cNvSpPr txBox="1"/>
          <p:nvPr/>
        </p:nvSpPr>
        <p:spPr>
          <a:xfrm>
            <a:off x="6858000" y="4754880"/>
            <a:ext cx="4754880" cy="548640"/>
          </a:xfrm>
          <a:prstGeom prst="rect">
            <a:avLst/>
          </a:prstGeom>
          <a:noFill/>
        </p:spPr>
        <p:txBody>
          <a:bodyPr wrap="square" lIns="0" tIns="0" rIns="0" bIns="0" rtlCol="0" anchor="ctr"/>
          <a:lstStyle/>
          <a:p>
            <a:pPr marL="0" indent="0">
              <a:buNone/>
            </a:pPr>
            <a:r>
              <a:rPr lang="en-US" sz="1300" dirty="0">
                <a:solidFill>
                  <a:schemeClr val="tx1"/>
                </a:solidFill>
              </a:rPr>
              <a:t>Conventional commit messages; versions pinned for reproducibility</a:t>
            </a:r>
            <a:endParaRPr lang="en-US" sz="1300" dirty="0"/>
          </a:p>
        </p:txBody>
      </p:sp>
      <p:sp>
        <p:nvSpPr>
          <p:cNvPr id="17" name="Practice icon 3"/>
          <p:cNvSpPr/>
          <p:nvPr/>
        </p:nvSpPr>
        <p:spPr>
          <a:xfrm>
            <a:off x="6309360" y="5440680"/>
            <a:ext cx="411480" cy="411480"/>
          </a:xfrm>
          <a:prstGeom prst="ellipse">
            <a:avLst/>
          </a:prstGeom>
          <a:solidFill>
            <a:schemeClr val="accent1"/>
          </a:solidFill>
        </p:spPr>
      </p:sp>
      <p:pic>
        <p:nvPicPr>
          <p:cNvPr id="18" name="Image 2" descr="Practice icon 3"/>
          <p:cNvPicPr>
            <a:picLocks noChangeAspect="1"/>
          </p:cNvPicPr>
          <p:nvPr/>
        </p:nvPicPr>
        <p:blipFill>
          <a:blip r:embed="rId3"/>
          <a:stretch>
            <a:fillRect/>
          </a:stretch>
        </p:blipFill>
        <p:spPr>
          <a:xfrm>
            <a:off x="6412230" y="5543550"/>
            <a:ext cx="205740" cy="205740"/>
          </a:xfrm>
          <a:prstGeom prst="rect">
            <a:avLst/>
          </a:prstGeom>
        </p:spPr>
      </p:pic>
      <p:sp>
        <p:nvSpPr>
          <p:cNvPr id="19" name="Text 13"/>
          <p:cNvSpPr txBox="1"/>
          <p:nvPr/>
        </p:nvSpPr>
        <p:spPr>
          <a:xfrm>
            <a:off x="6858000" y="5394960"/>
            <a:ext cx="4754880" cy="548640"/>
          </a:xfrm>
          <a:prstGeom prst="rect">
            <a:avLst/>
          </a:prstGeom>
          <a:noFill/>
        </p:spPr>
        <p:txBody>
          <a:bodyPr wrap="square" lIns="0" tIns="0" rIns="0" bIns="0" rtlCol="0" anchor="ctr"/>
          <a:lstStyle/>
          <a:p>
            <a:pPr marL="0" indent="0">
              <a:buNone/>
            </a:pPr>
            <a:r>
              <a:rPr lang="en-US" sz="1300" dirty="0">
                <a:solidFill>
                  <a:schemeClr val="tx1"/>
                </a:solidFill>
              </a:rPr>
              <a:t>Large data as a release asset; secrets via .env.example</a:t>
            </a:r>
            <a:endParaRPr lang="en-US" sz="1300" dirty="0"/>
          </a:p>
        </p:txBody>
      </p:sp>
      <p:sp>
        <p:nvSpPr>
          <p:cNvPr id="25" name="Slide Number Placeholder 0"/>
          <p:cNvSpPr>
            <a:spLocks noGrp="1"/>
          </p:cNvSpPr>
          <p:nvPr>
            <p:ph type="sldNum" sz="quarter" idx="4294967295"/>
          </p:nvPr>
        </p:nvSpPr>
        <p:spPr>
          <a:xfrm>
            <a:off x="11155680" y="6355080"/>
            <a:ext cx="457200" cy="274320"/>
          </a:xfrm>
          <a:prstGeom prst="rect">
            <a:avLst/>
          </a:prstGeom>
        </p:spPr>
        <p:txBody>
          <a:bodyPr/>
          <a:lstStyle>
            <a:lvl1pPr>
              <a:defRPr sz="1000">
                <a:solidFill>
                  <a:schemeClr val="accent5"/>
                </a:solidFill>
              </a:defRPr>
            </a:lvl1pPr>
          </a:lstStyle>
          <a:p>
            <a:pPr algn="r"/>
            <a:fld id="{F7021451-1387-4CA6-816F-3879F97B5CBC}" type="slidenum">
              <a:rPr lang="en-US" b="0"/>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0" hasCustomPrompt="1"/>
          </p:nvPr>
        </p:nvSpPr>
        <p:spPr>
          <a:xfrm>
            <a:off x="548640" y="320040"/>
            <a:ext cx="11064240" cy="777240"/>
          </a:xfrm>
          <a:prstGeom prst="rect">
            <a:avLst/>
          </a:prstGeom>
          <a:noFill/>
        </p:spPr>
        <p:txBody>
          <a:bodyPr wrap="square" lIns="0" tIns="0" rIns="0" bIns="0" rtlCol="0" anchor="ctr"/>
          <a:lstStyle/>
          <a:p>
            <a:pPr marL="0" indent="0" algn="l">
              <a:buNone/>
            </a:pPr>
            <a:r>
              <a:rPr lang="en-US" sz="3200" b="1" dirty="0">
                <a:solidFill>
                  <a:schemeClr val="tx1"/>
                </a:solidFill>
              </a:rPr>
              <a:t>Roadmap and next steps</a:t>
            </a:r>
            <a:endParaRPr lang="en-US" sz="3200" dirty="0"/>
          </a:p>
        </p:txBody>
      </p:sp>
      <p:sp>
        <p:nvSpPr>
          <p:cNvPr id="4" name="Shape 1"/>
          <p:cNvSpPr/>
          <p:nvPr/>
        </p:nvSpPr>
        <p:spPr>
          <a:xfrm>
            <a:off x="1240155" y="1965960"/>
            <a:ext cx="9681210" cy="0"/>
          </a:xfrm>
          <a:prstGeom prst="line">
            <a:avLst/>
          </a:prstGeom>
          <a:noFill/>
          <a:ln w="25400">
            <a:solidFill>
              <a:schemeClr val="accent5"/>
            </a:solidFill>
            <a:prstDash val="solid"/>
          </a:ln>
        </p:spPr>
      </p:sp>
      <p:sp>
        <p:nvSpPr>
          <p:cNvPr id="5" name="P0"/>
          <p:cNvSpPr txBox="1"/>
          <p:nvPr/>
        </p:nvSpPr>
        <p:spPr>
          <a:xfrm>
            <a:off x="956691" y="1682496"/>
            <a:ext cx="566928" cy="566928"/>
          </a:xfrm>
          <a:prstGeom prst="ellipse">
            <a:avLst/>
          </a:prstGeom>
          <a:solidFill>
            <a:schemeClr val="accent1"/>
          </a:solidFill>
        </p:spPr>
        <p:txBody>
          <a:bodyPr wrap="square" lIns="0" tIns="0" rIns="0" bIns="0" rtlCol="0" anchor="ctr"/>
          <a:lstStyle/>
          <a:p>
            <a:pPr marL="0" indent="0" algn="ctr">
              <a:buNone/>
            </a:pPr>
            <a:r>
              <a:rPr lang="en-US" sz="1400" b="1" dirty="0">
                <a:solidFill>
                  <a:schemeClr val="bg1"/>
                </a:solidFill>
              </a:rPr>
              <a:t>P0</a:t>
            </a:r>
            <a:endParaRPr lang="en-US" sz="1400" dirty="0"/>
          </a:p>
        </p:txBody>
      </p:sp>
      <p:sp>
        <p:nvSpPr>
          <p:cNvPr id="6" name="Text 3"/>
          <p:cNvSpPr txBox="1"/>
          <p:nvPr/>
        </p:nvSpPr>
        <p:spPr>
          <a:xfrm>
            <a:off x="603504" y="2514600"/>
            <a:ext cx="1273302" cy="594360"/>
          </a:xfrm>
          <a:prstGeom prst="rect">
            <a:avLst/>
          </a:prstGeom>
          <a:noFill/>
        </p:spPr>
        <p:txBody>
          <a:bodyPr wrap="square" lIns="0" tIns="0" rIns="0" bIns="0" rtlCol="0" anchor="t"/>
          <a:lstStyle/>
          <a:p>
            <a:pPr marL="0" indent="0" algn="ctr">
              <a:buNone/>
            </a:pPr>
            <a:r>
              <a:rPr lang="en-US" sz="1400" b="1" dirty="0">
                <a:solidFill>
                  <a:schemeClr val="tx1"/>
                </a:solidFill>
              </a:rPr>
              <a:t>Scope &amp; design</a:t>
            </a:r>
            <a:endParaRPr lang="en-US" sz="1400" dirty="0"/>
          </a:p>
        </p:txBody>
      </p:sp>
      <p:sp>
        <p:nvSpPr>
          <p:cNvPr id="7" name="Text 4"/>
          <p:cNvSpPr txBox="1"/>
          <p:nvPr/>
        </p:nvSpPr>
        <p:spPr>
          <a:xfrm>
            <a:off x="603504" y="3108960"/>
            <a:ext cx="1273302" cy="822960"/>
          </a:xfrm>
          <a:prstGeom prst="rect">
            <a:avLst/>
          </a:prstGeom>
          <a:noFill/>
        </p:spPr>
        <p:txBody>
          <a:bodyPr wrap="square" lIns="0" tIns="0" rIns="0" bIns="0" rtlCol="0" anchor="t"/>
          <a:lstStyle/>
          <a:p>
            <a:pPr marL="0" indent="0" algn="ctr">
              <a:buNone/>
            </a:pPr>
            <a:r>
              <a:rPr lang="en-US" sz="1100" dirty="0">
                <a:solidFill>
                  <a:schemeClr val="tx2"/>
                </a:solidFill>
              </a:rPr>
              <a:t>data choice, architecture, repo layout</a:t>
            </a:r>
            <a:endParaRPr lang="en-US" sz="1100" dirty="0"/>
          </a:p>
        </p:txBody>
      </p:sp>
      <p:sp>
        <p:nvSpPr>
          <p:cNvPr id="8" name="Text 5"/>
          <p:cNvSpPr txBox="1"/>
          <p:nvPr/>
        </p:nvSpPr>
        <p:spPr>
          <a:xfrm>
            <a:off x="603504" y="3977640"/>
            <a:ext cx="1273302" cy="274320"/>
          </a:xfrm>
          <a:prstGeom prst="rect">
            <a:avLst/>
          </a:prstGeom>
          <a:noFill/>
        </p:spPr>
        <p:txBody>
          <a:bodyPr wrap="square" lIns="0" tIns="0" rIns="0" bIns="0" rtlCol="0" anchor="t"/>
          <a:lstStyle/>
          <a:p>
            <a:pPr marL="0" indent="0" algn="ctr">
              <a:buNone/>
            </a:pPr>
            <a:r>
              <a:rPr lang="en-US" sz="1100" b="1" dirty="0">
                <a:solidFill>
                  <a:schemeClr val="accent1"/>
                </a:solidFill>
              </a:rPr>
              <a:t>Done</a:t>
            </a:r>
            <a:endParaRPr lang="en-US" sz="1100" dirty="0"/>
          </a:p>
        </p:txBody>
      </p:sp>
      <p:sp>
        <p:nvSpPr>
          <p:cNvPr id="9" name="P1"/>
          <p:cNvSpPr txBox="1"/>
          <p:nvPr/>
        </p:nvSpPr>
        <p:spPr>
          <a:xfrm>
            <a:off x="2339721" y="1682496"/>
            <a:ext cx="566928" cy="566928"/>
          </a:xfrm>
          <a:prstGeom prst="ellipse">
            <a:avLst/>
          </a:prstGeom>
          <a:solidFill>
            <a:schemeClr val="accent1"/>
          </a:solidFill>
        </p:spPr>
        <p:txBody>
          <a:bodyPr wrap="square" lIns="0" tIns="0" rIns="0" bIns="0" rtlCol="0" anchor="ctr"/>
          <a:lstStyle/>
          <a:p>
            <a:pPr marL="0" indent="0" algn="ctr">
              <a:buNone/>
            </a:pPr>
            <a:r>
              <a:rPr lang="en-US" sz="1400" b="1" dirty="0">
                <a:solidFill>
                  <a:schemeClr val="bg1"/>
                </a:solidFill>
              </a:rPr>
              <a:t>P1</a:t>
            </a:r>
            <a:endParaRPr lang="en-US" sz="1400" dirty="0"/>
          </a:p>
        </p:txBody>
      </p:sp>
      <p:sp>
        <p:nvSpPr>
          <p:cNvPr id="10" name="Text 7"/>
          <p:cNvSpPr txBox="1"/>
          <p:nvPr/>
        </p:nvSpPr>
        <p:spPr>
          <a:xfrm>
            <a:off x="1986534" y="2514600"/>
            <a:ext cx="1273302" cy="594360"/>
          </a:xfrm>
          <a:prstGeom prst="rect">
            <a:avLst/>
          </a:prstGeom>
          <a:noFill/>
        </p:spPr>
        <p:txBody>
          <a:bodyPr wrap="square" lIns="0" tIns="0" rIns="0" bIns="0" rtlCol="0" anchor="t"/>
          <a:lstStyle/>
          <a:p>
            <a:pPr marL="0" indent="0" algn="ctr">
              <a:buNone/>
            </a:pPr>
            <a:r>
              <a:rPr lang="en-US" sz="1400" b="1" dirty="0">
                <a:solidFill>
                  <a:schemeClr val="tx1"/>
                </a:solidFill>
              </a:rPr>
              <a:t>Cluster base</a:t>
            </a:r>
            <a:endParaRPr lang="en-US" sz="1400" dirty="0"/>
          </a:p>
        </p:txBody>
      </p:sp>
      <p:sp>
        <p:nvSpPr>
          <p:cNvPr id="11" name="Text 8"/>
          <p:cNvSpPr txBox="1"/>
          <p:nvPr/>
        </p:nvSpPr>
        <p:spPr>
          <a:xfrm>
            <a:off x="1986534" y="3108960"/>
            <a:ext cx="1273302" cy="822960"/>
          </a:xfrm>
          <a:prstGeom prst="rect">
            <a:avLst/>
          </a:prstGeom>
          <a:noFill/>
        </p:spPr>
        <p:txBody>
          <a:bodyPr wrap="square" lIns="0" tIns="0" rIns="0" bIns="0" rtlCol="0" anchor="t"/>
          <a:lstStyle/>
          <a:p>
            <a:pPr marL="0" indent="0" algn="ctr">
              <a:buNone/>
            </a:pPr>
            <a:r>
              <a:rPr lang="en-US" sz="1100" dirty="0">
                <a:solidFill>
                  <a:schemeClr val="tx2"/>
                </a:solidFill>
              </a:rPr>
              <a:t>k3d 3 nodes, MinIO, PostgreSQL</a:t>
            </a:r>
            <a:endParaRPr lang="en-US" sz="1100" dirty="0"/>
          </a:p>
        </p:txBody>
      </p:sp>
      <p:sp>
        <p:nvSpPr>
          <p:cNvPr id="12" name="Text 9"/>
          <p:cNvSpPr txBox="1"/>
          <p:nvPr/>
        </p:nvSpPr>
        <p:spPr>
          <a:xfrm>
            <a:off x="1986534" y="3977640"/>
            <a:ext cx="1273302" cy="274320"/>
          </a:xfrm>
          <a:prstGeom prst="rect">
            <a:avLst/>
          </a:prstGeom>
          <a:noFill/>
        </p:spPr>
        <p:txBody>
          <a:bodyPr wrap="square" lIns="0" tIns="0" rIns="0" bIns="0" rtlCol="0" anchor="t"/>
          <a:lstStyle/>
          <a:p>
            <a:pPr marL="0" indent="0" algn="ctr">
              <a:buNone/>
            </a:pPr>
            <a:r>
              <a:rPr lang="en-US" sz="1100" b="1" dirty="0">
                <a:solidFill>
                  <a:schemeClr val="accent1"/>
                </a:solidFill>
              </a:rPr>
              <a:t>Done</a:t>
            </a:r>
            <a:endParaRPr lang="en-US" sz="1100" dirty="0"/>
          </a:p>
        </p:txBody>
      </p:sp>
      <p:sp>
        <p:nvSpPr>
          <p:cNvPr id="13" name="P2"/>
          <p:cNvSpPr txBox="1"/>
          <p:nvPr/>
        </p:nvSpPr>
        <p:spPr>
          <a:xfrm>
            <a:off x="3722751" y="1682496"/>
            <a:ext cx="566928" cy="566928"/>
          </a:xfrm>
          <a:prstGeom prst="ellipse">
            <a:avLst/>
          </a:prstGeom>
          <a:solidFill>
            <a:schemeClr val="accent3"/>
          </a:solidFill>
        </p:spPr>
        <p:txBody>
          <a:bodyPr wrap="square" lIns="0" tIns="0" rIns="0" bIns="0" rtlCol="0" anchor="ctr"/>
          <a:lstStyle/>
          <a:p>
            <a:pPr marL="0" indent="0" algn="ctr">
              <a:buNone/>
            </a:pPr>
            <a:r>
              <a:rPr lang="en-US" sz="1400" b="1" dirty="0">
                <a:solidFill>
                  <a:schemeClr val="bg1"/>
                </a:solidFill>
              </a:rPr>
              <a:t>P2</a:t>
            </a:r>
            <a:endParaRPr lang="en-US" sz="1400" dirty="0"/>
          </a:p>
        </p:txBody>
      </p:sp>
      <p:sp>
        <p:nvSpPr>
          <p:cNvPr id="14" name="Text 11"/>
          <p:cNvSpPr txBox="1"/>
          <p:nvPr/>
        </p:nvSpPr>
        <p:spPr>
          <a:xfrm>
            <a:off x="3369564" y="2514600"/>
            <a:ext cx="1273302" cy="594360"/>
          </a:xfrm>
          <a:prstGeom prst="rect">
            <a:avLst/>
          </a:prstGeom>
          <a:noFill/>
        </p:spPr>
        <p:txBody>
          <a:bodyPr wrap="square" lIns="0" tIns="0" rIns="0" bIns="0" rtlCol="0" anchor="t"/>
          <a:lstStyle/>
          <a:p>
            <a:pPr marL="0" indent="0" algn="ctr">
              <a:buNone/>
            </a:pPr>
            <a:r>
              <a:rPr lang="en-US" sz="1400" b="1" dirty="0">
                <a:solidFill>
                  <a:schemeClr val="tx1"/>
                </a:solidFill>
              </a:rPr>
              <a:t>Ingestion</a:t>
            </a:r>
            <a:endParaRPr lang="en-US" sz="1400" dirty="0"/>
          </a:p>
        </p:txBody>
      </p:sp>
      <p:sp>
        <p:nvSpPr>
          <p:cNvPr id="15" name="Text 12"/>
          <p:cNvSpPr txBox="1"/>
          <p:nvPr/>
        </p:nvSpPr>
        <p:spPr>
          <a:xfrm>
            <a:off x="3369564" y="3108960"/>
            <a:ext cx="1273302" cy="822960"/>
          </a:xfrm>
          <a:prstGeom prst="rect">
            <a:avLst/>
          </a:prstGeom>
          <a:noFill/>
        </p:spPr>
        <p:txBody>
          <a:bodyPr wrap="square" lIns="0" tIns="0" rIns="0" bIns="0" rtlCol="0" anchor="t"/>
          <a:lstStyle/>
          <a:p>
            <a:pPr marL="0" indent="0" algn="ctr">
              <a:buNone/>
            </a:pPr>
            <a:r>
              <a:rPr lang="en-US" sz="1100" dirty="0">
                <a:solidFill>
                  <a:schemeClr val="tx2"/>
                </a:solidFill>
              </a:rPr>
              <a:t>Kafka, Spark on K8s, NiFi</a:t>
            </a:r>
            <a:endParaRPr lang="en-US" sz="1100" dirty="0"/>
          </a:p>
        </p:txBody>
      </p:sp>
      <p:sp>
        <p:nvSpPr>
          <p:cNvPr id="16" name="Text 13"/>
          <p:cNvSpPr txBox="1"/>
          <p:nvPr/>
        </p:nvSpPr>
        <p:spPr>
          <a:xfrm>
            <a:off x="3369564" y="3977640"/>
            <a:ext cx="1273302" cy="274320"/>
          </a:xfrm>
          <a:prstGeom prst="rect">
            <a:avLst/>
          </a:prstGeom>
          <a:noFill/>
        </p:spPr>
        <p:txBody>
          <a:bodyPr wrap="square" lIns="0" tIns="0" rIns="0" bIns="0" rtlCol="0" anchor="t"/>
          <a:lstStyle/>
          <a:p>
            <a:pPr marL="0" indent="0" algn="ctr">
              <a:buNone/>
            </a:pPr>
            <a:r>
              <a:rPr lang="en-US" sz="1100" b="1" dirty="0">
                <a:solidFill>
                  <a:schemeClr val="accent3"/>
                </a:solidFill>
              </a:rPr>
              <a:t>Next</a:t>
            </a:r>
            <a:endParaRPr lang="en-US" sz="1100" dirty="0"/>
          </a:p>
        </p:txBody>
      </p:sp>
      <p:sp>
        <p:nvSpPr>
          <p:cNvPr id="17" name="P3"/>
          <p:cNvSpPr txBox="1"/>
          <p:nvPr/>
        </p:nvSpPr>
        <p:spPr>
          <a:xfrm>
            <a:off x="5105781" y="1682496"/>
            <a:ext cx="566928" cy="566928"/>
          </a:xfrm>
          <a:prstGeom prst="ellipse">
            <a:avLst/>
          </a:prstGeom>
          <a:solidFill>
            <a:schemeClr val="accent1"/>
          </a:solidFill>
        </p:spPr>
        <p:txBody>
          <a:bodyPr wrap="square" lIns="0" tIns="0" rIns="0" bIns="0" rtlCol="0" anchor="ctr"/>
          <a:lstStyle/>
          <a:p>
            <a:pPr marL="0" indent="0" algn="ctr">
              <a:buNone/>
            </a:pPr>
            <a:r>
              <a:rPr lang="en-US" sz="1400" b="1" dirty="0">
                <a:solidFill>
                  <a:schemeClr val="bg1"/>
                </a:solidFill>
              </a:rPr>
              <a:t>P3</a:t>
            </a:r>
            <a:endParaRPr lang="en-US" sz="1400" dirty="0"/>
          </a:p>
        </p:txBody>
      </p:sp>
      <p:sp>
        <p:nvSpPr>
          <p:cNvPr id="18" name="Text 15"/>
          <p:cNvSpPr txBox="1"/>
          <p:nvPr/>
        </p:nvSpPr>
        <p:spPr>
          <a:xfrm>
            <a:off x="4752594" y="2514600"/>
            <a:ext cx="1273302" cy="594360"/>
          </a:xfrm>
          <a:prstGeom prst="rect">
            <a:avLst/>
          </a:prstGeom>
          <a:noFill/>
        </p:spPr>
        <p:txBody>
          <a:bodyPr wrap="square" lIns="0" tIns="0" rIns="0" bIns="0" rtlCol="0" anchor="t"/>
          <a:lstStyle/>
          <a:p>
            <a:pPr marL="0" indent="0" algn="ctr">
              <a:buNone/>
            </a:pPr>
            <a:r>
              <a:rPr lang="en-US" sz="1400" b="1" dirty="0">
                <a:solidFill>
                  <a:schemeClr val="tx1"/>
                </a:solidFill>
              </a:rPr>
              <a:t>Lakehouse core</a:t>
            </a:r>
            <a:endParaRPr lang="en-US" sz="1400" dirty="0"/>
          </a:p>
        </p:txBody>
      </p:sp>
      <p:sp>
        <p:nvSpPr>
          <p:cNvPr id="19" name="Text 16"/>
          <p:cNvSpPr txBox="1"/>
          <p:nvPr/>
        </p:nvSpPr>
        <p:spPr>
          <a:xfrm>
            <a:off x="4752594" y="3108960"/>
            <a:ext cx="1273302" cy="822960"/>
          </a:xfrm>
          <a:prstGeom prst="rect">
            <a:avLst/>
          </a:prstGeom>
          <a:noFill/>
        </p:spPr>
        <p:txBody>
          <a:bodyPr wrap="square" lIns="0" tIns="0" rIns="0" bIns="0" rtlCol="0" anchor="t"/>
          <a:lstStyle/>
          <a:p>
            <a:pPr marL="0" indent="0" algn="ctr">
              <a:buNone/>
            </a:pPr>
            <a:r>
              <a:rPr lang="en-US" sz="1100" dirty="0">
                <a:solidFill>
                  <a:schemeClr val="tx2"/>
                </a:solidFill>
              </a:rPr>
              <a:t>Iceberg catalog, raw → cleansed</a:t>
            </a:r>
            <a:endParaRPr lang="en-US" sz="1100" dirty="0"/>
          </a:p>
        </p:txBody>
      </p:sp>
      <p:sp>
        <p:nvSpPr>
          <p:cNvPr id="20" name="Text 17"/>
          <p:cNvSpPr txBox="1"/>
          <p:nvPr/>
        </p:nvSpPr>
        <p:spPr>
          <a:xfrm>
            <a:off x="4752594" y="3977640"/>
            <a:ext cx="1273302" cy="274320"/>
          </a:xfrm>
          <a:prstGeom prst="rect">
            <a:avLst/>
          </a:prstGeom>
          <a:noFill/>
        </p:spPr>
        <p:txBody>
          <a:bodyPr wrap="square" lIns="0" tIns="0" rIns="0" bIns="0" rtlCol="0" anchor="t"/>
          <a:lstStyle/>
          <a:p>
            <a:pPr marL="0" indent="0" algn="ctr">
              <a:buNone/>
            </a:pPr>
            <a:r>
              <a:rPr lang="en-US" sz="1100" b="1" dirty="0">
                <a:solidFill>
                  <a:schemeClr val="accent1"/>
                </a:solidFill>
              </a:rPr>
              <a:t>Done</a:t>
            </a:r>
            <a:endParaRPr lang="en-US" sz="1100" dirty="0"/>
          </a:p>
        </p:txBody>
      </p:sp>
      <p:sp>
        <p:nvSpPr>
          <p:cNvPr id="21" name="P4"/>
          <p:cNvSpPr txBox="1"/>
          <p:nvPr/>
        </p:nvSpPr>
        <p:spPr>
          <a:xfrm>
            <a:off x="6488811" y="1682496"/>
            <a:ext cx="566928" cy="566928"/>
          </a:xfrm>
          <a:prstGeom prst="ellipse">
            <a:avLst/>
          </a:prstGeom>
          <a:solidFill>
            <a:schemeClr val="accent2"/>
          </a:solidFill>
        </p:spPr>
        <p:txBody>
          <a:bodyPr wrap="square" lIns="0" tIns="0" rIns="0" bIns="0" rtlCol="0" anchor="ctr"/>
          <a:lstStyle/>
          <a:p>
            <a:pPr marL="0" indent="0" algn="ctr">
              <a:buNone/>
            </a:pPr>
            <a:r>
              <a:rPr lang="en-US" sz="1400" b="1" dirty="0">
                <a:solidFill>
                  <a:schemeClr val="tx1"/>
                </a:solidFill>
              </a:rPr>
              <a:t>P4</a:t>
            </a:r>
            <a:endParaRPr lang="en-US" sz="1400" dirty="0"/>
          </a:p>
        </p:txBody>
      </p:sp>
      <p:sp>
        <p:nvSpPr>
          <p:cNvPr id="22" name="Text 19"/>
          <p:cNvSpPr txBox="1"/>
          <p:nvPr/>
        </p:nvSpPr>
        <p:spPr>
          <a:xfrm>
            <a:off x="6135624" y="2514600"/>
            <a:ext cx="1273302" cy="594360"/>
          </a:xfrm>
          <a:prstGeom prst="rect">
            <a:avLst/>
          </a:prstGeom>
          <a:noFill/>
        </p:spPr>
        <p:txBody>
          <a:bodyPr wrap="square" lIns="0" tIns="0" rIns="0" bIns="0" rtlCol="0" anchor="t"/>
          <a:lstStyle/>
          <a:p>
            <a:pPr marL="0" indent="0" algn="ctr">
              <a:buNone/>
            </a:pPr>
            <a:r>
              <a:rPr lang="en-US" sz="1400" b="1" dirty="0">
                <a:solidFill>
                  <a:schemeClr val="tx1"/>
                </a:solidFill>
              </a:rPr>
              <a:t>Query &amp; model</a:t>
            </a:r>
            <a:endParaRPr lang="en-US" sz="1400" dirty="0"/>
          </a:p>
        </p:txBody>
      </p:sp>
      <p:sp>
        <p:nvSpPr>
          <p:cNvPr id="23" name="Text 20"/>
          <p:cNvSpPr txBox="1"/>
          <p:nvPr/>
        </p:nvSpPr>
        <p:spPr>
          <a:xfrm>
            <a:off x="6135624" y="3108960"/>
            <a:ext cx="1273302" cy="822960"/>
          </a:xfrm>
          <a:prstGeom prst="rect">
            <a:avLst/>
          </a:prstGeom>
          <a:noFill/>
        </p:spPr>
        <p:txBody>
          <a:bodyPr wrap="square" lIns="0" tIns="0" rIns="0" bIns="0" rtlCol="0" anchor="t"/>
          <a:lstStyle/>
          <a:p>
            <a:pPr marL="0" indent="0" algn="ctr">
              <a:buNone/>
            </a:pPr>
            <a:r>
              <a:rPr lang="en-US" sz="1100" dirty="0">
                <a:solidFill>
                  <a:schemeClr val="tx2"/>
                </a:solidFill>
              </a:rPr>
              <a:t>Trino + dbt models</a:t>
            </a:r>
            <a:endParaRPr lang="en-US" sz="1100" dirty="0"/>
          </a:p>
        </p:txBody>
      </p:sp>
      <p:sp>
        <p:nvSpPr>
          <p:cNvPr id="24" name="Text 21"/>
          <p:cNvSpPr txBox="1"/>
          <p:nvPr/>
        </p:nvSpPr>
        <p:spPr>
          <a:xfrm>
            <a:off x="6135624" y="3977640"/>
            <a:ext cx="1273302" cy="274320"/>
          </a:xfrm>
          <a:prstGeom prst="rect">
            <a:avLst/>
          </a:prstGeom>
          <a:noFill/>
        </p:spPr>
        <p:txBody>
          <a:bodyPr wrap="square" lIns="0" tIns="0" rIns="0" bIns="0" rtlCol="0" anchor="t"/>
          <a:lstStyle/>
          <a:p>
            <a:pPr marL="0" indent="0" algn="ctr">
              <a:buNone/>
            </a:pPr>
            <a:r>
              <a:rPr lang="en-US" sz="1100" b="1" dirty="0">
                <a:solidFill>
                  <a:schemeClr val="tx1"/>
                </a:solidFill>
              </a:rPr>
              <a:t>Models written</a:t>
            </a:r>
            <a:endParaRPr lang="en-US" sz="1100" dirty="0"/>
          </a:p>
        </p:txBody>
      </p:sp>
      <p:sp>
        <p:nvSpPr>
          <p:cNvPr id="25" name="P5"/>
          <p:cNvSpPr txBox="1"/>
          <p:nvPr/>
        </p:nvSpPr>
        <p:spPr>
          <a:xfrm>
            <a:off x="7871841" y="1682496"/>
            <a:ext cx="566928" cy="566928"/>
          </a:xfrm>
          <a:prstGeom prst="ellipse">
            <a:avLst/>
          </a:prstGeom>
          <a:solidFill>
            <a:schemeClr val="bg1"/>
          </a:solidFill>
          <a:ln w="19050">
            <a:solidFill>
              <a:schemeClr val="accent5"/>
            </a:solidFill>
          </a:ln>
        </p:spPr>
        <p:txBody>
          <a:bodyPr wrap="square" lIns="0" tIns="0" rIns="0" bIns="0" rtlCol="0" anchor="ctr"/>
          <a:lstStyle/>
          <a:p>
            <a:pPr marL="0" indent="0" algn="ctr">
              <a:buNone/>
            </a:pPr>
            <a:r>
              <a:rPr lang="en-US" sz="1400" b="1" dirty="0">
                <a:solidFill>
                  <a:schemeClr val="tx1"/>
                </a:solidFill>
              </a:rPr>
              <a:t>P5</a:t>
            </a:r>
            <a:endParaRPr lang="en-US" sz="1400" dirty="0"/>
          </a:p>
        </p:txBody>
      </p:sp>
      <p:sp>
        <p:nvSpPr>
          <p:cNvPr id="26" name="Text 23"/>
          <p:cNvSpPr txBox="1"/>
          <p:nvPr/>
        </p:nvSpPr>
        <p:spPr>
          <a:xfrm>
            <a:off x="7518654" y="2514600"/>
            <a:ext cx="1273302" cy="594360"/>
          </a:xfrm>
          <a:prstGeom prst="rect">
            <a:avLst/>
          </a:prstGeom>
          <a:noFill/>
        </p:spPr>
        <p:txBody>
          <a:bodyPr wrap="square" lIns="0" tIns="0" rIns="0" bIns="0" rtlCol="0" anchor="t"/>
          <a:lstStyle/>
          <a:p>
            <a:pPr marL="0" indent="0" algn="ctr">
              <a:buNone/>
            </a:pPr>
            <a:r>
              <a:rPr lang="en-US" sz="1400" b="1" dirty="0">
                <a:solidFill>
                  <a:schemeClr val="tx1"/>
                </a:solidFill>
              </a:rPr>
              <a:t>Orchestrate</a:t>
            </a:r>
            <a:endParaRPr lang="en-US" sz="1400" dirty="0"/>
          </a:p>
        </p:txBody>
      </p:sp>
      <p:sp>
        <p:nvSpPr>
          <p:cNvPr id="27" name="Text 24"/>
          <p:cNvSpPr txBox="1"/>
          <p:nvPr/>
        </p:nvSpPr>
        <p:spPr>
          <a:xfrm>
            <a:off x="7518654" y="3108960"/>
            <a:ext cx="1273302" cy="822960"/>
          </a:xfrm>
          <a:prstGeom prst="rect">
            <a:avLst/>
          </a:prstGeom>
          <a:noFill/>
        </p:spPr>
        <p:txBody>
          <a:bodyPr wrap="square" lIns="0" tIns="0" rIns="0" bIns="0" rtlCol="0" anchor="t"/>
          <a:lstStyle/>
          <a:p>
            <a:pPr marL="0" indent="0" algn="ctr">
              <a:buNone/>
            </a:pPr>
            <a:r>
              <a:rPr lang="en-US" sz="1100" dirty="0">
                <a:solidFill>
                  <a:schemeClr val="tx2"/>
                </a:solidFill>
              </a:rPr>
              <a:t>Airflow, OpenMetadata, OpenSearch</a:t>
            </a:r>
            <a:endParaRPr lang="en-US" sz="1100" dirty="0"/>
          </a:p>
        </p:txBody>
      </p:sp>
      <p:sp>
        <p:nvSpPr>
          <p:cNvPr id="28" name="Text 25"/>
          <p:cNvSpPr txBox="1"/>
          <p:nvPr/>
        </p:nvSpPr>
        <p:spPr>
          <a:xfrm>
            <a:off x="7518654" y="3977640"/>
            <a:ext cx="1273302" cy="274320"/>
          </a:xfrm>
          <a:prstGeom prst="rect">
            <a:avLst/>
          </a:prstGeom>
          <a:noFill/>
        </p:spPr>
        <p:txBody>
          <a:bodyPr wrap="square" lIns="0" tIns="0" rIns="0" bIns="0" rtlCol="0" anchor="t"/>
          <a:lstStyle/>
          <a:p>
            <a:pPr marL="0" indent="0" algn="ctr">
              <a:buNone/>
            </a:pPr>
            <a:r>
              <a:rPr lang="en-US" sz="1100" b="1" dirty="0">
                <a:solidFill>
                  <a:schemeClr val="accent5"/>
                </a:solidFill>
              </a:rPr>
              <a:t>Planned</a:t>
            </a:r>
            <a:endParaRPr lang="en-US" sz="1100" dirty="0"/>
          </a:p>
        </p:txBody>
      </p:sp>
      <p:sp>
        <p:nvSpPr>
          <p:cNvPr id="29" name="P6"/>
          <p:cNvSpPr txBox="1"/>
          <p:nvPr/>
        </p:nvSpPr>
        <p:spPr>
          <a:xfrm>
            <a:off x="9254871" y="1682496"/>
            <a:ext cx="566928" cy="566928"/>
          </a:xfrm>
          <a:prstGeom prst="ellipse">
            <a:avLst/>
          </a:prstGeom>
          <a:solidFill>
            <a:schemeClr val="bg1"/>
          </a:solidFill>
          <a:ln w="19050">
            <a:solidFill>
              <a:schemeClr val="accent5"/>
            </a:solidFill>
          </a:ln>
        </p:spPr>
        <p:txBody>
          <a:bodyPr wrap="square" lIns="0" tIns="0" rIns="0" bIns="0" rtlCol="0" anchor="ctr"/>
          <a:lstStyle/>
          <a:p>
            <a:pPr marL="0" indent="0" algn="ctr">
              <a:buNone/>
            </a:pPr>
            <a:r>
              <a:rPr lang="en-US" sz="1400" b="1" dirty="0">
                <a:solidFill>
                  <a:schemeClr val="tx1"/>
                </a:solidFill>
              </a:rPr>
              <a:t>P6</a:t>
            </a:r>
            <a:endParaRPr lang="en-US" sz="1400" dirty="0"/>
          </a:p>
        </p:txBody>
      </p:sp>
      <p:sp>
        <p:nvSpPr>
          <p:cNvPr id="30" name="Text 27"/>
          <p:cNvSpPr txBox="1"/>
          <p:nvPr/>
        </p:nvSpPr>
        <p:spPr>
          <a:xfrm>
            <a:off x="8901684" y="2514600"/>
            <a:ext cx="1273302" cy="594360"/>
          </a:xfrm>
          <a:prstGeom prst="rect">
            <a:avLst/>
          </a:prstGeom>
          <a:noFill/>
        </p:spPr>
        <p:txBody>
          <a:bodyPr wrap="square" lIns="0" tIns="0" rIns="0" bIns="0" rtlCol="0" anchor="t"/>
          <a:lstStyle/>
          <a:p>
            <a:pPr marL="0" indent="0" algn="ctr">
              <a:buNone/>
            </a:pPr>
            <a:r>
              <a:rPr lang="en-US" sz="1400" b="1" dirty="0">
                <a:solidFill>
                  <a:schemeClr val="tx1"/>
                </a:solidFill>
              </a:rPr>
              <a:t>Benchmark</a:t>
            </a:r>
            <a:endParaRPr lang="en-US" sz="1400" dirty="0"/>
          </a:p>
        </p:txBody>
      </p:sp>
      <p:sp>
        <p:nvSpPr>
          <p:cNvPr id="31" name="Text 28"/>
          <p:cNvSpPr txBox="1"/>
          <p:nvPr/>
        </p:nvSpPr>
        <p:spPr>
          <a:xfrm>
            <a:off x="8901684" y="3108960"/>
            <a:ext cx="1273302" cy="822960"/>
          </a:xfrm>
          <a:prstGeom prst="rect">
            <a:avLst/>
          </a:prstGeom>
          <a:noFill/>
        </p:spPr>
        <p:txBody>
          <a:bodyPr wrap="square" lIns="0" tIns="0" rIns="0" bIns="0" rtlCol="0" anchor="t"/>
          <a:lstStyle/>
          <a:p>
            <a:pPr marL="0" indent="0" algn="ctr">
              <a:buNone/>
            </a:pPr>
            <a:r>
              <a:rPr lang="en-US" sz="1100" dirty="0">
                <a:solidFill>
                  <a:schemeClr val="tx2"/>
                </a:solidFill>
              </a:rPr>
              <a:t>30M-row load test, API auto-ingest</a:t>
            </a:r>
            <a:endParaRPr lang="en-US" sz="1100" dirty="0"/>
          </a:p>
        </p:txBody>
      </p:sp>
      <p:sp>
        <p:nvSpPr>
          <p:cNvPr id="32" name="Text 29"/>
          <p:cNvSpPr txBox="1"/>
          <p:nvPr/>
        </p:nvSpPr>
        <p:spPr>
          <a:xfrm>
            <a:off x="8901684" y="3977640"/>
            <a:ext cx="1273302" cy="274320"/>
          </a:xfrm>
          <a:prstGeom prst="rect">
            <a:avLst/>
          </a:prstGeom>
          <a:noFill/>
        </p:spPr>
        <p:txBody>
          <a:bodyPr wrap="square" lIns="0" tIns="0" rIns="0" bIns="0" rtlCol="0" anchor="t"/>
          <a:lstStyle/>
          <a:p>
            <a:pPr marL="0" indent="0" algn="ctr">
              <a:buNone/>
            </a:pPr>
            <a:r>
              <a:rPr lang="en-US" sz="1100" b="1" dirty="0">
                <a:solidFill>
                  <a:schemeClr val="accent5"/>
                </a:solidFill>
              </a:rPr>
              <a:t>Planned</a:t>
            </a:r>
            <a:endParaRPr lang="en-US" sz="1100" dirty="0"/>
          </a:p>
        </p:txBody>
      </p:sp>
      <p:sp>
        <p:nvSpPr>
          <p:cNvPr id="33" name="P7"/>
          <p:cNvSpPr txBox="1"/>
          <p:nvPr/>
        </p:nvSpPr>
        <p:spPr>
          <a:xfrm>
            <a:off x="10637901" y="1682496"/>
            <a:ext cx="566928" cy="566928"/>
          </a:xfrm>
          <a:prstGeom prst="ellipse">
            <a:avLst/>
          </a:prstGeom>
          <a:solidFill>
            <a:schemeClr val="bg1"/>
          </a:solidFill>
          <a:ln w="19050">
            <a:solidFill>
              <a:schemeClr val="accent5"/>
            </a:solidFill>
          </a:ln>
        </p:spPr>
        <p:txBody>
          <a:bodyPr wrap="square" lIns="0" tIns="0" rIns="0" bIns="0" rtlCol="0" anchor="ctr"/>
          <a:lstStyle/>
          <a:p>
            <a:pPr marL="0" indent="0" algn="ctr">
              <a:buNone/>
            </a:pPr>
            <a:r>
              <a:rPr lang="en-US" sz="1400" b="1" dirty="0">
                <a:solidFill>
                  <a:schemeClr val="tx1"/>
                </a:solidFill>
              </a:rPr>
              <a:t>P7</a:t>
            </a:r>
            <a:endParaRPr lang="en-US" sz="1400" dirty="0"/>
          </a:p>
        </p:txBody>
      </p:sp>
      <p:sp>
        <p:nvSpPr>
          <p:cNvPr id="34" name="Text 31"/>
          <p:cNvSpPr txBox="1"/>
          <p:nvPr/>
        </p:nvSpPr>
        <p:spPr>
          <a:xfrm>
            <a:off x="10284714" y="2514600"/>
            <a:ext cx="1273302" cy="594360"/>
          </a:xfrm>
          <a:prstGeom prst="rect">
            <a:avLst/>
          </a:prstGeom>
          <a:noFill/>
        </p:spPr>
        <p:txBody>
          <a:bodyPr wrap="square" lIns="0" tIns="0" rIns="0" bIns="0" rtlCol="0" anchor="t"/>
          <a:lstStyle/>
          <a:p>
            <a:pPr marL="0" indent="0" algn="ctr">
              <a:buNone/>
            </a:pPr>
            <a:r>
              <a:rPr lang="en-US" sz="1400" b="1" dirty="0">
                <a:solidFill>
                  <a:schemeClr val="tx1"/>
                </a:solidFill>
              </a:rPr>
              <a:t>Report</a:t>
            </a:r>
            <a:endParaRPr lang="en-US" sz="1400" dirty="0"/>
          </a:p>
        </p:txBody>
      </p:sp>
      <p:sp>
        <p:nvSpPr>
          <p:cNvPr id="35" name="Text 32"/>
          <p:cNvSpPr txBox="1"/>
          <p:nvPr/>
        </p:nvSpPr>
        <p:spPr>
          <a:xfrm>
            <a:off x="10284714" y="3108960"/>
            <a:ext cx="1273302" cy="822960"/>
          </a:xfrm>
          <a:prstGeom prst="rect">
            <a:avLst/>
          </a:prstGeom>
          <a:noFill/>
        </p:spPr>
        <p:txBody>
          <a:bodyPr wrap="square" lIns="0" tIns="0" rIns="0" bIns="0" rtlCol="0" anchor="t"/>
          <a:lstStyle/>
          <a:p>
            <a:pPr marL="0" indent="0" algn="ctr">
              <a:buNone/>
            </a:pPr>
            <a:r>
              <a:rPr lang="en-US" sz="1100" dirty="0">
                <a:solidFill>
                  <a:schemeClr val="tx2"/>
                </a:solidFill>
              </a:rPr>
              <a:t>final report, demo, packaging</a:t>
            </a:r>
            <a:endParaRPr lang="en-US" sz="1100" dirty="0"/>
          </a:p>
        </p:txBody>
      </p:sp>
      <p:sp>
        <p:nvSpPr>
          <p:cNvPr id="36" name="Text 33"/>
          <p:cNvSpPr txBox="1"/>
          <p:nvPr/>
        </p:nvSpPr>
        <p:spPr>
          <a:xfrm>
            <a:off x="10284714" y="3977640"/>
            <a:ext cx="1273302" cy="274320"/>
          </a:xfrm>
          <a:prstGeom prst="rect">
            <a:avLst/>
          </a:prstGeom>
          <a:noFill/>
        </p:spPr>
        <p:txBody>
          <a:bodyPr wrap="square" lIns="0" tIns="0" rIns="0" bIns="0" rtlCol="0" anchor="t"/>
          <a:lstStyle/>
          <a:p>
            <a:pPr marL="0" indent="0" algn="ctr">
              <a:buNone/>
            </a:pPr>
            <a:r>
              <a:rPr lang="en-US" sz="1100" b="1" dirty="0">
                <a:solidFill>
                  <a:schemeClr val="accent5"/>
                </a:solidFill>
              </a:rPr>
              <a:t>Planned</a:t>
            </a:r>
            <a:endParaRPr lang="en-US" sz="1100" dirty="0"/>
          </a:p>
        </p:txBody>
      </p:sp>
      <p:sp>
        <p:nvSpPr>
          <p:cNvPr id="37" name="Next steps"/>
          <p:cNvSpPr/>
          <p:nvPr/>
        </p:nvSpPr>
        <p:spPr>
          <a:xfrm>
            <a:off x="548640" y="4572000"/>
            <a:ext cx="11064240" cy="1417320"/>
          </a:xfrm>
          <a:prstGeom prst="roundRect">
            <a:avLst>
              <a:gd name="adj" fmla="val 7742"/>
            </a:avLst>
          </a:prstGeom>
          <a:solidFill>
            <a:schemeClr val="bg2"/>
          </a:solidFill>
        </p:spPr>
      </p:sp>
      <p:sp>
        <p:nvSpPr>
          <p:cNvPr id="38" name="Text 35"/>
          <p:cNvSpPr txBox="1"/>
          <p:nvPr/>
        </p:nvSpPr>
        <p:spPr>
          <a:xfrm>
            <a:off x="822960" y="4681728"/>
            <a:ext cx="5486400" cy="365760"/>
          </a:xfrm>
          <a:prstGeom prst="rect">
            <a:avLst/>
          </a:prstGeom>
          <a:noFill/>
        </p:spPr>
        <p:txBody>
          <a:bodyPr wrap="square" lIns="0" tIns="0" rIns="0" bIns="0" rtlCol="0" anchor="t"/>
          <a:lstStyle/>
          <a:p>
            <a:pPr marL="0" indent="0">
              <a:buNone/>
            </a:pPr>
            <a:r>
              <a:rPr lang="en-US" sz="1700" b="1" dirty="0">
                <a:solidFill>
                  <a:schemeClr val="tx1"/>
                </a:solidFill>
              </a:rPr>
              <a:t>Next, toward checkpoint 2</a:t>
            </a:r>
            <a:endParaRPr lang="en-US" sz="1700" dirty="0"/>
          </a:p>
        </p:txBody>
      </p:sp>
      <p:sp>
        <p:nvSpPr>
          <p:cNvPr id="39" name="Text 36"/>
          <p:cNvSpPr txBox="1"/>
          <p:nvPr/>
        </p:nvSpPr>
        <p:spPr>
          <a:xfrm>
            <a:off x="822960" y="5120640"/>
            <a:ext cx="310896" cy="310896"/>
          </a:xfrm>
          <a:prstGeom prst="ellipse">
            <a:avLst/>
          </a:prstGeom>
          <a:solidFill>
            <a:schemeClr val="accent3"/>
          </a:solidFill>
        </p:spPr>
        <p:txBody>
          <a:bodyPr wrap="square" lIns="0" tIns="0" rIns="0" bIns="0" rtlCol="0" anchor="ctr"/>
          <a:lstStyle/>
          <a:p>
            <a:pPr marL="0" indent="0" algn="ctr">
              <a:buNone/>
            </a:pPr>
            <a:r>
              <a:rPr lang="en-US" sz="1200" b="1" dirty="0">
                <a:solidFill>
                  <a:schemeClr val="bg1"/>
                </a:solidFill>
              </a:rPr>
              <a:t>1</a:t>
            </a:r>
            <a:endParaRPr lang="en-US" sz="1200" dirty="0"/>
          </a:p>
        </p:txBody>
      </p:sp>
      <p:sp>
        <p:nvSpPr>
          <p:cNvPr id="40" name="Text 37"/>
          <p:cNvSpPr txBox="1"/>
          <p:nvPr/>
        </p:nvSpPr>
        <p:spPr>
          <a:xfrm>
            <a:off x="1280160" y="5093208"/>
            <a:ext cx="4846320" cy="365760"/>
          </a:xfrm>
          <a:prstGeom prst="rect">
            <a:avLst/>
          </a:prstGeom>
          <a:noFill/>
        </p:spPr>
        <p:txBody>
          <a:bodyPr wrap="square" lIns="0" tIns="0" rIns="0" bIns="0" rtlCol="0" anchor="ctr"/>
          <a:lstStyle/>
          <a:p>
            <a:pPr marL="0" indent="0">
              <a:buNone/>
            </a:pPr>
            <a:r>
              <a:rPr lang="en-US" sz="1400" dirty="0">
                <a:solidFill>
                  <a:schemeClr val="tx1"/>
                </a:solidFill>
              </a:rPr>
              <a:t>Kafka (KRaft) + replay minute bars into stock-quotes</a:t>
            </a:r>
            <a:endParaRPr lang="en-US" sz="1400" dirty="0"/>
          </a:p>
        </p:txBody>
      </p:sp>
      <p:sp>
        <p:nvSpPr>
          <p:cNvPr id="41" name="Text 38"/>
          <p:cNvSpPr txBox="1"/>
          <p:nvPr/>
        </p:nvSpPr>
        <p:spPr>
          <a:xfrm>
            <a:off x="6217920" y="5120640"/>
            <a:ext cx="310896" cy="310896"/>
          </a:xfrm>
          <a:prstGeom prst="ellipse">
            <a:avLst/>
          </a:prstGeom>
          <a:solidFill>
            <a:schemeClr val="accent3"/>
          </a:solidFill>
        </p:spPr>
        <p:txBody>
          <a:bodyPr wrap="square" lIns="0" tIns="0" rIns="0" bIns="0" rtlCol="0" anchor="ctr"/>
          <a:lstStyle/>
          <a:p>
            <a:pPr marL="0" indent="0" algn="ctr">
              <a:buNone/>
            </a:pPr>
            <a:r>
              <a:rPr lang="en-US" sz="1200" b="1" dirty="0">
                <a:solidFill>
                  <a:schemeClr val="bg1"/>
                </a:solidFill>
              </a:rPr>
              <a:t>2</a:t>
            </a:r>
            <a:endParaRPr lang="en-US" sz="1200" dirty="0"/>
          </a:p>
        </p:txBody>
      </p:sp>
      <p:sp>
        <p:nvSpPr>
          <p:cNvPr id="42" name="Text 39"/>
          <p:cNvSpPr txBox="1"/>
          <p:nvPr/>
        </p:nvSpPr>
        <p:spPr>
          <a:xfrm>
            <a:off x="6675120" y="5093208"/>
            <a:ext cx="4846320" cy="365760"/>
          </a:xfrm>
          <a:prstGeom prst="rect">
            <a:avLst/>
          </a:prstGeom>
          <a:noFill/>
        </p:spPr>
        <p:txBody>
          <a:bodyPr wrap="square" lIns="0" tIns="0" rIns="0" bIns="0" rtlCol="0" anchor="ctr"/>
          <a:lstStyle/>
          <a:p>
            <a:pPr marL="0" indent="0">
              <a:buNone/>
            </a:pPr>
            <a:r>
              <a:rPr lang="en-US" sz="1400" dirty="0">
                <a:solidFill>
                  <a:schemeClr val="tx1"/>
                </a:solidFill>
              </a:rPr>
              <a:t>Deploy Trino; run dbt models and tests on Iceberg</a:t>
            </a:r>
            <a:endParaRPr lang="en-US" sz="1400" dirty="0"/>
          </a:p>
        </p:txBody>
      </p:sp>
      <p:sp>
        <p:nvSpPr>
          <p:cNvPr id="43" name="Text 40"/>
          <p:cNvSpPr txBox="1"/>
          <p:nvPr/>
        </p:nvSpPr>
        <p:spPr>
          <a:xfrm>
            <a:off x="822960" y="5532120"/>
            <a:ext cx="310896" cy="310896"/>
          </a:xfrm>
          <a:prstGeom prst="ellipse">
            <a:avLst/>
          </a:prstGeom>
          <a:solidFill>
            <a:schemeClr val="accent3"/>
          </a:solidFill>
        </p:spPr>
        <p:txBody>
          <a:bodyPr wrap="square" lIns="0" tIns="0" rIns="0" bIns="0" rtlCol="0" anchor="ctr"/>
          <a:lstStyle/>
          <a:p>
            <a:pPr marL="0" indent="0" algn="ctr">
              <a:buNone/>
            </a:pPr>
            <a:r>
              <a:rPr lang="en-US" sz="1200" b="1" dirty="0">
                <a:solidFill>
                  <a:schemeClr val="bg1"/>
                </a:solidFill>
              </a:rPr>
              <a:t>3</a:t>
            </a:r>
            <a:endParaRPr lang="en-US" sz="1200" dirty="0"/>
          </a:p>
        </p:txBody>
      </p:sp>
      <p:sp>
        <p:nvSpPr>
          <p:cNvPr id="44" name="Text 41"/>
          <p:cNvSpPr txBox="1"/>
          <p:nvPr/>
        </p:nvSpPr>
        <p:spPr>
          <a:xfrm>
            <a:off x="1280160" y="5504688"/>
            <a:ext cx="4846320" cy="365760"/>
          </a:xfrm>
          <a:prstGeom prst="rect">
            <a:avLst/>
          </a:prstGeom>
          <a:noFill/>
        </p:spPr>
        <p:txBody>
          <a:bodyPr wrap="square" lIns="0" tIns="0" rIns="0" bIns="0" rtlCol="0" anchor="ctr"/>
          <a:lstStyle/>
          <a:p>
            <a:pPr marL="0" indent="0">
              <a:buNone/>
            </a:pPr>
            <a:r>
              <a:rPr lang="en-US" sz="1400" dirty="0">
                <a:solidFill>
                  <a:schemeClr val="tx1"/>
                </a:solidFill>
              </a:rPr>
              <a:t>Run both Spark jobs on K8s with the JDBC catalog</a:t>
            </a:r>
            <a:endParaRPr lang="en-US" sz="1400" dirty="0"/>
          </a:p>
        </p:txBody>
      </p:sp>
      <p:sp>
        <p:nvSpPr>
          <p:cNvPr id="45" name="Text 42"/>
          <p:cNvSpPr txBox="1"/>
          <p:nvPr/>
        </p:nvSpPr>
        <p:spPr>
          <a:xfrm>
            <a:off x="6217920" y="5532120"/>
            <a:ext cx="310896" cy="310896"/>
          </a:xfrm>
          <a:prstGeom prst="ellipse">
            <a:avLst/>
          </a:prstGeom>
          <a:solidFill>
            <a:schemeClr val="accent3"/>
          </a:solidFill>
        </p:spPr>
        <p:txBody>
          <a:bodyPr wrap="square" lIns="0" tIns="0" rIns="0" bIns="0" rtlCol="0" anchor="ctr"/>
          <a:lstStyle/>
          <a:p>
            <a:pPr marL="0" indent="0" algn="ctr">
              <a:buNone/>
            </a:pPr>
            <a:r>
              <a:rPr lang="en-US" sz="1200" b="1" dirty="0">
                <a:solidFill>
                  <a:schemeClr val="bg1"/>
                </a:solidFill>
              </a:rPr>
              <a:t>4</a:t>
            </a:r>
            <a:endParaRPr lang="en-US" sz="1200" dirty="0"/>
          </a:p>
        </p:txBody>
      </p:sp>
      <p:sp>
        <p:nvSpPr>
          <p:cNvPr id="46" name="Text 43"/>
          <p:cNvSpPr txBox="1"/>
          <p:nvPr/>
        </p:nvSpPr>
        <p:spPr>
          <a:xfrm>
            <a:off x="6675120" y="5504688"/>
            <a:ext cx="4846320" cy="365760"/>
          </a:xfrm>
          <a:prstGeom prst="rect">
            <a:avLst/>
          </a:prstGeom>
          <a:noFill/>
        </p:spPr>
        <p:txBody>
          <a:bodyPr wrap="square" lIns="0" tIns="0" rIns="0" bIns="0" rtlCol="0" anchor="ctr"/>
          <a:lstStyle/>
          <a:p>
            <a:pPr marL="0" indent="0">
              <a:buNone/>
            </a:pPr>
            <a:r>
              <a:rPr lang="en-US" sz="1400" dirty="0">
                <a:solidFill>
                  <a:schemeClr val="tx1"/>
                </a:solidFill>
              </a:rPr>
              <a:t>Airflow DAG: ingest → Spark → dbt, scheduled daily</a:t>
            </a:r>
            <a:endParaRPr lang="en-US" sz="1400" dirty="0"/>
          </a:p>
        </p:txBody>
      </p:sp>
      <p:sp>
        <p:nvSpPr>
          <p:cNvPr id="3" name="Slide Number Placeholder 0"/>
          <p:cNvSpPr>
            <a:spLocks noGrp="1"/>
          </p:cNvSpPr>
          <p:nvPr>
            <p:ph type="sldNum" sz="quarter" idx="4294967295"/>
          </p:nvPr>
        </p:nvSpPr>
        <p:spPr>
          <a:xfrm>
            <a:off x="11155680" y="6355080"/>
            <a:ext cx="457200" cy="274320"/>
          </a:xfrm>
          <a:prstGeom prst="rect">
            <a:avLst/>
          </a:prstGeom>
        </p:spPr>
        <p:txBody>
          <a:bodyPr/>
          <a:lstStyle>
            <a:lvl1pPr>
              <a:defRPr sz="1000">
                <a:solidFill>
                  <a:schemeClr val="accent5"/>
                </a:solidFill>
              </a:defRPr>
            </a:lvl1pPr>
          </a:lstStyle>
          <a:p>
            <a:pPr algn="r"/>
            <a:fld id="{F7021451-1387-4CA6-816F-3879F97B5CBC}" type="slidenum">
              <a:rPr lang="en-US" b="0"/>
            </a:fld>
            <a:endParaRPr lang="en-US"/>
          </a:p>
        </p:txBody>
      </p:sp>
    </p:spTree>
  </p:cSld>
  <p:clrMapOvr>
    <a:masterClrMapping/>
  </p:clrMapOvr>
</p:sld>
</file>

<file path=ppt/theme/theme1.xml><?xml version="1.0" encoding="utf-8"?>
<a:theme xmlns:a="http://schemas.openxmlformats.org/drawingml/2006/main" name="Stock Lakehouse">
  <a:themeElements>
    <a:clrScheme name="Stock Lakehouse">
      <a:dk1>
        <a:srgbClr val="14213D"/>
      </a:dk1>
      <a:lt1>
        <a:srgbClr val="FFFFFF"/>
      </a:lt1>
      <a:dk2>
        <a:srgbClr val="46536B"/>
      </a:dk2>
      <a:lt2>
        <a:srgbClr val="EEF2F6"/>
      </a:lt2>
      <a:accent1>
        <a:srgbClr val="0E9F6E"/>
      </a:accent1>
      <a:accent2>
        <a:srgbClr val="E8A33D"/>
      </a:accent2>
      <a:accent3>
        <a:srgbClr val="1F4E8C"/>
      </a:accent3>
      <a:accent4>
        <a:srgbClr val="D64545"/>
      </a:accent4>
      <a:accent5>
        <a:srgbClr val="8A94A6"/>
      </a:accent5>
      <a:accent6>
        <a:srgbClr val="4BA3C7"/>
      </a:accent6>
      <a:hlink>
        <a:srgbClr val="1F4E8C"/>
      </a:hlink>
      <a:folHlink>
        <a:srgbClr val="6B4E9B"/>
      </a:folHlink>
    </a:clrScheme>
    <a:fontScheme name="Stock Lakehous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Stock Lakehouse">
  <a:themeElements>
    <a:clrScheme name="Stock Lakehouse">
      <a:dk1>
        <a:srgbClr val="14213D"/>
      </a:dk1>
      <a:lt1>
        <a:srgbClr val="FFFFFF"/>
      </a:lt1>
      <a:dk2>
        <a:srgbClr val="46536B"/>
      </a:dk2>
      <a:lt2>
        <a:srgbClr val="EEF2F6"/>
      </a:lt2>
      <a:accent1>
        <a:srgbClr val="0E9F6E"/>
      </a:accent1>
      <a:accent2>
        <a:srgbClr val="E8A33D"/>
      </a:accent2>
      <a:accent3>
        <a:srgbClr val="1F4E8C"/>
      </a:accent3>
      <a:accent4>
        <a:srgbClr val="D64545"/>
      </a:accent4>
      <a:accent5>
        <a:srgbClr val="8A94A6"/>
      </a:accent5>
      <a:accent6>
        <a:srgbClr val="4BA3C7"/>
      </a:accent6>
      <a:hlink>
        <a:srgbClr val="1F4E8C"/>
      </a:hlink>
      <a:folHlink>
        <a:srgbClr val="6B4E9B"/>
      </a:folHlink>
    </a:clrScheme>
    <a:fontScheme name="Stock Lakehous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5594</Words>
  <Application>WPS Presentation</Application>
  <PresentationFormat>On-screen Show (16:9)</PresentationFormat>
  <Paragraphs>431</Paragraphs>
  <Slides>10</Slides>
  <Notes>10</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10</vt:i4>
      </vt:variant>
    </vt:vector>
  </HeadingPairs>
  <TitlesOfParts>
    <vt:vector size="26" baseType="lpstr">
      <vt:lpstr>Arial</vt:lpstr>
      <vt:lpstr>SimSun</vt:lpstr>
      <vt:lpstr>Wingdings</vt:lpstr>
      <vt:lpstr>Arial</vt:lpstr>
      <vt:lpstr>Arial</vt:lpstr>
      <vt:lpstr>Arial</vt:lpstr>
      <vt:lpstr>Courier New</vt:lpstr>
      <vt:lpstr>Courier New</vt:lpstr>
      <vt:lpstr>Courier New</vt:lpstr>
      <vt:lpstr>Calibri</vt:lpstr>
      <vt:lpstr>Helvetica Neue</vt:lpstr>
      <vt:lpstr>Microsoft YaHei</vt:lpstr>
      <vt:lpstr>汉仪旗黑</vt:lpstr>
      <vt:lpstr>Arial Unicode MS</vt:lpstr>
      <vt:lpstr>宋体-简</vt:lpstr>
      <vt:lpstr>Stock Lakehouse</vt:lpstr>
      <vt:lpstr>Stock Market Data Lakehouse</vt:lpstr>
      <vt:lpstr>Checkpoint 1: all three deliverables are ready</vt:lpstr>
      <vt:lpstr>Real market data for every listed symbol</vt:lpstr>
      <vt:lpstr>Target architecture: batch + streaming lakehouse</vt:lpstr>
      <vt:lpstr>Storage follows three Medallion zones on MinIO</vt:lpstr>
      <vt:lpstr>Deployed today on a 3-node Kubernetes cluster</vt:lpstr>
      <vt:lpstr>Batch pipeline: works end to end today</vt:lpstr>
      <vt:lpstr>Streaming pipeline: designed, code skeleton in place</vt:lpstr>
      <vt:lpstr>Repository: clone, download data, run</vt:lpstr>
      <vt:lpstr>Roadmap and next steps</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Stock Market Data Lakehouse — Checkpoint 1</dc:title>
  <dc:creator>PptxGenJS</dc:creator>
  <dc:subject>IT4931 milestone project, checkpoint 1</dc:subject>
  <cp:lastModifiedBy>Ngoc Anh Phạm Thị</cp:lastModifiedBy>
  <cp:revision>3</cp:revision>
  <dcterms:created xsi:type="dcterms:W3CDTF">2026-10-26T00:52:29Z</dcterms:created>
  <dcterms:modified xsi:type="dcterms:W3CDTF">2026-10-26T00:52:29Z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1033-12.1.29166.29166</vt:lpwstr>
  </property>
  <property fmtid="{D5CDD505-2E9C-101B-9397-08002B2CF9AE}" pid="3" name="ICV">
    <vt:lpwstr>2D7BFF056E56806A15A3DE6A1D98422D_42</vt:lpwstr>
  </property>
</Properties>
</file>